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3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4.xml" ContentType="application/vnd.openxmlformats-officedocument.drawingml.chart+xml"/>
  <Override PartName="/ppt/notesSlides/notesSlide11.xml" ContentType="application/vnd.openxmlformats-officedocument.presentationml.notesSlide+xml"/>
  <Override PartName="/ppt/charts/chart5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6.xml" ContentType="application/vnd.openxmlformats-officedocument.drawingml.chart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8" r:id="rId6"/>
    <p:sldId id="260" r:id="rId7"/>
    <p:sldId id="269" r:id="rId8"/>
    <p:sldId id="261" r:id="rId9"/>
    <p:sldId id="262" r:id="rId10"/>
    <p:sldId id="270" r:id="rId11"/>
    <p:sldId id="271" r:id="rId12"/>
    <p:sldId id="263" r:id="rId13"/>
    <p:sldId id="272" r:id="rId14"/>
    <p:sldId id="264" r:id="rId15"/>
    <p:sldId id="273" r:id="rId16"/>
    <p:sldId id="275" r:id="rId17"/>
    <p:sldId id="276" r:id="rId18"/>
    <p:sldId id="277" r:id="rId19"/>
    <p:sldId id="278" r:id="rId20"/>
    <p:sldId id="265" r:id="rId21"/>
    <p:sldId id="274" r:id="rId22"/>
    <p:sldId id="266" r:id="rId23"/>
    <p:sldId id="267" r:id="rId24"/>
  </p:sldIdLst>
  <p:sldSz cx="12192000" cy="6858000"/>
  <p:notesSz cx="6858000" cy="9144000"/>
  <p:embeddedFontLst>
    <p:embeddedFont>
      <p:font typeface="Inter" panose="02000503000000020004" pitchFamily="2" charset="0"/>
      <p:regular r:id="rId26"/>
      <p:bold r:id="rId27"/>
      <p:italic r:id="rId28"/>
      <p:boldItalic r:id="rId29"/>
    </p:embeddedFont>
    <p:embeddedFont>
      <p:font typeface="Kanit" pitchFamily="2" charset="-34"/>
      <p:regular r:id="rId30"/>
      <p:bold r:id="rId31"/>
      <p:italic r:id="rId32"/>
      <p:boldItalic r:id="rId33"/>
    </p:embeddedFont>
    <p:embeddedFont>
      <p:font typeface="Prompt" pitchFamily="2" charset="-34"/>
      <p:regular r:id="rId34"/>
      <p:bold r:id="rId35"/>
      <p:italic r:id="rId36"/>
      <p:boldItalic r:id="rId3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FA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82"/>
    <p:restoredTop sz="94659"/>
  </p:normalViewPr>
  <p:slideViewPr>
    <p:cSldViewPr snapToGrid="0">
      <p:cViewPr>
        <p:scale>
          <a:sx n="71" d="100"/>
          <a:sy n="71" d="100"/>
        </p:scale>
        <p:origin x="880" y="102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font" Target="fonts/font9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4.fntdata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7.fntdata"/><Relationship Id="rId37" Type="http://schemas.openxmlformats.org/officeDocument/2006/relationships/font" Target="fonts/font12.fntdata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36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font" Target="fonts/font10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font" Target="fonts/font8.fntdata"/><Relationship Id="rId38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th-TH"/>
              <a:t>รายได้ตามหมวดสินค้า (บาท)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รายได้</c:v>
                </c:pt>
              </c:strCache>
            </c:strRef>
          </c:tx>
          <c:spPr>
            <a:solidFill>
              <a:srgbClr val="2D6A4F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52CE-2247-958B-BC430F973D38}"/>
              </c:ext>
            </c:extLst>
          </c:dPt>
          <c:dPt>
            <c:idx val="1"/>
            <c:invertIfNegative val="0"/>
            <c:bubble3D val="0"/>
            <c:spPr>
              <a:solidFill>
                <a:srgbClr val="52B7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2-52CE-2247-958B-BC430F973D38}"/>
              </c:ext>
            </c:extLst>
          </c:dPt>
          <c:dPt>
            <c:idx val="2"/>
            <c:invertIfNegative val="0"/>
            <c:bubble3D val="0"/>
            <c:spPr>
              <a:solidFill>
                <a:srgbClr val="95D5B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4-52CE-2247-958B-BC430F973D38}"/>
              </c:ext>
            </c:extLst>
          </c:dPt>
          <c:dPt>
            <c:idx val="3"/>
            <c:invertIfNegative val="0"/>
            <c:bubble3D val="0"/>
            <c:spPr>
              <a:solidFill>
                <a:srgbClr val="E07A1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6-52CE-2247-958B-BC430F973D38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ผลไม้</c:v>
                </c:pt>
                <c:pt idx="1">
                  <c:v>ผัก</c:v>
                </c:pt>
                <c:pt idx="2">
                  <c:v>นม</c:v>
                </c:pt>
                <c:pt idx="3">
                  <c:v>สมุนไพร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436975</c:v>
                </c:pt>
                <c:pt idx="1">
                  <c:v>302690</c:v>
                </c:pt>
                <c:pt idx="2">
                  <c:v>249972</c:v>
                </c:pt>
                <c:pt idx="3">
                  <c:v>74397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52CE-2247-958B-BC430F973D3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txPr>
    <a:bodyPr/>
    <a:lstStyle/>
    <a:p>
      <a:pPr>
        <a:defRPr>
          <a:latin typeface="Kanit" pitchFamily="2" charset="-34"/>
          <a:cs typeface="Kanit" pitchFamily="2" charset="-34"/>
        </a:defRPr>
      </a:pPr>
      <a:endParaRPr lang="en-TH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th-TH"/>
              <a:t>รายได้ตามช่องทาง (บาท)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รายได้</c:v>
                </c:pt>
              </c:strCache>
            </c:strRef>
          </c:tx>
          <c:spPr>
            <a:solidFill>
              <a:srgbClr val="2D6A4F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DE1D-1E4C-A9EB-617BF932BEFE}"/>
              </c:ext>
            </c:extLst>
          </c:dPt>
          <c:dPt>
            <c:idx val="1"/>
            <c:invertIfNegative val="0"/>
            <c:bubble3D val="0"/>
            <c:spPr>
              <a:solidFill>
                <a:srgbClr val="52B7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2-DE1D-1E4C-A9EB-617BF932BEFE}"/>
              </c:ext>
            </c:extLst>
          </c:dPt>
          <c:dPt>
            <c:idx val="2"/>
            <c:invertIfNegative val="0"/>
            <c:bubble3D val="0"/>
            <c:spPr>
              <a:solidFill>
                <a:srgbClr val="95D5B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4-DE1D-1E4C-A9EB-617BF932BEFE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LINE OA</c:v>
                </c:pt>
                <c:pt idx="1">
                  <c:v>เว็บไซต์</c:v>
                </c:pt>
                <c:pt idx="2">
                  <c:v>Facebook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442720</c:v>
                </c:pt>
                <c:pt idx="1">
                  <c:v>353637</c:v>
                </c:pt>
                <c:pt idx="2">
                  <c:v>267677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DE1D-1E4C-A9EB-617BF932BEF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txPr>
    <a:bodyPr/>
    <a:lstStyle/>
    <a:p>
      <a:pPr>
        <a:defRPr>
          <a:latin typeface="Kanit" pitchFamily="2" charset="-34"/>
          <a:cs typeface="Kanit" pitchFamily="2" charset="-34"/>
        </a:defRPr>
      </a:pPr>
      <a:endParaRPr lang="en-TH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/>
              <a:t>CAC: </a:t>
            </a:r>
            <a:r>
              <a:rPr lang="th-TH"/>
              <a:t>ต้นทุนต่อลูกค้าใหม่ 1 คน (บาท)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CAC</c:v>
                </c:pt>
              </c:strCache>
            </c:strRef>
          </c:tx>
          <c:spPr>
            <a:solidFill>
              <a:srgbClr val="E07A1F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14C8-D24F-A8F3-BD9402B603D5}"/>
              </c:ext>
            </c:extLst>
          </c:dPt>
          <c:dPt>
            <c:idx val="1"/>
            <c:invertIfNegative val="0"/>
            <c:bubble3D val="0"/>
            <c:spPr>
              <a:solidFill>
                <a:srgbClr val="9DB5A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2-14C8-D24F-A8F3-BD9402B603D5}"/>
              </c:ext>
            </c:extLst>
          </c:dPt>
          <c:dPt>
            <c:idx val="2"/>
            <c:invertIfNegative val="0"/>
            <c:bubble3D val="0"/>
            <c:spPr>
              <a:solidFill>
                <a:srgbClr val="9DB5A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4-14C8-D24F-A8F3-BD9402B603D5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LINE</c:v>
                </c:pt>
                <c:pt idx="1">
                  <c:v>Facebook</c:v>
                </c:pt>
                <c:pt idx="2">
                  <c:v>Google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262</c:v>
                </c:pt>
                <c:pt idx="1">
                  <c:v>896</c:v>
                </c:pt>
                <c:pt idx="2">
                  <c:v>987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14C8-D24F-A8F3-BD9402B603D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txPr>
    <a:bodyPr/>
    <a:lstStyle/>
    <a:p>
      <a:pPr>
        <a:defRPr>
          <a:latin typeface="Prompt" pitchFamily="2" charset="-34"/>
          <a:cs typeface="Prompt" pitchFamily="2" charset="-34"/>
        </a:defRPr>
      </a:pPr>
      <a:endParaRPr lang="en-TH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/>
            </a:pPr>
            <a:r>
              <a:rPr lang="en-US"/>
              <a:t>Repeat rate </a:t>
            </a:r>
            <a:r>
              <a:rPr lang="th-TH"/>
              <a:t>ตามช่องทางสมัคร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Repeat</c:v>
                </c:pt>
              </c:strCache>
            </c:strRef>
          </c:tx>
          <c:spPr>
            <a:solidFill>
              <a:srgbClr val="2D6A4F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DB40-C343-A760-5885FBFBA202}"/>
              </c:ext>
            </c:extLst>
          </c:dPt>
          <c:dPt>
            <c:idx val="1"/>
            <c:invertIfNegative val="0"/>
            <c:bubble3D val="0"/>
            <c:spPr>
              <a:solidFill>
                <a:srgbClr val="52B7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DB40-C343-A760-5885FBFBA202}"/>
              </c:ext>
            </c:extLst>
          </c:dPt>
          <c:dPt>
            <c:idx val="2"/>
            <c:invertIfNegative val="0"/>
            <c:bubble3D val="0"/>
            <c:spPr>
              <a:solidFill>
                <a:srgbClr val="95D5B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DB40-C343-A760-5885FBFBA202}"/>
              </c:ext>
            </c:extLst>
          </c:dPt>
          <c:dLbls>
            <c:numFmt formatCode="0.0" sourceLinked="0"/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Web</c:v>
                </c:pt>
                <c:pt idx="1">
                  <c:v>LINE OA</c:v>
                </c:pt>
                <c:pt idx="2">
                  <c:v>Facebook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69.599999999999994</c:v>
                </c:pt>
                <c:pt idx="1">
                  <c:v>68.099999999999994</c:v>
                </c:pt>
                <c:pt idx="2">
                  <c:v>66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DB40-C343-A760-5885FBFBA20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txPr>
    <a:bodyPr/>
    <a:lstStyle/>
    <a:p>
      <a:pPr>
        <a:defRPr>
          <a:latin typeface="Kanit" pitchFamily="2" charset="-34"/>
          <a:cs typeface="Kanit" pitchFamily="2" charset="-34"/>
        </a:defRPr>
      </a:pPr>
      <a:endParaRPr lang="en-TH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/>
            </a:pPr>
            <a:r>
              <a:rPr lang="en-US"/>
              <a:t>Contribution margin % </a:t>
            </a:r>
            <a:r>
              <a:rPr lang="th-TH"/>
              <a:t>ตามพื้นที่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Margin %</c:v>
                </c:pt>
              </c:strCache>
            </c:strRef>
          </c:tx>
          <c:spPr>
            <a:solidFill>
              <a:srgbClr val="B23A48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80F3-DB45-A77F-7BCA590F5668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80F3-DB45-A77F-7BCA590F5668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80F3-DB45-A77F-7BCA590F5668}"/>
              </c:ext>
            </c:extLst>
          </c:dPt>
          <c:dPt>
            <c:idx val="3"/>
            <c:invertIfNegative val="0"/>
            <c:bubble3D val="0"/>
            <c:spPr>
              <a:solidFill>
                <a:srgbClr val="E07A1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80F3-DB45-A77F-7BCA590F5668}"/>
              </c:ext>
            </c:extLst>
          </c:dPt>
          <c:dPt>
            <c:idx val="4"/>
            <c:invertIfNegative val="0"/>
            <c:bubble3D val="0"/>
            <c:spPr>
              <a:solidFill>
                <a:srgbClr val="E07A1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80F3-DB45-A77F-7BCA590F5668}"/>
              </c:ext>
            </c:extLst>
          </c:dPt>
          <c:dPt>
            <c:idx val="5"/>
            <c:invertIfNegative val="0"/>
            <c:bubble3D val="0"/>
            <c:spPr>
              <a:solidFill>
                <a:srgbClr val="E07A1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80F3-DB45-A77F-7BCA590F5668}"/>
              </c:ext>
            </c:extLst>
          </c:dPt>
          <c:dPt>
            <c:idx val="6"/>
            <c:invertIfNegative val="0"/>
            <c:bubble3D val="0"/>
            <c:spPr>
              <a:solidFill>
                <a:srgbClr val="2D6A4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80F3-DB45-A77F-7BCA590F5668}"/>
              </c:ext>
            </c:extLst>
          </c:dPt>
          <c:dLbls>
            <c:numFmt formatCode="0.0" sourceLinked="0"/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ลาดพร้าว</c:v>
                </c:pt>
                <c:pt idx="1">
                  <c:v>พระราม 9</c:v>
                </c:pt>
                <c:pt idx="2">
                  <c:v>รัชดา</c:v>
                </c:pt>
                <c:pt idx="3">
                  <c:v>พหลโยธิน</c:v>
                </c:pt>
                <c:pt idx="4">
                  <c:v>บางนา</c:v>
                </c:pt>
                <c:pt idx="5">
                  <c:v>ตากสิน</c:v>
                </c:pt>
                <c:pt idx="6">
                  <c:v>โซนใกล้ (เฉลี่ย)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0.11</c:v>
                </c:pt>
                <c:pt idx="1">
                  <c:v>1.24</c:v>
                </c:pt>
                <c:pt idx="2">
                  <c:v>1.42</c:v>
                </c:pt>
                <c:pt idx="3">
                  <c:v>2.27</c:v>
                </c:pt>
                <c:pt idx="4">
                  <c:v>2.41</c:v>
                </c:pt>
                <c:pt idx="5">
                  <c:v>3.11</c:v>
                </c:pt>
                <c:pt idx="6">
                  <c:v>16.5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80F3-DB45-A77F-7BCA590F566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txPr>
    <a:bodyPr/>
    <a:lstStyle/>
    <a:p>
      <a:pPr>
        <a:defRPr>
          <a:latin typeface="Prompt" pitchFamily="2" charset="-34"/>
          <a:cs typeface="Prompt" pitchFamily="2" charset="-34"/>
        </a:defRPr>
      </a:pPr>
      <a:endParaRPr lang="en-TH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/>
            </a:pPr>
            <a:r>
              <a:rPr lang="th-TH"/>
              <a:t>สัดส่วนลูกค้า </a:t>
            </a:r>
            <a:r>
              <a:rPr lang="en-US"/>
              <a:t>vs </a:t>
            </a:r>
            <a:r>
              <a:rPr lang="th-TH"/>
              <a:t>รายได้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ลูกค้า</c:v>
                </c:pt>
              </c:strCache>
            </c:strRef>
          </c:tx>
          <c:spPr>
            <a:solidFill>
              <a:srgbClr val="95B8A3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Champions</c:v>
                </c:pt>
                <c:pt idx="1">
                  <c:v>Loyal</c:v>
                </c:pt>
                <c:pt idx="2">
                  <c:v>At-Risk</c:v>
                </c:pt>
                <c:pt idx="3">
                  <c:v>Potential</c:v>
                </c:pt>
                <c:pt idx="4">
                  <c:v>Lost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21.4</c:v>
                </c:pt>
                <c:pt idx="1">
                  <c:v>18.600000000000001</c:v>
                </c:pt>
                <c:pt idx="2">
                  <c:v>17.100000000000001</c:v>
                </c:pt>
                <c:pt idx="3">
                  <c:v>14.2</c:v>
                </c:pt>
                <c:pt idx="4">
                  <c:v>28.7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9AD-6340-9063-BFF39F03372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% รายได้</c:v>
                </c:pt>
              </c:strCache>
            </c:strRef>
          </c:tx>
          <c:spPr>
            <a:solidFill>
              <a:srgbClr val="E07A1F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Champions</c:v>
                </c:pt>
                <c:pt idx="1">
                  <c:v>Loyal</c:v>
                </c:pt>
                <c:pt idx="2">
                  <c:v>At-Risk</c:v>
                </c:pt>
                <c:pt idx="3">
                  <c:v>Potential</c:v>
                </c:pt>
                <c:pt idx="4">
                  <c:v>Lost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45.5</c:v>
                </c:pt>
                <c:pt idx="1">
                  <c:v>26.5</c:v>
                </c:pt>
                <c:pt idx="2">
                  <c:v>11.7</c:v>
                </c:pt>
                <c:pt idx="3">
                  <c:v>9.3000000000000007</c:v>
                </c:pt>
                <c:pt idx="4">
                  <c:v>7.1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9AD-6340-9063-BFF39F03372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noFill/>
    <a:ln>
      <a:noFill/>
    </a:ln>
    <a:effectLst/>
  </c:spPr>
  <c:txPr>
    <a:bodyPr/>
    <a:lstStyle/>
    <a:p>
      <a:pPr>
        <a:defRPr>
          <a:latin typeface="Prompt" pitchFamily="2" charset="-34"/>
          <a:cs typeface="Prompt" pitchFamily="2" charset="-34"/>
        </a:defRPr>
      </a:pPr>
      <a:endParaRPr lang="en-TH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" name="Google Shape;24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" name="Google Shape;26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5" name="Google Shape;29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1" name="Google Shape;321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074659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3B2B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910137" y="4648200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662612" y="4648200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67562" y="4648200"/>
            <a:ext cx="13335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2786062" y="2019300"/>
            <a:ext cx="661987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E07A5F"/>
                </a:solidFill>
                <a:latin typeface="Prompt"/>
                <a:ea typeface="Prompt"/>
                <a:cs typeface="Prompt"/>
                <a:sym typeface="Prompt"/>
              </a:rPr>
              <a:t>MARKETING DATA ANALYTICS • PROJECT GROUP 3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3526928" y="2476500"/>
            <a:ext cx="5138142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FFFFFF"/>
                </a:solidFill>
                <a:latin typeface="Prompt"/>
                <a:ea typeface="Prompt"/>
                <a:cs typeface="Prompt"/>
                <a:sym typeface="Prompt"/>
              </a:rPr>
              <a:t>AgriDirect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1333500" y="3467100"/>
            <a:ext cx="95250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A7C4B5"/>
                </a:solidFill>
                <a:latin typeface="Prompt"/>
                <a:ea typeface="Prompt"/>
                <a:cs typeface="Prompt"/>
                <a:sym typeface="Prompt"/>
              </a:rPr>
              <a:t>วิเคราะห์ช่องทางโฆษณาและแบ่งกลุ่มลูกค้า (RFM) สำหรับธุรกิจผักผลไม้ออร์แกนิกออนไลน์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3890962" y="4610100"/>
            <a:ext cx="10096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Prompt"/>
                <a:ea typeface="Prompt"/>
                <a:cs typeface="Prompt"/>
                <a:sym typeface="Prompt"/>
              </a:rPr>
              <a:t>เกิดอะไรขึ้น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5053012" y="4610100"/>
            <a:ext cx="60007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Prompt"/>
                <a:ea typeface="Prompt"/>
                <a:cs typeface="Prompt"/>
                <a:sym typeface="Prompt"/>
              </a:rPr>
              <a:t>ทำไม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5805487" y="4610100"/>
            <a:ext cx="13525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Prompt"/>
                <a:ea typeface="Prompt"/>
                <a:cs typeface="Prompt"/>
                <a:sym typeface="Prompt"/>
              </a:rPr>
              <a:t>จะเป็นอย่างไรต่อ</a:t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7310437" y="4610100"/>
            <a:ext cx="990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Prompt"/>
                <a:ea typeface="Prompt"/>
                <a:cs typeface="Prompt"/>
                <a:sym typeface="Prompt"/>
              </a:rPr>
              <a:t>ควรทำอะไร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5"/>
        </a:solidFill>
        <a:effectLst/>
      </p:bgPr>
    </p:bg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4"/>
          <p:cNvSpPr/>
          <p:nvPr/>
        </p:nvSpPr>
        <p:spPr>
          <a:xfrm>
            <a:off x="609600" y="2524125"/>
            <a:ext cx="5372100" cy="1485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4"/>
          <p:cNvSpPr/>
          <p:nvPr/>
        </p:nvSpPr>
        <p:spPr>
          <a:xfrm>
            <a:off x="6210300" y="2524125"/>
            <a:ext cx="5372100" cy="1485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4"/>
          <p:cNvSpPr/>
          <p:nvPr/>
        </p:nvSpPr>
        <p:spPr>
          <a:xfrm>
            <a:off x="609600" y="4238625"/>
            <a:ext cx="5372100" cy="1485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4"/>
          <p:cNvSpPr/>
          <p:nvPr/>
        </p:nvSpPr>
        <p:spPr>
          <a:xfrm>
            <a:off x="6210300" y="4238625"/>
            <a:ext cx="5372100" cy="1485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4"/>
          <p:cNvSpPr txBox="1"/>
          <p:nvPr/>
        </p:nvSpPr>
        <p:spPr>
          <a:xfrm>
            <a:off x="609600" y="609600"/>
            <a:ext cx="1106805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0F172A"/>
                </a:solidFill>
                <a:latin typeface="Prompt"/>
                <a:ea typeface="Prompt"/>
                <a:cs typeface="Prompt"/>
                <a:sym typeface="Prompt"/>
              </a:rPr>
              <a:t>BUSINESS CONTEXT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609600" y="962025"/>
            <a:ext cx="11582400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B3B2B"/>
                </a:solidFill>
                <a:latin typeface="Prompt"/>
                <a:ea typeface="Prompt"/>
                <a:cs typeface="Prompt"/>
                <a:sym typeface="Prompt"/>
              </a:rPr>
              <a:t>4 ความกังวลหลักจาก CMO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990600" y="2905125"/>
            <a:ext cx="4940617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2D6A4F"/>
                </a:solidFill>
                <a:latin typeface="Prompt"/>
                <a:ea typeface="Prompt"/>
                <a:cs typeface="Prompt"/>
                <a:sym typeface="Prompt"/>
              </a:rPr>
              <a:t>ค่าโฆษณาสูง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990600" y="3362325"/>
            <a:ext cx="470535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A5568"/>
                </a:solidFill>
                <a:latin typeface="Prompt"/>
                <a:ea typeface="Prompt"/>
                <a:cs typeface="Prompt"/>
                <a:sym typeface="Prompt"/>
              </a:rPr>
              <a:t>ช่องทางได้ผลไม่เท่ากันและอาจจ่ายเกินความจำเป็น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6591300" y="2905125"/>
            <a:ext cx="4940617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2D6A4F"/>
                </a:solidFill>
                <a:latin typeface="Prompt"/>
                <a:ea typeface="Prompt"/>
                <a:cs typeface="Prompt"/>
                <a:sym typeface="Prompt"/>
              </a:rPr>
              <a:t>ลูกค้าซื้อซ้ำน้อย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6591300" y="3362325"/>
            <a:ext cx="470535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A5568"/>
                </a:solidFill>
                <a:latin typeface="Prompt"/>
                <a:ea typeface="Prompt"/>
                <a:cs typeface="Prompt"/>
                <a:sym typeface="Prompt"/>
              </a:rPr>
              <a:t>ตัวเลขตั้งต้นเพียง 32% ต่ำเกินไปสำหรับสินค้าของสด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990600" y="4619625"/>
            <a:ext cx="4940617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2D6A4F"/>
                </a:solidFill>
                <a:latin typeface="Prompt"/>
                <a:ea typeface="Prompt"/>
                <a:cs typeface="Prompt"/>
                <a:sym typeface="Prompt"/>
              </a:rPr>
              <a:t>ยอดต่อบิลต่ำ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990600" y="5076825"/>
            <a:ext cx="470535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A5568"/>
                </a:solidFill>
                <a:latin typeface="Prompt"/>
                <a:ea typeface="Prompt"/>
                <a:cs typeface="Prompt"/>
                <a:sym typeface="Prompt"/>
              </a:rPr>
              <a:t>กำไรถูกหักล้างด้วยค่าจัดส่งทั้งหมด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6591300" y="4619625"/>
            <a:ext cx="4940617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2D6A4F"/>
                </a:solidFill>
                <a:latin typeface="Prompt"/>
                <a:ea typeface="Prompt"/>
                <a:cs typeface="Prompt"/>
                <a:sym typeface="Prompt"/>
              </a:rPr>
              <a:t>ขาดเป้าหมายลูกค้า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6591300" y="5076825"/>
            <a:ext cx="470535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A5568"/>
                </a:solidFill>
                <a:latin typeface="Prompt"/>
                <a:ea typeface="Prompt"/>
                <a:cs typeface="Prompt"/>
                <a:sym typeface="Prompt"/>
              </a:rPr>
              <a:t>จัดสรรงบประมาณดูแลลูกค้าแต่ละกลุ่มไม่ถูกจุด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5"/>
          <p:cNvSpPr/>
          <p:nvPr/>
        </p:nvSpPr>
        <p:spPr>
          <a:xfrm>
            <a:off x="609600" y="2305050"/>
            <a:ext cx="457200" cy="457200"/>
          </a:xfrm>
          <a:prstGeom prst="rect">
            <a:avLst/>
          </a:prstGeom>
          <a:solidFill>
            <a:srgbClr val="1B3B2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5"/>
          <p:cNvSpPr/>
          <p:nvPr/>
        </p:nvSpPr>
        <p:spPr>
          <a:xfrm>
            <a:off x="3409950" y="2305050"/>
            <a:ext cx="457200" cy="4572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5"/>
          <p:cNvSpPr/>
          <p:nvPr/>
        </p:nvSpPr>
        <p:spPr>
          <a:xfrm>
            <a:off x="6210300" y="2305050"/>
            <a:ext cx="457200" cy="457200"/>
          </a:xfrm>
          <a:prstGeom prst="rect">
            <a:avLst/>
          </a:prstGeom>
          <a:solidFill>
            <a:srgbClr val="74A57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5"/>
          <p:cNvSpPr/>
          <p:nvPr/>
        </p:nvSpPr>
        <p:spPr>
          <a:xfrm>
            <a:off x="9010650" y="2305050"/>
            <a:ext cx="457200" cy="457200"/>
          </a:xfrm>
          <a:prstGeom prst="rect">
            <a:avLst/>
          </a:prstGeom>
          <a:solidFill>
            <a:srgbClr val="A7C4B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609600" y="609600"/>
            <a:ext cx="1106805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0F172A"/>
                </a:solidFill>
                <a:latin typeface="Prompt"/>
                <a:ea typeface="Prompt"/>
                <a:cs typeface="Prompt"/>
                <a:sym typeface="Prompt"/>
              </a:rPr>
              <a:t>APPROACH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609600" y="962025"/>
            <a:ext cx="11582400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B3B2B"/>
                </a:solidFill>
                <a:latin typeface="Prompt"/>
                <a:ea typeface="Prompt"/>
                <a:cs typeface="Prompt"/>
                <a:sym typeface="Prompt"/>
              </a:rPr>
              <a:t>กระบวนการวิเคราะห์ 4 ขั้นตอน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466725" y="2305050"/>
            <a:ext cx="7429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Prompt"/>
                <a:ea typeface="Prompt"/>
                <a:cs typeface="Prompt"/>
                <a:sym typeface="Prompt"/>
              </a:rPr>
              <a:t>1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609600" y="2990850"/>
            <a:ext cx="280035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1B3B2B"/>
                </a:solidFill>
                <a:latin typeface="Prompt"/>
                <a:ea typeface="Prompt"/>
                <a:cs typeface="Prompt"/>
                <a:sym typeface="Prompt"/>
              </a:rPr>
              <a:t>Descriptive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609600" y="3381375"/>
            <a:ext cx="2667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F172A"/>
                </a:solidFill>
                <a:latin typeface="Prompt"/>
                <a:ea typeface="Prompt"/>
                <a:cs typeface="Prompt"/>
                <a:sym typeface="Prompt"/>
              </a:rPr>
              <a:t>เกิดอะไรขึ้น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609600" y="3762375"/>
            <a:ext cx="2667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A5568"/>
                </a:solidFill>
                <a:latin typeface="Prompt"/>
                <a:ea typeface="Prompt"/>
                <a:cs typeface="Prompt"/>
                <a:sym typeface="Prompt"/>
              </a:rPr>
              <a:t>วิเคราะห์ยอดขาย ช่องทาง พื้นที่ และสินค้าผ่าน Dashboard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3267075" y="2305050"/>
            <a:ext cx="7429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Prompt"/>
                <a:ea typeface="Prompt"/>
                <a:cs typeface="Prompt"/>
                <a:sym typeface="Prompt"/>
              </a:rPr>
              <a:t>2</a:t>
            </a:r>
            <a:endParaRPr/>
          </a:p>
        </p:txBody>
      </p:sp>
      <p:sp>
        <p:nvSpPr>
          <p:cNvPr id="127" name="Google Shape;127;p15"/>
          <p:cNvSpPr txBox="1"/>
          <p:nvPr/>
        </p:nvSpPr>
        <p:spPr>
          <a:xfrm>
            <a:off x="3409950" y="2990850"/>
            <a:ext cx="280035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1B3B2B"/>
                </a:solidFill>
                <a:latin typeface="Prompt"/>
                <a:ea typeface="Prompt"/>
                <a:cs typeface="Prompt"/>
                <a:sym typeface="Prompt"/>
              </a:rPr>
              <a:t>Diagnostic</a:t>
            </a:r>
            <a:endParaRPr/>
          </a:p>
        </p:txBody>
      </p:sp>
      <p:sp>
        <p:nvSpPr>
          <p:cNvPr id="128" name="Google Shape;128;p15"/>
          <p:cNvSpPr txBox="1"/>
          <p:nvPr/>
        </p:nvSpPr>
        <p:spPr>
          <a:xfrm>
            <a:off x="3409950" y="3381375"/>
            <a:ext cx="2667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F172A"/>
                </a:solidFill>
                <a:latin typeface="Prompt"/>
                <a:ea typeface="Prompt"/>
                <a:cs typeface="Prompt"/>
                <a:sym typeface="Prompt"/>
              </a:rPr>
              <a:t>ทำไมถึงเป็นแบบนี้</a:t>
            </a:r>
            <a:endParaRPr/>
          </a:p>
        </p:txBody>
      </p:sp>
      <p:sp>
        <p:nvSpPr>
          <p:cNvPr id="129" name="Google Shape;129;p15"/>
          <p:cNvSpPr txBox="1"/>
          <p:nvPr/>
        </p:nvSpPr>
        <p:spPr>
          <a:xfrm>
            <a:off x="3409950" y="3762375"/>
            <a:ext cx="2667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A5568"/>
                </a:solidFill>
                <a:latin typeface="Prompt"/>
                <a:ea typeface="Prompt"/>
                <a:cs typeface="Prompt"/>
                <a:sym typeface="Prompt"/>
              </a:rPr>
              <a:t>เทียบผลโฆษณา การซื้อซ้ำ สินค้าซื้อคู่ และกำไรรายพื้นที่</a:t>
            </a:r>
            <a:endParaRPr/>
          </a:p>
        </p:txBody>
      </p:sp>
      <p:sp>
        <p:nvSpPr>
          <p:cNvPr id="130" name="Google Shape;130;p15"/>
          <p:cNvSpPr txBox="1"/>
          <p:nvPr/>
        </p:nvSpPr>
        <p:spPr>
          <a:xfrm>
            <a:off x="6067425" y="2305050"/>
            <a:ext cx="7429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8FAFC"/>
                </a:solidFill>
                <a:latin typeface="Prompt"/>
                <a:ea typeface="Prompt"/>
                <a:cs typeface="Prompt"/>
                <a:sym typeface="Prompt"/>
              </a:rPr>
              <a:t>3</a:t>
            </a:r>
            <a:endParaRPr/>
          </a:p>
        </p:txBody>
      </p:sp>
      <p:sp>
        <p:nvSpPr>
          <p:cNvPr id="131" name="Google Shape;131;p15"/>
          <p:cNvSpPr txBox="1"/>
          <p:nvPr/>
        </p:nvSpPr>
        <p:spPr>
          <a:xfrm>
            <a:off x="6210300" y="2990850"/>
            <a:ext cx="280035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1B3B2B"/>
                </a:solidFill>
                <a:latin typeface="Prompt"/>
                <a:ea typeface="Prompt"/>
                <a:cs typeface="Prompt"/>
                <a:sym typeface="Prompt"/>
              </a:rPr>
              <a:t>Predictive</a:t>
            </a:r>
            <a:endParaRPr/>
          </a:p>
        </p:txBody>
      </p:sp>
      <p:sp>
        <p:nvSpPr>
          <p:cNvPr id="132" name="Google Shape;132;p15"/>
          <p:cNvSpPr txBox="1"/>
          <p:nvPr/>
        </p:nvSpPr>
        <p:spPr>
          <a:xfrm>
            <a:off x="6210300" y="3381375"/>
            <a:ext cx="2667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F172A"/>
                </a:solidFill>
                <a:latin typeface="Prompt"/>
                <a:ea typeface="Prompt"/>
                <a:cs typeface="Prompt"/>
                <a:sym typeface="Prompt"/>
              </a:rPr>
              <a:t>จะเป็นอย่างไรต่อ</a:t>
            </a:r>
            <a:endParaRPr/>
          </a:p>
        </p:txBody>
      </p:sp>
      <p:sp>
        <p:nvSpPr>
          <p:cNvPr id="133" name="Google Shape;133;p15"/>
          <p:cNvSpPr txBox="1"/>
          <p:nvPr/>
        </p:nvSpPr>
        <p:spPr>
          <a:xfrm>
            <a:off x="6210300" y="3762375"/>
            <a:ext cx="2667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A5568"/>
                </a:solidFill>
                <a:latin typeface="Prompt"/>
                <a:ea typeface="Prompt"/>
                <a:cs typeface="Prompt"/>
                <a:sym typeface="Prompt"/>
              </a:rPr>
              <a:t>แบ่งกลุ่มลูกค้า RFM ออกแบบเซ็ตสินค้า และย้ายงบโฆษณา</a:t>
            </a:r>
            <a:endParaRPr/>
          </a:p>
        </p:txBody>
      </p:sp>
      <p:sp>
        <p:nvSpPr>
          <p:cNvPr id="134" name="Google Shape;134;p15"/>
          <p:cNvSpPr txBox="1"/>
          <p:nvPr/>
        </p:nvSpPr>
        <p:spPr>
          <a:xfrm>
            <a:off x="8867775" y="2305050"/>
            <a:ext cx="7429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B3B2B"/>
                </a:solidFill>
                <a:latin typeface="Prompt"/>
                <a:ea typeface="Prompt"/>
                <a:cs typeface="Prompt"/>
                <a:sym typeface="Prompt"/>
              </a:rPr>
              <a:t>4</a:t>
            </a:r>
            <a:endParaRPr/>
          </a:p>
        </p:txBody>
      </p:sp>
      <p:sp>
        <p:nvSpPr>
          <p:cNvPr id="135" name="Google Shape;135;p15"/>
          <p:cNvSpPr txBox="1"/>
          <p:nvPr/>
        </p:nvSpPr>
        <p:spPr>
          <a:xfrm>
            <a:off x="9010650" y="2990850"/>
            <a:ext cx="280035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1B3B2B"/>
                </a:solidFill>
                <a:latin typeface="Prompt"/>
                <a:ea typeface="Prompt"/>
                <a:cs typeface="Prompt"/>
                <a:sym typeface="Prompt"/>
              </a:rPr>
              <a:t>Prescriptive</a:t>
            </a:r>
            <a:endParaRPr/>
          </a:p>
        </p:txBody>
      </p:sp>
      <p:sp>
        <p:nvSpPr>
          <p:cNvPr id="136" name="Google Shape;136;p15"/>
          <p:cNvSpPr txBox="1"/>
          <p:nvPr/>
        </p:nvSpPr>
        <p:spPr>
          <a:xfrm>
            <a:off x="9010650" y="3381375"/>
            <a:ext cx="2667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F172A"/>
                </a:solidFill>
                <a:latin typeface="Prompt"/>
                <a:ea typeface="Prompt"/>
                <a:cs typeface="Prompt"/>
                <a:sym typeface="Prompt"/>
              </a:rPr>
              <a:t>ควรทำอะไร</a:t>
            </a:r>
            <a:endParaRPr/>
          </a:p>
        </p:txBody>
      </p:sp>
      <p:sp>
        <p:nvSpPr>
          <p:cNvPr id="137" name="Google Shape;137;p15"/>
          <p:cNvSpPr txBox="1"/>
          <p:nvPr/>
        </p:nvSpPr>
        <p:spPr>
          <a:xfrm>
            <a:off x="9010650" y="3762375"/>
            <a:ext cx="2667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A5568"/>
                </a:solidFill>
                <a:latin typeface="Prompt"/>
                <a:ea typeface="Prompt"/>
                <a:cs typeface="Prompt"/>
                <a:sym typeface="Prompt"/>
              </a:rPr>
              <a:t>แผนการตลาดไตรมาส 3 ระบบสมาชิก และปรับค่าส่ง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5"/>
        </a:solid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6"/>
          <p:cNvSpPr txBox="1"/>
          <p:nvPr/>
        </p:nvSpPr>
        <p:spPr>
          <a:xfrm>
            <a:off x="609600" y="609600"/>
            <a:ext cx="1106805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0F172A"/>
                </a:solidFill>
                <a:latin typeface="Prompt"/>
                <a:ea typeface="Prompt"/>
                <a:cs typeface="Prompt"/>
                <a:sym typeface="Prompt"/>
              </a:rPr>
              <a:t>PHASE 1 • DESCRIPTIVE</a:t>
            </a:r>
            <a:endParaRPr/>
          </a:p>
        </p:txBody>
      </p:sp>
      <p:sp>
        <p:nvSpPr>
          <p:cNvPr id="145" name="Google Shape;145;p16"/>
          <p:cNvSpPr txBox="1"/>
          <p:nvPr/>
        </p:nvSpPr>
        <p:spPr>
          <a:xfrm>
            <a:off x="609600" y="962025"/>
            <a:ext cx="11582400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B3B2B"/>
                </a:solidFill>
                <a:latin typeface="Prompt"/>
                <a:ea typeface="Prompt"/>
                <a:cs typeface="Prompt"/>
                <a:sym typeface="Prompt"/>
              </a:rPr>
              <a:t>ภาพรวม 6 เดือน: ยอดขายเติบโต 9 เท่า</a:t>
            </a:r>
            <a:endParaRPr/>
          </a:p>
        </p:txBody>
      </p:sp>
      <p:sp>
        <p:nvSpPr>
          <p:cNvPr id="2" name="Shape 2">
            <a:extLst>
              <a:ext uri="{FF2B5EF4-FFF2-40B4-BE49-F238E27FC236}">
                <a16:creationId xmlns:a16="http://schemas.microsoft.com/office/drawing/2014/main" id="{53857AE6-9A08-6336-30EA-133E1D84A552}"/>
              </a:ext>
            </a:extLst>
          </p:cNvPr>
          <p:cNvSpPr/>
          <p:nvPr/>
        </p:nvSpPr>
        <p:spPr>
          <a:xfrm>
            <a:off x="548640" y="1554480"/>
            <a:ext cx="356616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CE6DE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TH">
              <a:latin typeface="Kanit" pitchFamily="2" charset="-34"/>
              <a:cs typeface="Kanit" pitchFamily="2" charset="-34"/>
            </a:endParaRPr>
          </a:p>
        </p:txBody>
      </p:sp>
      <p:sp>
        <p:nvSpPr>
          <p:cNvPr id="3" name="Text 3">
            <a:extLst>
              <a:ext uri="{FF2B5EF4-FFF2-40B4-BE49-F238E27FC236}">
                <a16:creationId xmlns:a16="http://schemas.microsoft.com/office/drawing/2014/main" id="{03270F11-7C4A-3BC5-82F0-CC327DE88459}"/>
              </a:ext>
            </a:extLst>
          </p:cNvPr>
          <p:cNvSpPr txBox="1"/>
          <p:nvPr/>
        </p:nvSpPr>
        <p:spPr>
          <a:xfrm>
            <a:off x="822960" y="169164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E07A1F"/>
                </a:solidFill>
                <a:latin typeface="Kanit" pitchFamily="2" charset="-34"/>
                <a:ea typeface="Tahoma" pitchFamily="34" charset="-122"/>
                <a:cs typeface="Kanit" pitchFamily="2" charset="-34"/>
              </a:rPr>
              <a:t>1,064,034 ฿</a:t>
            </a:r>
            <a:endParaRPr lang="en-US" sz="3200" dirty="0">
              <a:latin typeface="Kanit" pitchFamily="2" charset="-34"/>
              <a:cs typeface="Kanit" pitchFamily="2" charset="-34"/>
            </a:endParaRPr>
          </a:p>
        </p:txBody>
      </p:sp>
      <p:sp>
        <p:nvSpPr>
          <p:cNvPr id="4" name="Text 4">
            <a:extLst>
              <a:ext uri="{FF2B5EF4-FFF2-40B4-BE49-F238E27FC236}">
                <a16:creationId xmlns:a16="http://schemas.microsoft.com/office/drawing/2014/main" id="{2AA56C70-64D6-185C-7C16-C4562D2E9F7F}"/>
              </a:ext>
            </a:extLst>
          </p:cNvPr>
          <p:cNvSpPr txBox="1"/>
          <p:nvPr/>
        </p:nvSpPr>
        <p:spPr>
          <a:xfrm>
            <a:off x="822960" y="24231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B62"/>
                </a:solidFill>
                <a:latin typeface="Kanit" pitchFamily="2" charset="-34"/>
                <a:ea typeface="Tahoma" pitchFamily="34" charset="-122"/>
                <a:cs typeface="Kanit" pitchFamily="2" charset="-34"/>
              </a:rPr>
              <a:t>ยอดขายรวม</a:t>
            </a:r>
            <a:endParaRPr lang="en-US" sz="1300" dirty="0">
              <a:latin typeface="Kanit" pitchFamily="2" charset="-34"/>
              <a:cs typeface="Kanit" pitchFamily="2" charset="-34"/>
            </a:endParaRP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94E15445-FEDB-E779-2890-AE953E3CD1E6}"/>
              </a:ext>
            </a:extLst>
          </p:cNvPr>
          <p:cNvSpPr/>
          <p:nvPr/>
        </p:nvSpPr>
        <p:spPr>
          <a:xfrm>
            <a:off x="4297680" y="1554480"/>
            <a:ext cx="356616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CE6DE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TH">
              <a:latin typeface="Kanit" pitchFamily="2" charset="-34"/>
              <a:cs typeface="Kanit" pitchFamily="2" charset="-34"/>
            </a:endParaRPr>
          </a:p>
        </p:txBody>
      </p:sp>
      <p:sp>
        <p:nvSpPr>
          <p:cNvPr id="6" name="Text 6">
            <a:extLst>
              <a:ext uri="{FF2B5EF4-FFF2-40B4-BE49-F238E27FC236}">
                <a16:creationId xmlns:a16="http://schemas.microsoft.com/office/drawing/2014/main" id="{A3B63C14-7A9F-AC55-92C5-814BF3BA33D1}"/>
              </a:ext>
            </a:extLst>
          </p:cNvPr>
          <p:cNvSpPr txBox="1"/>
          <p:nvPr/>
        </p:nvSpPr>
        <p:spPr>
          <a:xfrm>
            <a:off x="4572000" y="169164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E07A1F"/>
                </a:solidFill>
                <a:latin typeface="Kanit" pitchFamily="2" charset="-34"/>
                <a:ea typeface="Tahoma" pitchFamily="34" charset="-122"/>
                <a:cs typeface="Kanit" pitchFamily="2" charset="-34"/>
              </a:rPr>
              <a:t>7,553</a:t>
            </a:r>
            <a:endParaRPr lang="en-US" sz="3200" dirty="0">
              <a:latin typeface="Kanit" pitchFamily="2" charset="-34"/>
              <a:cs typeface="Kanit" pitchFamily="2" charset="-34"/>
            </a:endParaRPr>
          </a:p>
        </p:txBody>
      </p:sp>
      <p:sp>
        <p:nvSpPr>
          <p:cNvPr id="7" name="Text 7">
            <a:extLst>
              <a:ext uri="{FF2B5EF4-FFF2-40B4-BE49-F238E27FC236}">
                <a16:creationId xmlns:a16="http://schemas.microsoft.com/office/drawing/2014/main" id="{EF20EB2F-02B0-5F71-DD4F-67D154E51C82}"/>
              </a:ext>
            </a:extLst>
          </p:cNvPr>
          <p:cNvSpPr txBox="1"/>
          <p:nvPr/>
        </p:nvSpPr>
        <p:spPr>
          <a:xfrm>
            <a:off x="4572000" y="24231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B62"/>
                </a:solidFill>
                <a:latin typeface="Kanit" pitchFamily="2" charset="-34"/>
                <a:ea typeface="Tahoma" pitchFamily="34" charset="-122"/>
                <a:cs typeface="Kanit" pitchFamily="2" charset="-34"/>
              </a:rPr>
              <a:t>ออเดอร์</a:t>
            </a:r>
            <a:endParaRPr lang="en-US" sz="1300" dirty="0">
              <a:latin typeface="Kanit" pitchFamily="2" charset="-34"/>
              <a:cs typeface="Kanit" pitchFamily="2" charset="-34"/>
            </a:endParaRP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D0078D29-6FBA-081E-45D0-2387DCF38DF1}"/>
              </a:ext>
            </a:extLst>
          </p:cNvPr>
          <p:cNvSpPr/>
          <p:nvPr/>
        </p:nvSpPr>
        <p:spPr>
          <a:xfrm>
            <a:off x="8046720" y="1554480"/>
            <a:ext cx="356616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CE6DE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TH">
              <a:latin typeface="Kanit" pitchFamily="2" charset="-34"/>
              <a:cs typeface="Kanit" pitchFamily="2" charset="-34"/>
            </a:endParaRPr>
          </a:p>
        </p:txBody>
      </p:sp>
      <p:sp>
        <p:nvSpPr>
          <p:cNvPr id="9" name="Text 9">
            <a:extLst>
              <a:ext uri="{FF2B5EF4-FFF2-40B4-BE49-F238E27FC236}">
                <a16:creationId xmlns:a16="http://schemas.microsoft.com/office/drawing/2014/main" id="{31277620-4D29-66D0-14D2-0DA4554BEB94}"/>
              </a:ext>
            </a:extLst>
          </p:cNvPr>
          <p:cNvSpPr txBox="1"/>
          <p:nvPr/>
        </p:nvSpPr>
        <p:spPr>
          <a:xfrm>
            <a:off x="8321040" y="169164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E07A1F"/>
                </a:solidFill>
                <a:latin typeface="Kanit" pitchFamily="2" charset="-34"/>
                <a:ea typeface="Tahoma" pitchFamily="34" charset="-122"/>
                <a:cs typeface="Kanit" pitchFamily="2" charset="-34"/>
              </a:rPr>
              <a:t>140.9 ฿</a:t>
            </a:r>
            <a:endParaRPr lang="en-US" sz="3200" dirty="0">
              <a:latin typeface="Kanit" pitchFamily="2" charset="-34"/>
              <a:cs typeface="Kanit" pitchFamily="2" charset="-34"/>
            </a:endParaRPr>
          </a:p>
        </p:txBody>
      </p:sp>
      <p:sp>
        <p:nvSpPr>
          <p:cNvPr id="10" name="Text 10">
            <a:extLst>
              <a:ext uri="{FF2B5EF4-FFF2-40B4-BE49-F238E27FC236}">
                <a16:creationId xmlns:a16="http://schemas.microsoft.com/office/drawing/2014/main" id="{B9A08C78-213F-8B85-F5BA-0723FBC017B8}"/>
              </a:ext>
            </a:extLst>
          </p:cNvPr>
          <p:cNvSpPr txBox="1"/>
          <p:nvPr/>
        </p:nvSpPr>
        <p:spPr>
          <a:xfrm>
            <a:off x="8321040" y="24231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B62"/>
                </a:solidFill>
                <a:latin typeface="Kanit" pitchFamily="2" charset="-34"/>
                <a:ea typeface="Tahoma" pitchFamily="34" charset="-122"/>
                <a:cs typeface="Kanit" pitchFamily="2" charset="-34"/>
              </a:rPr>
              <a:t>AOV เฉลี่ยต่อบิล</a:t>
            </a:r>
            <a:endParaRPr lang="en-US" sz="1300" dirty="0">
              <a:latin typeface="Kanit" pitchFamily="2" charset="-34"/>
              <a:cs typeface="Kanit" pitchFamily="2" charset="-34"/>
            </a:endParaRPr>
          </a:p>
        </p:txBody>
      </p:sp>
      <p:graphicFrame>
        <p:nvGraphicFramePr>
          <p:cNvPr id="11" name="Chart 0">
            <a:extLst>
              <a:ext uri="{FF2B5EF4-FFF2-40B4-BE49-F238E27FC236}">
                <a16:creationId xmlns:a16="http://schemas.microsoft.com/office/drawing/2014/main" id="{FFE7DC3D-43D3-72E0-42B6-5C664203BE7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06492316"/>
              </p:ext>
            </p:extLst>
          </p:nvPr>
        </p:nvGraphicFramePr>
        <p:xfrm>
          <a:off x="548640" y="3063240"/>
          <a:ext cx="544068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2" name="Chart 1">
            <a:extLst>
              <a:ext uri="{FF2B5EF4-FFF2-40B4-BE49-F238E27FC236}">
                <a16:creationId xmlns:a16="http://schemas.microsoft.com/office/drawing/2014/main" id="{AAEE5BD5-4EC6-B8FF-5D1F-90770CE35EE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23239628"/>
              </p:ext>
            </p:extLst>
          </p:nvPr>
        </p:nvGraphicFramePr>
        <p:xfrm>
          <a:off x="6172200" y="3063240"/>
          <a:ext cx="544068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07A1F"/>
                </a:solidFill>
                <a:latin typeface="Kanit" pitchFamily="2" charset="-34"/>
                <a:ea typeface="Tahoma" pitchFamily="34" charset="-122"/>
                <a:cs typeface="Kanit" pitchFamily="2" charset="-34"/>
              </a:rPr>
              <a:t>INTERACTIVE DASHBOARD</a:t>
            </a:r>
            <a:endParaRPr lang="en-US" sz="1200" dirty="0">
              <a:latin typeface="Kanit" pitchFamily="2" charset="-34"/>
              <a:cs typeface="Kanit" pitchFamily="2" charset="-34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B4332"/>
                </a:solidFill>
                <a:latin typeface="Kanit" pitchFamily="2" charset="-34"/>
                <a:ea typeface="Tahoma" pitchFamily="34" charset="-122"/>
                <a:cs typeface="Kanit" pitchFamily="2" charset="-34"/>
              </a:rPr>
              <a:t>Dashboard สำหรับ CMO</a:t>
            </a:r>
            <a:endParaRPr lang="en-US" sz="2800" dirty="0">
              <a:latin typeface="Kanit" pitchFamily="2" charset="-34"/>
              <a:cs typeface="Kanit" pitchFamily="2" charset="-34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2F94EEE-5A40-D517-288A-556BF0EAB0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2722" y="1178071"/>
            <a:ext cx="7346556" cy="5521254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7"/>
          <p:cNvSpPr/>
          <p:nvPr/>
        </p:nvSpPr>
        <p:spPr>
          <a:xfrm>
            <a:off x="609600" y="2152650"/>
            <a:ext cx="381000" cy="381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7"/>
          <p:cNvSpPr/>
          <p:nvPr/>
        </p:nvSpPr>
        <p:spPr>
          <a:xfrm>
            <a:off x="6286500" y="2152650"/>
            <a:ext cx="381000" cy="381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7"/>
          <p:cNvSpPr/>
          <p:nvPr/>
        </p:nvSpPr>
        <p:spPr>
          <a:xfrm>
            <a:off x="609600" y="4524375"/>
            <a:ext cx="381000" cy="381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7"/>
          <p:cNvSpPr/>
          <p:nvPr/>
        </p:nvSpPr>
        <p:spPr>
          <a:xfrm>
            <a:off x="6286500" y="4524375"/>
            <a:ext cx="381000" cy="381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7"/>
          <p:cNvSpPr txBox="1"/>
          <p:nvPr/>
        </p:nvSpPr>
        <p:spPr>
          <a:xfrm>
            <a:off x="609600" y="609600"/>
            <a:ext cx="1106805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0F172A"/>
                </a:solidFill>
                <a:latin typeface="Prompt"/>
                <a:ea typeface="Prompt"/>
                <a:cs typeface="Prompt"/>
                <a:sym typeface="Prompt"/>
              </a:rPr>
              <a:t>PHASE 1 • INSIGHTS</a:t>
            </a:r>
            <a:endParaRPr/>
          </a:p>
        </p:txBody>
      </p:sp>
      <p:sp>
        <p:nvSpPr>
          <p:cNvPr id="161" name="Google Shape;161;p17"/>
          <p:cNvSpPr txBox="1"/>
          <p:nvPr/>
        </p:nvSpPr>
        <p:spPr>
          <a:xfrm>
            <a:off x="609600" y="962025"/>
            <a:ext cx="11582400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B3B2B"/>
                </a:solidFill>
                <a:latin typeface="Prompt"/>
                <a:ea typeface="Prompt"/>
                <a:cs typeface="Prompt"/>
                <a:sym typeface="Prompt"/>
              </a:rPr>
              <a:t>ข้อมูลเชิงลึกจากภาพรวมตั้งต้น</a:t>
            </a:r>
            <a:endParaRPr/>
          </a:p>
        </p:txBody>
      </p:sp>
      <p:sp>
        <p:nvSpPr>
          <p:cNvPr id="162" name="Google Shape;162;p17"/>
          <p:cNvSpPr txBox="1"/>
          <p:nvPr/>
        </p:nvSpPr>
        <p:spPr>
          <a:xfrm>
            <a:off x="609600" y="2343150"/>
            <a:ext cx="5660707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B3B2B"/>
                </a:solidFill>
                <a:latin typeface="Prompt"/>
                <a:ea typeface="Prompt"/>
                <a:cs typeface="Prompt"/>
                <a:sym typeface="Prompt"/>
              </a:rPr>
              <a:t>ยอดต่อบิลคงที่</a:t>
            </a:r>
            <a:endParaRPr/>
          </a:p>
        </p:txBody>
      </p:sp>
      <p:sp>
        <p:nvSpPr>
          <p:cNvPr id="163" name="Google Shape;163;p17"/>
          <p:cNvSpPr txBox="1"/>
          <p:nvPr/>
        </p:nvSpPr>
        <p:spPr>
          <a:xfrm>
            <a:off x="609600" y="2867025"/>
            <a:ext cx="539115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A5568"/>
                </a:solidFill>
                <a:latin typeface="Prompt"/>
                <a:ea typeface="Prompt"/>
                <a:cs typeface="Prompt"/>
                <a:sym typeface="Prompt"/>
              </a:rPr>
              <a:t>เท่ากันทุกช่องทางที่ 141 บาท สะท้อนข้อจำกัดของตะกร้าสินค้าปัจจุบัน</a:t>
            </a:r>
            <a:endParaRPr/>
          </a:p>
        </p:txBody>
      </p:sp>
      <p:sp>
        <p:nvSpPr>
          <p:cNvPr id="164" name="Google Shape;164;p17"/>
          <p:cNvSpPr txBox="1"/>
          <p:nvPr/>
        </p:nvSpPr>
        <p:spPr>
          <a:xfrm>
            <a:off x="6286500" y="2343150"/>
            <a:ext cx="5660707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B3B2B"/>
                </a:solidFill>
                <a:latin typeface="Prompt"/>
                <a:ea typeface="Prompt"/>
                <a:cs typeface="Prompt"/>
                <a:sym typeface="Prompt"/>
              </a:rPr>
              <a:t>พื้นที่ไม่ต่างกัน</a:t>
            </a:r>
            <a:endParaRPr/>
          </a:p>
        </p:txBody>
      </p:sp>
      <p:sp>
        <p:nvSpPr>
          <p:cNvPr id="165" name="Google Shape;165;p17"/>
          <p:cNvSpPr txBox="1"/>
          <p:nvPr/>
        </p:nvSpPr>
        <p:spPr>
          <a:xfrm>
            <a:off x="6286500" y="2867025"/>
            <a:ext cx="539115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A5568"/>
                </a:solidFill>
                <a:latin typeface="Prompt"/>
                <a:ea typeface="Prompt"/>
                <a:cs typeface="Prompt"/>
                <a:sym typeface="Prompt"/>
              </a:rPr>
              <a:t>ยอดขายโซน Top 5 กับ Bottom 5 ห่างกันเพียง 21.9% ลูกค้ากระจายทั่วกรุงเทพชั้นใน</a:t>
            </a:r>
            <a:endParaRPr/>
          </a:p>
        </p:txBody>
      </p:sp>
      <p:sp>
        <p:nvSpPr>
          <p:cNvPr id="166" name="Google Shape;166;p17"/>
          <p:cNvSpPr txBox="1"/>
          <p:nvPr/>
        </p:nvSpPr>
        <p:spPr>
          <a:xfrm>
            <a:off x="609600" y="4714875"/>
            <a:ext cx="5660707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B3B2B"/>
                </a:solidFill>
                <a:latin typeface="Prompt"/>
                <a:ea typeface="Prompt"/>
                <a:cs typeface="Prompt"/>
                <a:sym typeface="Prompt"/>
              </a:rPr>
              <a:t>สินค้าหลักขับเคลื่อนยอด</a:t>
            </a:r>
            <a:endParaRPr/>
          </a:p>
        </p:txBody>
      </p:sp>
      <p:sp>
        <p:nvSpPr>
          <p:cNvPr id="167" name="Google Shape;167;p17"/>
          <p:cNvSpPr txBox="1"/>
          <p:nvPr/>
        </p:nvSpPr>
        <p:spPr>
          <a:xfrm>
            <a:off x="609600" y="5238750"/>
            <a:ext cx="539115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A5568"/>
                </a:solidFill>
                <a:latin typeface="Prompt"/>
                <a:ea typeface="Prompt"/>
                <a:cs typeface="Prompt"/>
                <a:sym typeface="Prompt"/>
              </a:rPr>
              <a:t>บลูเบอร์รี่ ชีสมอสซาเรลลา และแอปเปิ้ล Fuji ครองสัดส่วนขายดีสูงสุด</a:t>
            </a:r>
            <a:endParaRPr/>
          </a:p>
        </p:txBody>
      </p:sp>
      <p:sp>
        <p:nvSpPr>
          <p:cNvPr id="168" name="Google Shape;168;p17"/>
          <p:cNvSpPr txBox="1"/>
          <p:nvPr/>
        </p:nvSpPr>
        <p:spPr>
          <a:xfrm>
            <a:off x="6286500" y="4714875"/>
            <a:ext cx="5660707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B3B2B"/>
                </a:solidFill>
                <a:latin typeface="Prompt"/>
                <a:ea typeface="Prompt"/>
                <a:cs typeface="Prompt"/>
                <a:sym typeface="Prompt"/>
              </a:rPr>
              <a:t>เติบโตก้าวกระโดด</a:t>
            </a:r>
            <a:endParaRPr/>
          </a:p>
        </p:txBody>
      </p:sp>
      <p:sp>
        <p:nvSpPr>
          <p:cNvPr id="169" name="Google Shape;169;p17"/>
          <p:cNvSpPr txBox="1"/>
          <p:nvPr/>
        </p:nvSpPr>
        <p:spPr>
          <a:xfrm>
            <a:off x="6286500" y="5238750"/>
            <a:ext cx="539115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A5568"/>
                </a:solidFill>
                <a:latin typeface="Prompt"/>
                <a:ea typeface="Prompt"/>
                <a:cs typeface="Prompt"/>
                <a:sym typeface="Prompt"/>
              </a:rPr>
              <a:t>ยอดขายโตต่อเนื่อง 801% จากเดือนแรกถึงเดือนที่หก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548640" y="1554480"/>
            <a:ext cx="544068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2700">
            <a:solidFill>
              <a:srgbClr val="DCE6DE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TH">
              <a:latin typeface="Kanit" pitchFamily="2" charset="-34"/>
              <a:cs typeface="Kanit" pitchFamily="2" charset="-34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868680" y="178308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E07A1F"/>
                </a:solidFill>
                <a:latin typeface="Kanit" pitchFamily="2" charset="-34"/>
                <a:ea typeface="Tahoma" pitchFamily="34" charset="-122"/>
                <a:cs typeface="Kanit" pitchFamily="2" charset="-34"/>
              </a:rPr>
              <a:t>+801%</a:t>
            </a:r>
            <a:endParaRPr lang="en-US" sz="3400" dirty="0">
              <a:latin typeface="Kanit" pitchFamily="2" charset="-34"/>
              <a:cs typeface="Kanit" pitchFamily="2" charset="-34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868680" y="25146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B4332"/>
                </a:solidFill>
                <a:latin typeface="Kanit" pitchFamily="2" charset="-34"/>
                <a:ea typeface="Tahoma" pitchFamily="34" charset="-122"/>
                <a:cs typeface="Kanit" pitchFamily="2" charset="-34"/>
              </a:rPr>
              <a:t>ยอดขายรายเดือนโตต่อเนื่อง</a:t>
            </a:r>
            <a:endParaRPr lang="en-US" sz="1600" dirty="0">
              <a:latin typeface="Kanit" pitchFamily="2" charset="-34"/>
              <a:cs typeface="Kanit" pitchFamily="2" charset="-34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868680" y="292608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62"/>
                </a:solidFill>
                <a:latin typeface="Kanit" pitchFamily="2" charset="-34"/>
                <a:ea typeface="Tahoma" pitchFamily="34" charset="-122"/>
                <a:cs typeface="Kanit" pitchFamily="2" charset="-34"/>
              </a:rPr>
              <a:t>34,391 ฿ (ม.ค.) → 309,813 ฿ (มิ.ย.) เร่งตัวชัดช่วง เม.ย.–มิ.ย.</a:t>
            </a:r>
            <a:endParaRPr lang="en-US" sz="1200" dirty="0">
              <a:latin typeface="Kanit" pitchFamily="2" charset="-34"/>
              <a:cs typeface="Kanit" pitchFamily="2" charset="-34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172200" y="1554480"/>
            <a:ext cx="544068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2700">
            <a:solidFill>
              <a:srgbClr val="DCE6DE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TH">
              <a:latin typeface="Kanit" pitchFamily="2" charset="-34"/>
              <a:cs typeface="Kanit" pitchFamily="2" charset="-34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6492240" y="178308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E07A1F"/>
                </a:solidFill>
                <a:latin typeface="Kanit" pitchFamily="2" charset="-34"/>
                <a:ea typeface="Tahoma" pitchFamily="34" charset="-122"/>
                <a:cs typeface="Kanit" pitchFamily="2" charset="-34"/>
              </a:rPr>
              <a:t>≈ 141 ฿</a:t>
            </a:r>
            <a:endParaRPr lang="en-US" sz="3400" dirty="0">
              <a:latin typeface="Kanit" pitchFamily="2" charset="-34"/>
              <a:cs typeface="Kanit" pitchFamily="2" charset="-34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6492240" y="25146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B4332"/>
                </a:solidFill>
                <a:latin typeface="Kanit" pitchFamily="2" charset="-34"/>
                <a:ea typeface="Tahoma" pitchFamily="34" charset="-122"/>
                <a:cs typeface="Kanit" pitchFamily="2" charset="-34"/>
              </a:rPr>
              <a:t>AOV ทุกช่องทางแทบเท่ากัน</a:t>
            </a:r>
            <a:endParaRPr lang="en-US" sz="1600" dirty="0">
              <a:latin typeface="Kanit" pitchFamily="2" charset="-34"/>
              <a:cs typeface="Kanit" pitchFamily="2" charset="-34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6492240" y="292608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62"/>
                </a:solidFill>
                <a:latin typeface="Kanit" pitchFamily="2" charset="-34"/>
                <a:ea typeface="Tahoma" pitchFamily="34" charset="-122"/>
                <a:cs typeface="Kanit" pitchFamily="2" charset="-34"/>
              </a:rPr>
              <a:t>140.7–141.3 ฿ ต่างกันไม่ถึง 1 บาท → ต้องดูที่ต้นทุนและปริมาณ ไม่ใช่ AOV</a:t>
            </a:r>
            <a:endParaRPr lang="en-US" sz="1200" dirty="0">
              <a:latin typeface="Kanit" pitchFamily="2" charset="-34"/>
              <a:cs typeface="Kanit" pitchFamily="2" charset="-34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48640" y="3886200"/>
            <a:ext cx="544068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2700">
            <a:solidFill>
              <a:srgbClr val="DCE6DE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TH">
              <a:latin typeface="Kanit" pitchFamily="2" charset="-34"/>
              <a:cs typeface="Kanit" pitchFamily="2" charset="-34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868680" y="411480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E07A1F"/>
                </a:solidFill>
                <a:latin typeface="Kanit" pitchFamily="2" charset="-34"/>
                <a:ea typeface="Tahoma" pitchFamily="34" charset="-122"/>
                <a:cs typeface="Kanit" pitchFamily="2" charset="-34"/>
              </a:rPr>
              <a:t>21.9%</a:t>
            </a:r>
            <a:endParaRPr lang="en-US" sz="3400" dirty="0">
              <a:latin typeface="Kanit" pitchFamily="2" charset="-34"/>
              <a:cs typeface="Kanit" pitchFamily="2" charset="-34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868680" y="48463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B4332"/>
                </a:solidFill>
                <a:latin typeface="Kanit" pitchFamily="2" charset="-34"/>
                <a:ea typeface="Tahoma" pitchFamily="34" charset="-122"/>
                <a:cs typeface="Kanit" pitchFamily="2" charset="-34"/>
              </a:rPr>
              <a:t>Top 5 vs Bottom 5 พื้นที่</a:t>
            </a:r>
            <a:endParaRPr lang="en-US" sz="1600" dirty="0">
              <a:latin typeface="Kanit" pitchFamily="2" charset="-34"/>
              <a:cs typeface="Kanit" pitchFamily="2" charset="-34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868680" y="525780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62"/>
                </a:solidFill>
                <a:latin typeface="Kanit" pitchFamily="2" charset="-34"/>
                <a:ea typeface="Tahoma" pitchFamily="34" charset="-122"/>
                <a:cs typeface="Kanit" pitchFamily="2" charset="-34"/>
              </a:rPr>
              <a:t>ส่วนต่าง 87,752 ฿ ไม่ห่างมาก ความต้องการกระจายทั่วกรุงเทพฯ ชั้นใน</a:t>
            </a:r>
            <a:endParaRPr lang="en-US" sz="1200" dirty="0">
              <a:latin typeface="Kanit" pitchFamily="2" charset="-34"/>
              <a:cs typeface="Kanit" pitchFamily="2" charset="-34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172200" y="3886200"/>
            <a:ext cx="544068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2700">
            <a:solidFill>
              <a:srgbClr val="DCE6DE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TH">
              <a:latin typeface="Kanit" pitchFamily="2" charset="-34"/>
              <a:cs typeface="Kanit" pitchFamily="2" charset="-34"/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6492240" y="411480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E07A1F"/>
                </a:solidFill>
                <a:latin typeface="Kanit" pitchFamily="2" charset="-34"/>
                <a:ea typeface="Tahoma" pitchFamily="34" charset="-122"/>
                <a:cs typeface="Kanit" pitchFamily="2" charset="-34"/>
              </a:rPr>
              <a:t>29.6%</a:t>
            </a:r>
            <a:endParaRPr lang="en-US" sz="3400" dirty="0">
              <a:latin typeface="Kanit" pitchFamily="2" charset="-34"/>
              <a:cs typeface="Kanit" pitchFamily="2" charset="-34"/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6492240" y="48463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B4332"/>
                </a:solidFill>
                <a:latin typeface="Kanit" pitchFamily="2" charset="-34"/>
                <a:ea typeface="Tahoma" pitchFamily="34" charset="-122"/>
                <a:cs typeface="Kanit" pitchFamily="2" charset="-34"/>
              </a:rPr>
              <a:t>Top 3 สินค้าทำเงิน</a:t>
            </a:r>
            <a:endParaRPr lang="en-US" sz="1600" dirty="0">
              <a:latin typeface="Kanit" pitchFamily="2" charset="-34"/>
              <a:cs typeface="Kanit" pitchFamily="2" charset="-34"/>
            </a:endParaRPr>
          </a:p>
        </p:txBody>
      </p:sp>
      <p:sp>
        <p:nvSpPr>
          <p:cNvPr id="19" name="Text 17"/>
          <p:cNvSpPr txBox="1"/>
          <p:nvPr/>
        </p:nvSpPr>
        <p:spPr>
          <a:xfrm>
            <a:off x="6492240" y="525780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62"/>
                </a:solidFill>
                <a:latin typeface="Kanit" pitchFamily="2" charset="-34"/>
                <a:ea typeface="Tahoma" pitchFamily="34" charset="-122"/>
                <a:cs typeface="Kanit" pitchFamily="2" charset="-34"/>
              </a:rPr>
              <a:t>บลูเบอร์รี่ • ชีสมอสซาเรลลา • แอปเปิ้ล Fuji ควรเป็นแกนของ bundle</a:t>
            </a:r>
            <a:endParaRPr lang="en-US" sz="1200" dirty="0">
              <a:latin typeface="Kanit" pitchFamily="2" charset="-34"/>
              <a:cs typeface="Kanit" pitchFamily="2" charset="-34"/>
            </a:endParaRPr>
          </a:p>
        </p:txBody>
      </p:sp>
      <p:sp>
        <p:nvSpPr>
          <p:cNvPr id="20" name="Google Shape;160;p17">
            <a:extLst>
              <a:ext uri="{FF2B5EF4-FFF2-40B4-BE49-F238E27FC236}">
                <a16:creationId xmlns:a16="http://schemas.microsoft.com/office/drawing/2014/main" id="{3A303C0E-694D-D1F5-6D60-E7865A0532B6}"/>
              </a:ext>
            </a:extLst>
          </p:cNvPr>
          <p:cNvSpPr txBox="1"/>
          <p:nvPr/>
        </p:nvSpPr>
        <p:spPr>
          <a:xfrm>
            <a:off x="609600" y="609600"/>
            <a:ext cx="1106805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0F172A"/>
                </a:solidFill>
                <a:latin typeface="Prompt"/>
                <a:ea typeface="Prompt"/>
                <a:cs typeface="Prompt"/>
                <a:sym typeface="Prompt"/>
              </a:rPr>
              <a:t>PHASE 1 • INSIGHTS</a:t>
            </a:r>
            <a:endParaRPr/>
          </a:p>
        </p:txBody>
      </p:sp>
      <p:sp>
        <p:nvSpPr>
          <p:cNvPr id="21" name="Google Shape;161;p17">
            <a:extLst>
              <a:ext uri="{FF2B5EF4-FFF2-40B4-BE49-F238E27FC236}">
                <a16:creationId xmlns:a16="http://schemas.microsoft.com/office/drawing/2014/main" id="{54C57D34-C0E3-BCD4-0D32-BB8FBD4C8E15}"/>
              </a:ext>
            </a:extLst>
          </p:cNvPr>
          <p:cNvSpPr txBox="1"/>
          <p:nvPr/>
        </p:nvSpPr>
        <p:spPr>
          <a:xfrm>
            <a:off x="609600" y="962025"/>
            <a:ext cx="11582400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B3B2B"/>
                </a:solidFill>
                <a:latin typeface="Prompt"/>
                <a:ea typeface="Prompt"/>
                <a:cs typeface="Prompt"/>
                <a:sym typeface="Prompt"/>
              </a:rPr>
              <a:t>ข้อมูลเชิงลึกจากภาพรวมตั้งต้น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5"/>
        </a:solidFill>
        <a:effectLst/>
      </p:bgPr>
    </p:bg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8"/>
          <p:cNvSpPr txBox="1"/>
          <p:nvPr/>
        </p:nvSpPr>
        <p:spPr>
          <a:xfrm>
            <a:off x="609600" y="1328737"/>
            <a:ext cx="4810125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0F172A"/>
                </a:solidFill>
                <a:latin typeface="Prompt"/>
                <a:ea typeface="Prompt"/>
                <a:cs typeface="Prompt"/>
                <a:sym typeface="Prompt"/>
              </a:rPr>
              <a:t>PHASE 2 • DIAGNOSTIC</a:t>
            </a:r>
            <a:endParaRPr/>
          </a:p>
        </p:txBody>
      </p:sp>
      <p:sp>
        <p:nvSpPr>
          <p:cNvPr id="185" name="Google Shape;185;p18"/>
          <p:cNvSpPr txBox="1"/>
          <p:nvPr/>
        </p:nvSpPr>
        <p:spPr>
          <a:xfrm>
            <a:off x="609600" y="1681162"/>
            <a:ext cx="5050631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 dirty="0">
                <a:solidFill>
                  <a:srgbClr val="1B3B2B"/>
                </a:solidFill>
                <a:latin typeface="Prompt"/>
                <a:ea typeface="Prompt"/>
                <a:cs typeface="Prompt"/>
                <a:sym typeface="Prompt"/>
              </a:rPr>
              <a:t>LINE</a:t>
            </a:r>
            <a:r>
              <a:rPr lang="th-TH" sz="3000" b="1" i="0" u="none" strike="noStrike" cap="none" dirty="0">
                <a:solidFill>
                  <a:srgbClr val="1B3B2B"/>
                </a:solidFill>
                <a:latin typeface="Prompt"/>
                <a:ea typeface="Prompt"/>
                <a:cs typeface="Prompt"/>
                <a:sym typeface="Prompt"/>
              </a:rPr>
              <a:t> </a:t>
            </a:r>
            <a:r>
              <a:rPr lang="en-US" sz="3000" b="1" i="0" u="none" strike="noStrike" cap="none" dirty="0">
                <a:solidFill>
                  <a:srgbClr val="1B3B2B"/>
                </a:solidFill>
                <a:latin typeface="Prompt"/>
                <a:ea typeface="Prompt"/>
                <a:cs typeface="Prompt"/>
                <a:sym typeface="Prompt"/>
              </a:rPr>
              <a:t>OA </a:t>
            </a:r>
            <a:r>
              <a:rPr lang="en-US" sz="3000" b="1" i="0" u="none" strike="noStrike" cap="none" dirty="0" err="1">
                <a:solidFill>
                  <a:srgbClr val="1B3B2B"/>
                </a:solidFill>
                <a:latin typeface="Prompt"/>
                <a:ea typeface="Prompt"/>
                <a:cs typeface="Prompt"/>
                <a:sym typeface="Prompt"/>
              </a:rPr>
              <a:t>คุ้มค่าที่สุดในการหาลูกค้าใหม่</a:t>
            </a:r>
            <a:endParaRPr dirty="0"/>
          </a:p>
        </p:txBody>
      </p:sp>
      <p:sp>
        <p:nvSpPr>
          <p:cNvPr id="186" name="Google Shape;186;p18"/>
          <p:cNvSpPr txBox="1"/>
          <p:nvPr/>
        </p:nvSpPr>
        <p:spPr>
          <a:xfrm>
            <a:off x="609600" y="2866692"/>
            <a:ext cx="481012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 err="1">
                <a:solidFill>
                  <a:srgbClr val="4A5568"/>
                </a:solidFill>
                <a:latin typeface="Prompt"/>
                <a:ea typeface="Prompt"/>
                <a:cs typeface="Prompt"/>
                <a:sym typeface="Prompt"/>
              </a:rPr>
              <a:t>ต้นทุนต่อลูกค้าใหม่</a:t>
            </a:r>
            <a:r>
              <a:rPr lang="en-US" sz="1350" b="0" i="0" u="none" strike="noStrike" cap="none" dirty="0">
                <a:solidFill>
                  <a:srgbClr val="4A5568"/>
                </a:solidFill>
                <a:latin typeface="Prompt"/>
                <a:ea typeface="Prompt"/>
                <a:cs typeface="Prompt"/>
                <a:sym typeface="Prompt"/>
              </a:rPr>
              <a:t> (CAC) </a:t>
            </a:r>
            <a:r>
              <a:rPr lang="en-US" sz="1350" b="0" i="0" u="none" strike="noStrike" cap="none" dirty="0" err="1">
                <a:solidFill>
                  <a:srgbClr val="4A5568"/>
                </a:solidFill>
                <a:latin typeface="Prompt"/>
                <a:ea typeface="Prompt"/>
                <a:cs typeface="Prompt"/>
                <a:sym typeface="Prompt"/>
              </a:rPr>
              <a:t>ของช่องทาง</a:t>
            </a:r>
            <a:r>
              <a:rPr lang="en-US" sz="1350" b="0" i="0" u="none" strike="noStrike" cap="none" dirty="0">
                <a:solidFill>
                  <a:srgbClr val="4A5568"/>
                </a:solidFill>
                <a:latin typeface="Prompt"/>
                <a:ea typeface="Prompt"/>
                <a:cs typeface="Prompt"/>
                <a:sym typeface="Prompt"/>
              </a:rPr>
              <a:t> LINE </a:t>
            </a:r>
            <a:r>
              <a:rPr lang="en-US" sz="1350" b="0" i="0" u="none" strike="noStrike" cap="none" dirty="0" err="1">
                <a:solidFill>
                  <a:srgbClr val="4A5568"/>
                </a:solidFill>
                <a:latin typeface="Prompt"/>
                <a:ea typeface="Prompt"/>
                <a:cs typeface="Prompt"/>
                <a:sym typeface="Prompt"/>
              </a:rPr>
              <a:t>ถูกกว่าช่องทางอื่นถึง</a:t>
            </a:r>
            <a:r>
              <a:rPr lang="en-US" sz="1350" b="0" i="0" u="none" strike="noStrike" cap="none" dirty="0">
                <a:solidFill>
                  <a:srgbClr val="4A5568"/>
                </a:solidFill>
                <a:latin typeface="Prompt"/>
                <a:ea typeface="Prompt"/>
                <a:cs typeface="Prompt"/>
                <a:sym typeface="Prompt"/>
              </a:rPr>
              <a:t> 4 </a:t>
            </a:r>
            <a:r>
              <a:rPr lang="en-US" sz="1350" b="0" i="0" u="none" strike="noStrike" cap="none" dirty="0" err="1">
                <a:solidFill>
                  <a:srgbClr val="4A5568"/>
                </a:solidFill>
                <a:latin typeface="Prompt"/>
                <a:ea typeface="Prompt"/>
                <a:cs typeface="Prompt"/>
                <a:sym typeface="Prompt"/>
              </a:rPr>
              <a:t>เท่า</a:t>
            </a:r>
            <a:endParaRPr dirty="0"/>
          </a:p>
        </p:txBody>
      </p:sp>
      <p:graphicFrame>
        <p:nvGraphicFramePr>
          <p:cNvPr id="2" name="Chart 0">
            <a:extLst>
              <a:ext uri="{FF2B5EF4-FFF2-40B4-BE49-F238E27FC236}">
                <a16:creationId xmlns:a16="http://schemas.microsoft.com/office/drawing/2014/main" id="{D4CFDA58-B01A-B894-96D5-6EA1EC366A6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6604525"/>
              </p:ext>
            </p:extLst>
          </p:nvPr>
        </p:nvGraphicFramePr>
        <p:xfrm>
          <a:off x="579120" y="3357562"/>
          <a:ext cx="5588556" cy="290607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" name="Shape 2">
            <a:extLst>
              <a:ext uri="{FF2B5EF4-FFF2-40B4-BE49-F238E27FC236}">
                <a16:creationId xmlns:a16="http://schemas.microsoft.com/office/drawing/2014/main" id="{A8CA362B-D20A-4046-B34C-D564506EA3B7}"/>
              </a:ext>
            </a:extLst>
          </p:cNvPr>
          <p:cNvSpPr/>
          <p:nvPr/>
        </p:nvSpPr>
        <p:spPr>
          <a:xfrm>
            <a:off x="6675120" y="1554480"/>
            <a:ext cx="493776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DCE6DE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TH">
              <a:latin typeface="Prompt" pitchFamily="2" charset="-34"/>
              <a:cs typeface="Prompt" pitchFamily="2" charset="-34"/>
            </a:endParaRPr>
          </a:p>
        </p:txBody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499AB82A-916F-8DB4-1ECC-E70589C7F5DA}"/>
              </a:ext>
            </a:extLst>
          </p:cNvPr>
          <p:cNvSpPr txBox="1"/>
          <p:nvPr/>
        </p:nvSpPr>
        <p:spPr>
          <a:xfrm>
            <a:off x="6949440" y="17373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B4332"/>
                </a:solidFill>
                <a:latin typeface="Prompt" pitchFamily="2" charset="-34"/>
                <a:ea typeface="Tahoma" pitchFamily="34" charset="-122"/>
                <a:cs typeface="Prompt" pitchFamily="2" charset="-34"/>
              </a:rPr>
              <a:t>LINE</a:t>
            </a:r>
            <a:endParaRPr lang="en-US" sz="1600" dirty="0">
              <a:latin typeface="Prompt" pitchFamily="2" charset="-34"/>
              <a:cs typeface="Prompt" pitchFamily="2" charset="-34"/>
            </a:endParaRPr>
          </a:p>
        </p:txBody>
      </p:sp>
      <p:sp>
        <p:nvSpPr>
          <p:cNvPr id="5" name="Text 4">
            <a:extLst>
              <a:ext uri="{FF2B5EF4-FFF2-40B4-BE49-F238E27FC236}">
                <a16:creationId xmlns:a16="http://schemas.microsoft.com/office/drawing/2014/main" id="{2CDF5A38-D7AC-EEB9-4519-F6DB5524316E}"/>
              </a:ext>
            </a:extLst>
          </p:cNvPr>
          <p:cNvSpPr txBox="1"/>
          <p:nvPr/>
        </p:nvSpPr>
        <p:spPr>
          <a:xfrm>
            <a:off x="6949440" y="233172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B62"/>
                </a:solidFill>
                <a:latin typeface="Prompt" pitchFamily="2" charset="-34"/>
                <a:ea typeface="Tahoma" pitchFamily="34" charset="-122"/>
                <a:cs typeface="Prompt" pitchFamily="2" charset="-34"/>
              </a:rPr>
              <a:t>งบ 276,278 ฿ → รายได้ 30 วันแรก 132,748 ฿</a:t>
            </a:r>
            <a:endParaRPr lang="en-US" sz="1100" dirty="0">
              <a:latin typeface="Prompt" pitchFamily="2" charset="-34"/>
              <a:cs typeface="Prompt" pitchFamily="2" charset="-34"/>
            </a:endParaRPr>
          </a:p>
        </p:txBody>
      </p:sp>
      <p:sp>
        <p:nvSpPr>
          <p:cNvPr id="6" name="Text 5">
            <a:extLst>
              <a:ext uri="{FF2B5EF4-FFF2-40B4-BE49-F238E27FC236}">
                <a16:creationId xmlns:a16="http://schemas.microsoft.com/office/drawing/2014/main" id="{AECCFC80-5E30-7286-14C5-49E11D4EA492}"/>
              </a:ext>
            </a:extLst>
          </p:cNvPr>
          <p:cNvSpPr txBox="1"/>
          <p:nvPr/>
        </p:nvSpPr>
        <p:spPr>
          <a:xfrm>
            <a:off x="8778240" y="16916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E07A1F"/>
                </a:solidFill>
                <a:latin typeface="Prompt" pitchFamily="2" charset="-34"/>
                <a:ea typeface="Tahoma" pitchFamily="34" charset="-122"/>
                <a:cs typeface="Prompt" pitchFamily="2" charset="-34"/>
              </a:rPr>
              <a:t>ROI 0.48</a:t>
            </a:r>
            <a:endParaRPr lang="en-US" sz="2600" dirty="0">
              <a:latin typeface="Prompt" pitchFamily="2" charset="-34"/>
              <a:cs typeface="Prompt" pitchFamily="2" charset="-34"/>
            </a:endParaRPr>
          </a:p>
        </p:txBody>
      </p:sp>
      <p:sp>
        <p:nvSpPr>
          <p:cNvPr id="7" name="Shape 6">
            <a:extLst>
              <a:ext uri="{FF2B5EF4-FFF2-40B4-BE49-F238E27FC236}">
                <a16:creationId xmlns:a16="http://schemas.microsoft.com/office/drawing/2014/main" id="{C65DA506-1701-4CA2-6A50-95BB00EE1935}"/>
              </a:ext>
            </a:extLst>
          </p:cNvPr>
          <p:cNvSpPr/>
          <p:nvPr/>
        </p:nvSpPr>
        <p:spPr>
          <a:xfrm>
            <a:off x="6675120" y="3063240"/>
            <a:ext cx="493776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DCE6DE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TH">
              <a:latin typeface="Prompt" pitchFamily="2" charset="-34"/>
              <a:cs typeface="Prompt" pitchFamily="2" charset="-34"/>
            </a:endParaRPr>
          </a:p>
        </p:txBody>
      </p:sp>
      <p:sp>
        <p:nvSpPr>
          <p:cNvPr id="8" name="Text 7">
            <a:extLst>
              <a:ext uri="{FF2B5EF4-FFF2-40B4-BE49-F238E27FC236}">
                <a16:creationId xmlns:a16="http://schemas.microsoft.com/office/drawing/2014/main" id="{02106525-620D-1EE3-B015-991C8DB5C388}"/>
              </a:ext>
            </a:extLst>
          </p:cNvPr>
          <p:cNvSpPr txBox="1"/>
          <p:nvPr/>
        </p:nvSpPr>
        <p:spPr>
          <a:xfrm>
            <a:off x="6949440" y="32461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B4332"/>
                </a:solidFill>
                <a:latin typeface="Prompt" pitchFamily="2" charset="-34"/>
                <a:ea typeface="Tahoma" pitchFamily="34" charset="-122"/>
                <a:cs typeface="Prompt" pitchFamily="2" charset="-34"/>
              </a:rPr>
              <a:t>Google</a:t>
            </a:r>
            <a:endParaRPr lang="en-US" sz="1600" dirty="0">
              <a:latin typeface="Prompt" pitchFamily="2" charset="-34"/>
              <a:cs typeface="Prompt" pitchFamily="2" charset="-34"/>
            </a:endParaRPr>
          </a:p>
        </p:txBody>
      </p:sp>
      <p:sp>
        <p:nvSpPr>
          <p:cNvPr id="9" name="Text 8">
            <a:extLst>
              <a:ext uri="{FF2B5EF4-FFF2-40B4-BE49-F238E27FC236}">
                <a16:creationId xmlns:a16="http://schemas.microsoft.com/office/drawing/2014/main" id="{3A6137D4-F113-413E-D183-D9BA1E69ED20}"/>
              </a:ext>
            </a:extLst>
          </p:cNvPr>
          <p:cNvSpPr txBox="1"/>
          <p:nvPr/>
        </p:nvSpPr>
        <p:spPr>
          <a:xfrm>
            <a:off x="6949440" y="38404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B62"/>
                </a:solidFill>
                <a:latin typeface="Prompt" pitchFamily="2" charset="-34"/>
                <a:ea typeface="Tahoma" pitchFamily="34" charset="-122"/>
                <a:cs typeface="Prompt" pitchFamily="2" charset="-34"/>
              </a:rPr>
              <a:t>งบ 808,189 ฿ → รายได้ 114,915 ฿</a:t>
            </a:r>
            <a:endParaRPr lang="en-US" sz="1100" dirty="0">
              <a:latin typeface="Prompt" pitchFamily="2" charset="-34"/>
              <a:cs typeface="Prompt" pitchFamily="2" charset="-34"/>
            </a:endParaRPr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5FB529D0-561E-6D68-E05C-6BDC2FEFE0BC}"/>
              </a:ext>
            </a:extLst>
          </p:cNvPr>
          <p:cNvSpPr txBox="1"/>
          <p:nvPr/>
        </p:nvSpPr>
        <p:spPr>
          <a:xfrm>
            <a:off x="8778240" y="32004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2D6A4F"/>
                </a:solidFill>
                <a:latin typeface="Prompt" pitchFamily="2" charset="-34"/>
                <a:ea typeface="Tahoma" pitchFamily="34" charset="-122"/>
                <a:cs typeface="Prompt" pitchFamily="2" charset="-34"/>
              </a:rPr>
              <a:t>ROI 0.14</a:t>
            </a:r>
            <a:endParaRPr lang="en-US" sz="2600" dirty="0">
              <a:latin typeface="Prompt" pitchFamily="2" charset="-34"/>
              <a:cs typeface="Prompt" pitchFamily="2" charset="-34"/>
            </a:endParaRPr>
          </a:p>
        </p:txBody>
      </p:sp>
      <p:sp>
        <p:nvSpPr>
          <p:cNvPr id="11" name="Shape 10">
            <a:extLst>
              <a:ext uri="{FF2B5EF4-FFF2-40B4-BE49-F238E27FC236}">
                <a16:creationId xmlns:a16="http://schemas.microsoft.com/office/drawing/2014/main" id="{A47E0A7E-6B20-105D-9B50-6EC8A1BF39A2}"/>
              </a:ext>
            </a:extLst>
          </p:cNvPr>
          <p:cNvSpPr/>
          <p:nvPr/>
        </p:nvSpPr>
        <p:spPr>
          <a:xfrm>
            <a:off x="6675120" y="4572000"/>
            <a:ext cx="493776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DCE6DE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TH">
              <a:latin typeface="Prompt" pitchFamily="2" charset="-34"/>
              <a:cs typeface="Prompt" pitchFamily="2" charset="-34"/>
            </a:endParaRPr>
          </a:p>
        </p:txBody>
      </p:sp>
      <p:sp>
        <p:nvSpPr>
          <p:cNvPr id="12" name="Text 11">
            <a:extLst>
              <a:ext uri="{FF2B5EF4-FFF2-40B4-BE49-F238E27FC236}">
                <a16:creationId xmlns:a16="http://schemas.microsoft.com/office/drawing/2014/main" id="{CC10E6F8-4CA0-EC16-BB8E-2E653DAB8D92}"/>
              </a:ext>
            </a:extLst>
          </p:cNvPr>
          <p:cNvSpPr txBox="1"/>
          <p:nvPr/>
        </p:nvSpPr>
        <p:spPr>
          <a:xfrm>
            <a:off x="6949440" y="47548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B4332"/>
                </a:solidFill>
                <a:latin typeface="Prompt" pitchFamily="2" charset="-34"/>
                <a:ea typeface="Tahoma" pitchFamily="34" charset="-122"/>
                <a:cs typeface="Prompt" pitchFamily="2" charset="-34"/>
              </a:rPr>
              <a:t>Facebook</a:t>
            </a:r>
            <a:endParaRPr lang="en-US" sz="1600" dirty="0">
              <a:latin typeface="Prompt" pitchFamily="2" charset="-34"/>
              <a:cs typeface="Prompt" pitchFamily="2" charset="-34"/>
            </a:endParaRPr>
          </a:p>
        </p:txBody>
      </p:sp>
      <p:sp>
        <p:nvSpPr>
          <p:cNvPr id="13" name="Text 12">
            <a:extLst>
              <a:ext uri="{FF2B5EF4-FFF2-40B4-BE49-F238E27FC236}">
                <a16:creationId xmlns:a16="http://schemas.microsoft.com/office/drawing/2014/main" id="{D9E57957-3FA0-45B8-93F9-FB492C3BE047}"/>
              </a:ext>
            </a:extLst>
          </p:cNvPr>
          <p:cNvSpPr txBox="1"/>
          <p:nvPr/>
        </p:nvSpPr>
        <p:spPr>
          <a:xfrm>
            <a:off x="6949440" y="534924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B62"/>
                </a:solidFill>
                <a:latin typeface="Prompt" pitchFamily="2" charset="-34"/>
                <a:ea typeface="Tahoma" pitchFamily="34" charset="-122"/>
                <a:cs typeface="Prompt" pitchFamily="2" charset="-34"/>
              </a:rPr>
              <a:t>งบ 561,825 ฿ → รายได้ 77,787 ฿</a:t>
            </a:r>
            <a:endParaRPr lang="en-US" sz="1100" dirty="0">
              <a:latin typeface="Prompt" pitchFamily="2" charset="-34"/>
              <a:cs typeface="Prompt" pitchFamily="2" charset="-34"/>
            </a:endParaRPr>
          </a:p>
        </p:txBody>
      </p:sp>
      <p:sp>
        <p:nvSpPr>
          <p:cNvPr id="14" name="Text 13">
            <a:extLst>
              <a:ext uri="{FF2B5EF4-FFF2-40B4-BE49-F238E27FC236}">
                <a16:creationId xmlns:a16="http://schemas.microsoft.com/office/drawing/2014/main" id="{55FAAA5A-168C-CA44-A366-9416EF36CA34}"/>
              </a:ext>
            </a:extLst>
          </p:cNvPr>
          <p:cNvSpPr txBox="1"/>
          <p:nvPr/>
        </p:nvSpPr>
        <p:spPr>
          <a:xfrm>
            <a:off x="8778240" y="470916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2D6A4F"/>
                </a:solidFill>
                <a:latin typeface="Prompt" pitchFamily="2" charset="-34"/>
                <a:ea typeface="Tahoma" pitchFamily="34" charset="-122"/>
                <a:cs typeface="Prompt" pitchFamily="2" charset="-34"/>
              </a:rPr>
              <a:t>ROI 0.14</a:t>
            </a:r>
            <a:endParaRPr lang="en-US" sz="2600" dirty="0">
              <a:latin typeface="Prompt" pitchFamily="2" charset="-34"/>
              <a:cs typeface="Prompt" pitchFamily="2" charset="-3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9"/>
          <p:cNvSpPr/>
          <p:nvPr/>
        </p:nvSpPr>
        <p:spPr>
          <a:xfrm>
            <a:off x="609600" y="2152650"/>
            <a:ext cx="5295900" cy="4095750"/>
          </a:xfrm>
          <a:prstGeom prst="rect">
            <a:avLst/>
          </a:prstGeom>
          <a:solidFill>
            <a:srgbClr val="F8FAF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9"/>
          <p:cNvSpPr/>
          <p:nvPr/>
        </p:nvSpPr>
        <p:spPr>
          <a:xfrm>
            <a:off x="6286500" y="2152650"/>
            <a:ext cx="5295900" cy="4095750"/>
          </a:xfrm>
          <a:prstGeom prst="rect">
            <a:avLst/>
          </a:prstGeom>
          <a:solidFill>
            <a:srgbClr val="1B3B2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9"/>
          <p:cNvSpPr txBox="1"/>
          <p:nvPr/>
        </p:nvSpPr>
        <p:spPr>
          <a:xfrm>
            <a:off x="609600" y="609600"/>
            <a:ext cx="1106805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0F172A"/>
                </a:solidFill>
                <a:latin typeface="Prompt"/>
                <a:ea typeface="Prompt"/>
                <a:cs typeface="Prompt"/>
                <a:sym typeface="Prompt"/>
              </a:rPr>
              <a:t>PHASE 2 • DIAGNOSTIC</a:t>
            </a:r>
            <a:endParaRPr/>
          </a:p>
        </p:txBody>
      </p:sp>
      <p:sp>
        <p:nvSpPr>
          <p:cNvPr id="207" name="Google Shape;207;p19"/>
          <p:cNvSpPr txBox="1"/>
          <p:nvPr/>
        </p:nvSpPr>
        <p:spPr>
          <a:xfrm>
            <a:off x="609600" y="962025"/>
            <a:ext cx="11582400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 dirty="0" err="1">
                <a:solidFill>
                  <a:srgbClr val="1B3B2B"/>
                </a:solidFill>
                <a:latin typeface="Prompt"/>
                <a:ea typeface="Prompt"/>
                <a:cs typeface="Prompt"/>
                <a:sym typeface="Prompt"/>
              </a:rPr>
              <a:t>อัตราซื้อซ้ำจริงสูงกว่าที่คาดการณ์</a:t>
            </a:r>
            <a:endParaRPr dirty="0"/>
          </a:p>
        </p:txBody>
      </p:sp>
      <p:sp>
        <p:nvSpPr>
          <p:cNvPr id="208" name="Google Shape;208;p19"/>
          <p:cNvSpPr txBox="1"/>
          <p:nvPr/>
        </p:nvSpPr>
        <p:spPr>
          <a:xfrm>
            <a:off x="2114550" y="3276600"/>
            <a:ext cx="22860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A5568"/>
                </a:solidFill>
                <a:latin typeface="Prompt"/>
                <a:ea typeface="Prompt"/>
                <a:cs typeface="Prompt"/>
                <a:sym typeface="Prompt"/>
              </a:rPr>
              <a:t>เป้าหมายตั้งต้นในโจทย์</a:t>
            </a:r>
            <a:endParaRPr/>
          </a:p>
        </p:txBody>
      </p:sp>
      <p:sp>
        <p:nvSpPr>
          <p:cNvPr id="209" name="Google Shape;209;p19"/>
          <p:cNvSpPr txBox="1"/>
          <p:nvPr/>
        </p:nvSpPr>
        <p:spPr>
          <a:xfrm>
            <a:off x="1870471" y="3714750"/>
            <a:ext cx="2774156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32%</a:t>
            </a:r>
            <a:endParaRPr/>
          </a:p>
        </p:txBody>
      </p:sp>
      <p:sp>
        <p:nvSpPr>
          <p:cNvPr id="210" name="Google Shape;210;p19"/>
          <p:cNvSpPr txBox="1"/>
          <p:nvPr/>
        </p:nvSpPr>
        <p:spPr>
          <a:xfrm>
            <a:off x="1513284" y="4895850"/>
            <a:ext cx="3488531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A5568"/>
                </a:solidFill>
                <a:latin typeface="Prompt"/>
                <a:ea typeface="Prompt"/>
                <a:cs typeface="Prompt"/>
                <a:sym typeface="Prompt"/>
              </a:rPr>
              <a:t>นับเฉพาะการซื้อซ้ำภายในเดือนแรกหลังสมัคร</a:t>
            </a:r>
            <a:endParaRPr/>
          </a:p>
        </p:txBody>
      </p:sp>
      <p:sp>
        <p:nvSpPr>
          <p:cNvPr id="211" name="Google Shape;211;p19"/>
          <p:cNvSpPr txBox="1"/>
          <p:nvPr/>
        </p:nvSpPr>
        <p:spPr>
          <a:xfrm>
            <a:off x="8106965" y="3276600"/>
            <a:ext cx="1654968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A7C4B5"/>
                </a:solidFill>
                <a:latin typeface="Prompt"/>
                <a:ea typeface="Prompt"/>
                <a:cs typeface="Prompt"/>
                <a:sym typeface="Prompt"/>
              </a:rPr>
              <a:t>ข้อมูลการซื้อจริง</a:t>
            </a:r>
            <a:endParaRPr/>
          </a:p>
        </p:txBody>
      </p:sp>
      <p:sp>
        <p:nvSpPr>
          <p:cNvPr id="212" name="Google Shape;212;p19"/>
          <p:cNvSpPr txBox="1"/>
          <p:nvPr/>
        </p:nvSpPr>
        <p:spPr>
          <a:xfrm>
            <a:off x="7178278" y="3714750"/>
            <a:ext cx="3512343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78.1%</a:t>
            </a:r>
            <a:endParaRPr/>
          </a:p>
        </p:txBody>
      </p:sp>
      <p:sp>
        <p:nvSpPr>
          <p:cNvPr id="213" name="Google Shape;213;p19"/>
          <p:cNvSpPr txBox="1"/>
          <p:nvPr/>
        </p:nvSpPr>
        <p:spPr>
          <a:xfrm>
            <a:off x="6946106" y="4895850"/>
            <a:ext cx="3976687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A7C4B5"/>
                </a:solidFill>
                <a:latin typeface="Prompt"/>
                <a:ea typeface="Prompt"/>
                <a:cs typeface="Prompt"/>
                <a:sym typeface="Prompt"/>
              </a:rPr>
              <a:t>ลูกค้า 1,702 จาก 2,180 คน ซื้อตั้งแต่ 2 ครั้งขึ้นไป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548640" y="1554480"/>
            <a:ext cx="356616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CE6DE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TH">
              <a:latin typeface="Kanit" pitchFamily="2" charset="-34"/>
              <a:cs typeface="Kanit" pitchFamily="2" charset="-34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822960" y="173736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rgbClr val="5B6B62"/>
                </a:solidFill>
                <a:latin typeface="Kanit" pitchFamily="2" charset="-34"/>
                <a:ea typeface="Tahoma" pitchFamily="34" charset="-122"/>
                <a:cs typeface="Kanit" pitchFamily="2" charset="-34"/>
              </a:rPr>
              <a:t>32%</a:t>
            </a:r>
            <a:endParaRPr lang="en-US" sz="4400" dirty="0">
              <a:latin typeface="Kanit" pitchFamily="2" charset="-34"/>
              <a:cs typeface="Kanit" pitchFamily="2" charset="-34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822960" y="269748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62"/>
                </a:solidFill>
                <a:latin typeface="Kanit" pitchFamily="2" charset="-34"/>
                <a:ea typeface="Tahoma" pitchFamily="34" charset="-122"/>
                <a:cs typeface="Kanit" pitchFamily="2" charset="-34"/>
              </a:rPr>
              <a:t>ตัวเลขในโจทย์ (น่าจะวัดเฉพาะเดือนแรกหลังสมัคร)</a:t>
            </a:r>
            <a:endParaRPr lang="en-US" sz="1200" dirty="0">
              <a:latin typeface="Kanit" pitchFamily="2" charset="-34"/>
              <a:cs typeface="Kanit" pitchFamily="2" charset="-34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297680" y="1554480"/>
            <a:ext cx="3566160" cy="2011680"/>
          </a:xfrm>
          <a:prstGeom prst="roundRect">
            <a:avLst>
              <a:gd name="adj" fmla="val 5455"/>
            </a:avLst>
          </a:prstGeom>
          <a:solidFill>
            <a:srgbClr val="1B4332"/>
          </a:solidFill>
          <a:ln w="12700">
            <a:solidFill>
              <a:srgbClr val="DCE6DE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TH">
              <a:latin typeface="Kanit" pitchFamily="2" charset="-34"/>
              <a:cs typeface="Kanit" pitchFamily="2" charset="-34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4572000" y="173736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Kanit" pitchFamily="2" charset="-34"/>
                <a:ea typeface="Tahoma" pitchFamily="34" charset="-122"/>
                <a:cs typeface="Kanit" pitchFamily="2" charset="-34"/>
              </a:rPr>
              <a:t>78.1%</a:t>
            </a:r>
            <a:endParaRPr lang="en-US" sz="4400" dirty="0">
              <a:latin typeface="Kanit" pitchFamily="2" charset="-34"/>
              <a:cs typeface="Kanit" pitchFamily="2" charset="-34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4572000" y="269748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D8E9DC"/>
                </a:solidFill>
                <a:latin typeface="Kanit" pitchFamily="2" charset="-34"/>
                <a:ea typeface="Tahoma" pitchFamily="34" charset="-122"/>
                <a:cs typeface="Kanit" pitchFamily="2" charset="-34"/>
              </a:rPr>
              <a:t>คำนวณจากข้อมูลจริง: 1,702 จาก 2,180 คนซื้อ ≥ 2 ครั้ง</a:t>
            </a:r>
            <a:endParaRPr lang="en-US" sz="1200" dirty="0">
              <a:latin typeface="Kanit" pitchFamily="2" charset="-34"/>
              <a:cs typeface="Kanit" pitchFamily="2" charset="-34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48640" y="3794760"/>
            <a:ext cx="731520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CE6DE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TH">
              <a:latin typeface="Kanit" pitchFamily="2" charset="-34"/>
              <a:cs typeface="Kanit" pitchFamily="2" charset="-34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822960" y="4023360"/>
            <a:ext cx="6766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A24"/>
                </a:solidFill>
                <a:latin typeface="Kanit" pitchFamily="2" charset="-34"/>
                <a:ea typeface="Tahoma" pitchFamily="34" charset="-122"/>
                <a:cs typeface="Kanit" pitchFamily="2" charset="-34"/>
              </a:rPr>
              <a:t>Cohort ม.ค. M1 retention 34.4% vs พ.ค. 70.5% </a:t>
            </a:r>
            <a:endParaRPr lang="th-TH" sz="1400" dirty="0">
              <a:solidFill>
                <a:srgbClr val="1F2A24"/>
              </a:solidFill>
              <a:latin typeface="Kanit" pitchFamily="2" charset="-34"/>
              <a:ea typeface="Tahoma" pitchFamily="34" charset="-122"/>
              <a:cs typeface="Kanit" pitchFamily="2" charset="-34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A24"/>
                </a:solidFill>
                <a:latin typeface="Kanit" pitchFamily="2" charset="-34"/>
                <a:ea typeface="Tahoma" pitchFamily="34" charset="-122"/>
                <a:cs typeface="Kanit" pitchFamily="2" charset="-34"/>
              </a:rPr>
              <a:t>Drop-off หนักช่วง 7–14 วันแรก เพราะยังไม่มี onboarding</a:t>
            </a:r>
            <a:endParaRPr lang="en-US" sz="1400" dirty="0">
              <a:latin typeface="Kanit" pitchFamily="2" charset="-34"/>
              <a:cs typeface="Kanit" pitchFamily="2" charset="-34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A24"/>
                </a:solidFill>
                <a:latin typeface="Kanit" pitchFamily="2" charset="-34"/>
                <a:ea typeface="Tahoma" pitchFamily="34" charset="-122"/>
                <a:cs typeface="Kanit" pitchFamily="2" charset="-34"/>
              </a:rPr>
              <a:t>กลุ่ม Lost สูง 28.7% ของฐานลูกค้า</a:t>
            </a:r>
            <a:endParaRPr lang="en-US" sz="1400" dirty="0">
              <a:latin typeface="Kanit" pitchFamily="2" charset="-34"/>
              <a:cs typeface="Kanit" pitchFamily="2" charset="-34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E07A1F"/>
                </a:solidFill>
                <a:latin typeface="Kanit" pitchFamily="2" charset="-34"/>
                <a:ea typeface="Tahoma" pitchFamily="34" charset="-122"/>
                <a:cs typeface="Kanit" pitchFamily="2" charset="-34"/>
              </a:rPr>
              <a:t>ต้อง align นิยาม repeat กับ CMO ก่อนตั้ง KPI</a:t>
            </a:r>
            <a:endParaRPr lang="en-US" sz="1400" dirty="0">
              <a:latin typeface="Kanit" pitchFamily="2" charset="-34"/>
              <a:cs typeface="Kanit" pitchFamily="2" charset="-34"/>
            </a:endParaRPr>
          </a:p>
        </p:txBody>
      </p:sp>
      <p:graphicFrame>
        <p:nvGraphicFramePr>
          <p:cNvPr id="12" name="Chart 0"/>
          <p:cNvGraphicFramePr/>
          <p:nvPr/>
        </p:nvGraphicFramePr>
        <p:xfrm>
          <a:off x="8138160" y="1554480"/>
          <a:ext cx="3474720" cy="4617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3" name="Google Shape;206;p19">
            <a:extLst>
              <a:ext uri="{FF2B5EF4-FFF2-40B4-BE49-F238E27FC236}">
                <a16:creationId xmlns:a16="http://schemas.microsoft.com/office/drawing/2014/main" id="{77D5999B-0D7E-2CE8-31D7-7ED7E85178F0}"/>
              </a:ext>
            </a:extLst>
          </p:cNvPr>
          <p:cNvSpPr txBox="1"/>
          <p:nvPr/>
        </p:nvSpPr>
        <p:spPr>
          <a:xfrm>
            <a:off x="609600" y="609600"/>
            <a:ext cx="1106805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0F172A"/>
                </a:solidFill>
                <a:latin typeface="Prompt"/>
                <a:ea typeface="Prompt"/>
                <a:cs typeface="Prompt"/>
                <a:sym typeface="Prompt"/>
              </a:rPr>
              <a:t>PHASE 2 • DIAGNOSTIC</a:t>
            </a:r>
            <a:endParaRPr/>
          </a:p>
        </p:txBody>
      </p:sp>
      <p:sp>
        <p:nvSpPr>
          <p:cNvPr id="14" name="Google Shape;207;p19">
            <a:extLst>
              <a:ext uri="{FF2B5EF4-FFF2-40B4-BE49-F238E27FC236}">
                <a16:creationId xmlns:a16="http://schemas.microsoft.com/office/drawing/2014/main" id="{45CD88D9-D17D-350F-13D3-E80EED79CB78}"/>
              </a:ext>
            </a:extLst>
          </p:cNvPr>
          <p:cNvSpPr txBox="1"/>
          <p:nvPr/>
        </p:nvSpPr>
        <p:spPr>
          <a:xfrm>
            <a:off x="609600" y="962025"/>
            <a:ext cx="11582400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 dirty="0" err="1">
                <a:solidFill>
                  <a:srgbClr val="1B3B2B"/>
                </a:solidFill>
                <a:latin typeface="Prompt"/>
                <a:ea typeface="Prompt"/>
                <a:cs typeface="Prompt"/>
                <a:sym typeface="Prompt"/>
              </a:rPr>
              <a:t>อัตราซื้อซ้ำจริงสูงกว่าที่คาดการณ์</a:t>
            </a:r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07A1F"/>
                </a:solidFill>
                <a:latin typeface="Prompt" pitchFamily="2" charset="-34"/>
                <a:ea typeface="Tahoma" pitchFamily="34" charset="-122"/>
                <a:cs typeface="Prompt" pitchFamily="2" charset="-34"/>
              </a:rPr>
              <a:t>PHASE 2 • DIAGNOSTIC</a:t>
            </a:r>
            <a:endParaRPr lang="en-US" sz="1200" dirty="0">
              <a:latin typeface="Prompt" pitchFamily="2" charset="-34"/>
              <a:cs typeface="Prompt" pitchFamily="2" charset="-34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B4332"/>
                </a:solidFill>
                <a:latin typeface="Prompt" pitchFamily="2" charset="-34"/>
                <a:ea typeface="Tahoma" pitchFamily="34" charset="-122"/>
                <a:cs typeface="Prompt" pitchFamily="2" charset="-34"/>
              </a:rPr>
              <a:t>โซนไกลแทบไม่เหลือกำไร + ลูกค้าซื้อข้ามหมวด</a:t>
            </a:r>
            <a:endParaRPr lang="en-US" sz="2800" dirty="0">
              <a:latin typeface="Prompt" pitchFamily="2" charset="-34"/>
              <a:cs typeface="Prompt" pitchFamily="2" charset="-34"/>
            </a:endParaRPr>
          </a:p>
        </p:txBody>
      </p:sp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3089750497"/>
              </p:ext>
            </p:extLst>
          </p:nvPr>
        </p:nvGraphicFramePr>
        <p:xfrm>
          <a:off x="548640" y="1554480"/>
          <a:ext cx="630936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132320" y="1554480"/>
            <a:ext cx="4480560" cy="448056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2700">
            <a:solidFill>
              <a:srgbClr val="DCE6DE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6" name="Text 3"/>
          <p:cNvSpPr txBox="1"/>
          <p:nvPr/>
        </p:nvSpPr>
        <p:spPr>
          <a:xfrm>
            <a:off x="7406640" y="17373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B4332"/>
                </a:solidFill>
                <a:latin typeface="Prompt" pitchFamily="2" charset="-34"/>
                <a:ea typeface="Tahoma" pitchFamily="34" charset="-122"/>
                <a:cs typeface="Prompt" pitchFamily="2" charset="-34"/>
              </a:rPr>
              <a:t>Basket Analysis</a:t>
            </a:r>
            <a:endParaRPr lang="en-US" sz="1700" dirty="0">
              <a:latin typeface="Prompt" pitchFamily="2" charset="-34"/>
              <a:cs typeface="Prompt" pitchFamily="2" charset="-34"/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7406640" y="224028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62"/>
                </a:solidFill>
                <a:latin typeface="Prompt" pitchFamily="2" charset="-34"/>
                <a:ea typeface="Tahoma" pitchFamily="34" charset="-122"/>
                <a:cs typeface="Prompt" pitchFamily="2" charset="-34"/>
              </a:rPr>
              <a:t>ซื้อวันเดียวกัน ≥ 2 ชิ้น: 2.3% (168 / 7,382 บิล) → สัญญาณเบาบาง</a:t>
            </a:r>
            <a:endParaRPr lang="en-US" sz="1200" dirty="0">
              <a:latin typeface="Prompt" pitchFamily="2" charset="-34"/>
              <a:cs typeface="Prompt" pitchFamily="2" charset="-34"/>
            </a:endParaRPr>
          </a:p>
        </p:txBody>
      </p:sp>
      <p:sp>
        <p:nvSpPr>
          <p:cNvPr id="8" name="Text 5"/>
          <p:cNvSpPr txBox="1"/>
          <p:nvPr/>
        </p:nvSpPr>
        <p:spPr>
          <a:xfrm>
            <a:off x="7406640" y="3063240"/>
            <a:ext cx="3931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B4332"/>
                </a:solidFill>
                <a:latin typeface="Prompt" pitchFamily="2" charset="-34"/>
                <a:ea typeface="Tahoma" pitchFamily="34" charset="-122"/>
                <a:cs typeface="Prompt" pitchFamily="2" charset="-34"/>
              </a:rPr>
              <a:t>Top คู่สินค้าระดับลูกค้า (ซื้อภายใน 6 เดือน)</a:t>
            </a:r>
            <a:endParaRPr lang="en-US" sz="1300" dirty="0">
              <a:latin typeface="Prompt" pitchFamily="2" charset="-34"/>
              <a:cs typeface="Prompt" pitchFamily="2" charset="-34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A24"/>
                </a:solidFill>
                <a:latin typeface="Prompt" pitchFamily="2" charset="-34"/>
                <a:ea typeface="Tahoma" pitchFamily="34" charset="-122"/>
                <a:cs typeface="Prompt" pitchFamily="2" charset="-34"/>
              </a:rPr>
              <a:t>มอสซาเรลลา + ตะไคร้ (59)</a:t>
            </a:r>
            <a:endParaRPr lang="en-US" sz="1300" dirty="0">
              <a:latin typeface="Prompt" pitchFamily="2" charset="-34"/>
              <a:cs typeface="Prompt" pitchFamily="2" charset="-34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A24"/>
                </a:solidFill>
                <a:latin typeface="Prompt" pitchFamily="2" charset="-34"/>
                <a:ea typeface="Tahoma" pitchFamily="34" charset="-122"/>
                <a:cs typeface="Prompt" pitchFamily="2" charset="-34"/>
              </a:rPr>
              <a:t>แอปเปิ้ล + มอสซาเรลลา (58)</a:t>
            </a:r>
            <a:endParaRPr lang="en-US" sz="1300" dirty="0">
              <a:latin typeface="Prompt" pitchFamily="2" charset="-34"/>
              <a:cs typeface="Prompt" pitchFamily="2" charset="-34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A24"/>
                </a:solidFill>
                <a:latin typeface="Prompt" pitchFamily="2" charset="-34"/>
                <a:ea typeface="Tahoma" pitchFamily="34" charset="-122"/>
                <a:cs typeface="Prompt" pitchFamily="2" charset="-34"/>
              </a:rPr>
              <a:t>กล้วยหอม + ใบมะกรูด (58)</a:t>
            </a:r>
            <a:endParaRPr lang="en-US" sz="1300" dirty="0">
              <a:latin typeface="Prompt" pitchFamily="2" charset="-34"/>
              <a:cs typeface="Prompt" pitchFamily="2" charset="-34"/>
            </a:endParaRPr>
          </a:p>
        </p:txBody>
      </p:sp>
      <p:sp>
        <p:nvSpPr>
          <p:cNvPr id="9" name="Text 6"/>
          <p:cNvSpPr txBox="1"/>
          <p:nvPr/>
        </p:nvSpPr>
        <p:spPr>
          <a:xfrm>
            <a:off x="7406640" y="493776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E07A1F"/>
                </a:solidFill>
                <a:latin typeface="Prompt" pitchFamily="2" charset="-34"/>
                <a:ea typeface="Tahoma" pitchFamily="34" charset="-122"/>
                <a:cs typeface="Prompt" pitchFamily="2" charset="-34"/>
              </a:rPr>
              <a:t>→ Bundle ควรผสมข้ามหมวด (ของสด + เครื่องปรุง)</a:t>
            </a:r>
            <a:endParaRPr lang="en-US" sz="1400" dirty="0">
              <a:latin typeface="Prompt" pitchFamily="2" charset="-34"/>
              <a:cs typeface="Prompt" pitchFamily="2" charset="-34"/>
            </a:endParaRPr>
          </a:p>
        </p:txBody>
      </p:sp>
      <p:sp>
        <p:nvSpPr>
          <p:cNvPr id="10" name="Text 7"/>
          <p:cNvSpPr txBox="1"/>
          <p:nvPr/>
        </p:nvSpPr>
        <p:spPr>
          <a:xfrm>
            <a:off x="548640" y="62636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B62"/>
                </a:solidFill>
                <a:latin typeface="Prompt" pitchFamily="2" charset="-34"/>
                <a:ea typeface="Tahoma" pitchFamily="34" charset="-122"/>
                <a:cs typeface="Prompt" pitchFamily="2" charset="-34"/>
              </a:rPr>
              <a:t>สมมติ COGS 55% • ค่าส่ง 40 ฿ (ใกล้) / 60 ฿ (ไกล) คิดเป็น 42.6% ของ AOV</a:t>
            </a:r>
            <a:endParaRPr lang="en-US" sz="1100" dirty="0">
              <a:latin typeface="Prompt" pitchFamily="2" charset="-34"/>
              <a:cs typeface="Prompt" pitchFamily="2" charset="-34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5"/>
        </a:solidFill>
        <a:effectLst/>
      </p:bgPr>
    </p:bg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0"/>
          <p:cNvSpPr/>
          <p:nvPr/>
        </p:nvSpPr>
        <p:spPr>
          <a:xfrm>
            <a:off x="609600" y="2457450"/>
            <a:ext cx="10972800" cy="15525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0"/>
          <p:cNvSpPr/>
          <p:nvPr/>
        </p:nvSpPr>
        <p:spPr>
          <a:xfrm>
            <a:off x="609600" y="4391025"/>
            <a:ext cx="10972800" cy="15525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0"/>
          <p:cNvSpPr/>
          <p:nvPr/>
        </p:nvSpPr>
        <p:spPr>
          <a:xfrm>
            <a:off x="609600" y="2457450"/>
            <a:ext cx="76200" cy="1552575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0"/>
          <p:cNvSpPr/>
          <p:nvPr/>
        </p:nvSpPr>
        <p:spPr>
          <a:xfrm>
            <a:off x="609600" y="4391025"/>
            <a:ext cx="76200" cy="1552575"/>
          </a:xfrm>
          <a:prstGeom prst="rect">
            <a:avLst/>
          </a:prstGeom>
          <a:solidFill>
            <a:srgbClr val="A7C4B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0"/>
          <p:cNvSpPr/>
          <p:nvPr/>
        </p:nvSpPr>
        <p:spPr>
          <a:xfrm>
            <a:off x="4152900" y="3224212"/>
            <a:ext cx="381000" cy="19050"/>
          </a:xfrm>
          <a:prstGeom prst="rect">
            <a:avLst/>
          </a:prstGeom>
          <a:solidFill>
            <a:srgbClr val="DCE6D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0"/>
          <p:cNvSpPr/>
          <p:nvPr/>
        </p:nvSpPr>
        <p:spPr>
          <a:xfrm>
            <a:off x="4152900" y="5157787"/>
            <a:ext cx="381000" cy="19050"/>
          </a:xfrm>
          <a:prstGeom prst="rect">
            <a:avLst/>
          </a:prstGeom>
          <a:solidFill>
            <a:srgbClr val="DCE6D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0"/>
          <p:cNvSpPr txBox="1"/>
          <p:nvPr/>
        </p:nvSpPr>
        <p:spPr>
          <a:xfrm>
            <a:off x="609600" y="609600"/>
            <a:ext cx="1106805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0F172A"/>
                </a:solidFill>
                <a:latin typeface="Prompt"/>
                <a:ea typeface="Prompt"/>
                <a:cs typeface="Prompt"/>
                <a:sym typeface="Prompt"/>
              </a:rPr>
              <a:t>PHASE 3 • PREDICTIVE</a:t>
            </a:r>
            <a:endParaRPr/>
          </a:p>
        </p:txBody>
      </p:sp>
      <p:sp>
        <p:nvSpPr>
          <p:cNvPr id="225" name="Google Shape;225;p20"/>
          <p:cNvSpPr txBox="1"/>
          <p:nvPr/>
        </p:nvSpPr>
        <p:spPr>
          <a:xfrm>
            <a:off x="609600" y="962025"/>
            <a:ext cx="11582400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B3B2B"/>
                </a:solidFill>
                <a:latin typeface="Prompt"/>
                <a:ea typeface="Prompt"/>
                <a:cs typeface="Prompt"/>
                <a:sym typeface="Prompt"/>
              </a:rPr>
              <a:t>กลุ่มลูกค้า Champions คือหัวใจของยอดขาย</a:t>
            </a:r>
            <a:endParaRPr/>
          </a:p>
        </p:txBody>
      </p:sp>
      <p:sp>
        <p:nvSpPr>
          <p:cNvPr id="226" name="Google Shape;226;p20"/>
          <p:cNvSpPr txBox="1"/>
          <p:nvPr/>
        </p:nvSpPr>
        <p:spPr>
          <a:xfrm>
            <a:off x="1066800" y="2947987"/>
            <a:ext cx="20002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B3B2B"/>
                </a:solidFill>
                <a:latin typeface="Prompt"/>
                <a:ea typeface="Prompt"/>
                <a:cs typeface="Prompt"/>
                <a:sym typeface="Prompt"/>
              </a:rPr>
              <a:t>Champions</a:t>
            </a:r>
            <a:endParaRPr/>
          </a:p>
        </p:txBody>
      </p:sp>
      <p:sp>
        <p:nvSpPr>
          <p:cNvPr id="227" name="Google Shape;227;p20"/>
          <p:cNvSpPr txBox="1"/>
          <p:nvPr/>
        </p:nvSpPr>
        <p:spPr>
          <a:xfrm>
            <a:off x="1066800" y="3290887"/>
            <a:ext cx="20002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A5568"/>
                </a:solidFill>
                <a:latin typeface="Prompt"/>
                <a:ea typeface="Prompt"/>
                <a:cs typeface="Prompt"/>
                <a:sym typeface="Prompt"/>
              </a:rPr>
              <a:t>(ลูกค้าชั้นดี)</a:t>
            </a:r>
            <a:endParaRPr/>
          </a:p>
        </p:txBody>
      </p:sp>
      <p:sp>
        <p:nvSpPr>
          <p:cNvPr id="228" name="Google Shape;228;p20"/>
          <p:cNvSpPr txBox="1"/>
          <p:nvPr/>
        </p:nvSpPr>
        <p:spPr>
          <a:xfrm>
            <a:off x="2876550" y="2962275"/>
            <a:ext cx="1047750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Prompt"/>
                <a:ea typeface="Prompt"/>
                <a:cs typeface="Prompt"/>
                <a:sym typeface="Prompt"/>
              </a:rPr>
              <a:t>21.4%</a:t>
            </a:r>
            <a:endParaRPr/>
          </a:p>
        </p:txBody>
      </p:sp>
      <p:sp>
        <p:nvSpPr>
          <p:cNvPr id="229" name="Google Shape;229;p20"/>
          <p:cNvSpPr txBox="1"/>
          <p:nvPr/>
        </p:nvSpPr>
        <p:spPr>
          <a:xfrm>
            <a:off x="4762500" y="2838450"/>
            <a:ext cx="1600200" cy="790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B3B2B"/>
                </a:solidFill>
                <a:latin typeface="Prompt"/>
                <a:ea typeface="Prompt"/>
                <a:cs typeface="Prompt"/>
                <a:sym typeface="Prompt"/>
              </a:rPr>
              <a:t>45.5%</a:t>
            </a:r>
            <a:endParaRPr/>
          </a:p>
        </p:txBody>
      </p:sp>
      <p:sp>
        <p:nvSpPr>
          <p:cNvPr id="230" name="Google Shape;230;p20"/>
          <p:cNvSpPr txBox="1"/>
          <p:nvPr/>
        </p:nvSpPr>
        <p:spPr>
          <a:xfrm>
            <a:off x="7086600" y="3119437"/>
            <a:ext cx="5105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A5568"/>
                </a:solidFill>
                <a:latin typeface="Prompt"/>
                <a:ea typeface="Prompt"/>
                <a:cs typeface="Prompt"/>
                <a:sym typeface="Prompt"/>
              </a:rPr>
              <a:t>หากเสียลูกค้า 536 คนกลุ่มนี้ ยอดขายของร้านจะหายไปเกือบครึ่ง</a:t>
            </a:r>
            <a:endParaRPr/>
          </a:p>
        </p:txBody>
      </p:sp>
      <p:sp>
        <p:nvSpPr>
          <p:cNvPr id="231" name="Google Shape;231;p20"/>
          <p:cNvSpPr txBox="1"/>
          <p:nvPr/>
        </p:nvSpPr>
        <p:spPr>
          <a:xfrm>
            <a:off x="1066800" y="4881562"/>
            <a:ext cx="20002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B3B2B"/>
                </a:solidFill>
                <a:latin typeface="Prompt"/>
                <a:ea typeface="Prompt"/>
                <a:cs typeface="Prompt"/>
                <a:sym typeface="Prompt"/>
              </a:rPr>
              <a:t>Lost</a:t>
            </a:r>
            <a:endParaRPr/>
          </a:p>
        </p:txBody>
      </p:sp>
      <p:sp>
        <p:nvSpPr>
          <p:cNvPr id="232" name="Google Shape;232;p20"/>
          <p:cNvSpPr txBox="1"/>
          <p:nvPr/>
        </p:nvSpPr>
        <p:spPr>
          <a:xfrm>
            <a:off x="1066800" y="5224462"/>
            <a:ext cx="20002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A5568"/>
                </a:solidFill>
                <a:latin typeface="Prompt"/>
                <a:ea typeface="Prompt"/>
                <a:cs typeface="Prompt"/>
                <a:sym typeface="Prompt"/>
              </a:rPr>
              <a:t>(ลูกค้าที่หายไป)</a:t>
            </a:r>
            <a:endParaRPr/>
          </a:p>
        </p:txBody>
      </p:sp>
      <p:sp>
        <p:nvSpPr>
          <p:cNvPr id="233" name="Google Shape;233;p20"/>
          <p:cNvSpPr txBox="1"/>
          <p:nvPr/>
        </p:nvSpPr>
        <p:spPr>
          <a:xfrm>
            <a:off x="2876550" y="4895850"/>
            <a:ext cx="1047750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2D6A4F"/>
                </a:solidFill>
                <a:latin typeface="Prompt"/>
                <a:ea typeface="Prompt"/>
                <a:cs typeface="Prompt"/>
                <a:sym typeface="Prompt"/>
              </a:rPr>
              <a:t>28.7%</a:t>
            </a:r>
            <a:endParaRPr/>
          </a:p>
        </p:txBody>
      </p:sp>
      <p:sp>
        <p:nvSpPr>
          <p:cNvPr id="234" name="Google Shape;234;p20"/>
          <p:cNvSpPr txBox="1"/>
          <p:nvPr/>
        </p:nvSpPr>
        <p:spPr>
          <a:xfrm>
            <a:off x="4762500" y="4772025"/>
            <a:ext cx="1381125" cy="790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B3B2B"/>
                </a:solidFill>
                <a:latin typeface="Prompt"/>
                <a:ea typeface="Prompt"/>
                <a:cs typeface="Prompt"/>
                <a:sym typeface="Prompt"/>
              </a:rPr>
              <a:t>7.1%</a:t>
            </a:r>
            <a:endParaRPr/>
          </a:p>
        </p:txBody>
      </p:sp>
      <p:sp>
        <p:nvSpPr>
          <p:cNvPr id="235" name="Google Shape;235;p20"/>
          <p:cNvSpPr txBox="1"/>
          <p:nvPr/>
        </p:nvSpPr>
        <p:spPr>
          <a:xfrm>
            <a:off x="7086600" y="5053012"/>
            <a:ext cx="5105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A5568"/>
                </a:solidFill>
                <a:latin typeface="Prompt"/>
                <a:ea typeface="Prompt"/>
                <a:cs typeface="Prompt"/>
                <a:sym typeface="Prompt"/>
              </a:rPr>
              <a:t>สะท้อนปัญหาการขาดการดูแลลูกค้าใหม่ในช่วงแรกของการสมัคร</a:t>
            </a:r>
            <a:endParaRPr/>
          </a:p>
        </p:txBody>
      </p:sp>
      <p:sp>
        <p:nvSpPr>
          <p:cNvPr id="236" name="Google Shape;236;p20"/>
          <p:cNvSpPr txBox="1"/>
          <p:nvPr/>
        </p:nvSpPr>
        <p:spPr>
          <a:xfrm>
            <a:off x="2876550" y="3333750"/>
            <a:ext cx="104775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4A5568"/>
                </a:solidFill>
                <a:latin typeface="Prompt"/>
                <a:ea typeface="Prompt"/>
                <a:cs typeface="Prompt"/>
                <a:sym typeface="Prompt"/>
              </a:rPr>
              <a:t>สัดส่วนลูกค้า</a:t>
            </a:r>
            <a:endParaRPr/>
          </a:p>
        </p:txBody>
      </p:sp>
      <p:sp>
        <p:nvSpPr>
          <p:cNvPr id="237" name="Google Shape;237;p20"/>
          <p:cNvSpPr txBox="1"/>
          <p:nvPr/>
        </p:nvSpPr>
        <p:spPr>
          <a:xfrm>
            <a:off x="4762500" y="3400425"/>
            <a:ext cx="1600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2D6A4F"/>
                </a:solidFill>
                <a:latin typeface="Prompt"/>
                <a:ea typeface="Prompt"/>
                <a:cs typeface="Prompt"/>
                <a:sym typeface="Prompt"/>
              </a:rPr>
              <a:t>สัดส่วนยอดขายรวม</a:t>
            </a:r>
            <a:endParaRPr/>
          </a:p>
        </p:txBody>
      </p:sp>
      <p:sp>
        <p:nvSpPr>
          <p:cNvPr id="238" name="Google Shape;238;p20"/>
          <p:cNvSpPr txBox="1"/>
          <p:nvPr/>
        </p:nvSpPr>
        <p:spPr>
          <a:xfrm>
            <a:off x="2876550" y="5267325"/>
            <a:ext cx="104775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4A5568"/>
                </a:solidFill>
                <a:latin typeface="Prompt"/>
                <a:ea typeface="Prompt"/>
                <a:cs typeface="Prompt"/>
                <a:sym typeface="Prompt"/>
              </a:rPr>
              <a:t>สัดส่วนลูกค้า</a:t>
            </a:r>
            <a:endParaRPr/>
          </a:p>
        </p:txBody>
      </p:sp>
      <p:sp>
        <p:nvSpPr>
          <p:cNvPr id="239" name="Google Shape;239;p20"/>
          <p:cNvSpPr txBox="1"/>
          <p:nvPr/>
        </p:nvSpPr>
        <p:spPr>
          <a:xfrm>
            <a:off x="4762500" y="5334000"/>
            <a:ext cx="13811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F172A"/>
                </a:solidFill>
                <a:latin typeface="Prompt"/>
                <a:ea typeface="Prompt"/>
                <a:cs typeface="Prompt"/>
                <a:sym typeface="Prompt"/>
              </a:rPr>
              <a:t>สัดส่วนยอดขายรวม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298871529"/>
              </p:ext>
            </p:extLst>
          </p:nvPr>
        </p:nvGraphicFramePr>
        <p:xfrm>
          <a:off x="548640" y="1554480"/>
          <a:ext cx="694944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772400" y="1554480"/>
            <a:ext cx="384048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2700">
            <a:solidFill>
              <a:srgbClr val="DCE6DE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6" name="Text 3"/>
          <p:cNvSpPr txBox="1"/>
          <p:nvPr/>
        </p:nvSpPr>
        <p:spPr>
          <a:xfrm>
            <a:off x="8046720" y="173736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E07A1F"/>
                </a:solidFill>
                <a:latin typeface="Prompt" pitchFamily="2" charset="-34"/>
                <a:ea typeface="Tahoma" pitchFamily="34" charset="-122"/>
                <a:cs typeface="Prompt" pitchFamily="2" charset="-34"/>
              </a:rPr>
              <a:t>45.5%</a:t>
            </a:r>
            <a:endParaRPr lang="en-US" sz="3600" dirty="0">
              <a:latin typeface="Prompt" pitchFamily="2" charset="-34"/>
              <a:cs typeface="Prompt" pitchFamily="2" charset="-34"/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8046720" y="256032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62"/>
                </a:solidFill>
                <a:latin typeface="Prompt" pitchFamily="2" charset="-34"/>
                <a:ea typeface="Tahoma" pitchFamily="34" charset="-122"/>
                <a:cs typeface="Prompt" pitchFamily="2" charset="-34"/>
              </a:rPr>
              <a:t>รายได้จาก Champions 536 คน (483,918 ฿) เสียไปนิดเดียวก็กระทบหนัก</a:t>
            </a:r>
            <a:endParaRPr lang="en-US" sz="1200" dirty="0">
              <a:latin typeface="Prompt" pitchFamily="2" charset="-34"/>
              <a:cs typeface="Prompt" pitchFamily="2" charset="-34"/>
            </a:endParaRPr>
          </a:p>
        </p:txBody>
      </p:sp>
      <p:sp>
        <p:nvSpPr>
          <p:cNvPr id="8" name="Shape 5"/>
          <p:cNvSpPr/>
          <p:nvPr/>
        </p:nvSpPr>
        <p:spPr>
          <a:xfrm>
            <a:off x="7772400" y="3886200"/>
            <a:ext cx="384048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2700">
            <a:solidFill>
              <a:srgbClr val="DCE6DE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9" name="Text 6"/>
          <p:cNvSpPr txBox="1"/>
          <p:nvPr/>
        </p:nvSpPr>
        <p:spPr>
          <a:xfrm>
            <a:off x="8046720" y="406908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B23A48"/>
                </a:solidFill>
                <a:latin typeface="Prompt" pitchFamily="2" charset="-34"/>
                <a:ea typeface="Tahoma" pitchFamily="34" charset="-122"/>
                <a:cs typeface="Prompt" pitchFamily="2" charset="-34"/>
              </a:rPr>
              <a:t>28.7%</a:t>
            </a:r>
            <a:endParaRPr lang="en-US" sz="3600" dirty="0">
              <a:latin typeface="Prompt" pitchFamily="2" charset="-34"/>
              <a:cs typeface="Prompt" pitchFamily="2" charset="-34"/>
            </a:endParaRPr>
          </a:p>
        </p:txBody>
      </p:sp>
      <p:sp>
        <p:nvSpPr>
          <p:cNvPr id="10" name="Text 7"/>
          <p:cNvSpPr txBox="1"/>
          <p:nvPr/>
        </p:nvSpPr>
        <p:spPr>
          <a:xfrm>
            <a:off x="8046720" y="489204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62"/>
                </a:solidFill>
                <a:latin typeface="Prompt" pitchFamily="2" charset="-34"/>
                <a:ea typeface="Tahoma" pitchFamily="34" charset="-122"/>
                <a:cs typeface="Prompt" pitchFamily="2" charset="-34"/>
              </a:rPr>
              <a:t>กลุ่ม Lost 718 คน ทำรายได้แค่ 7.1% ช่องว่างอยู่ที่ onboarding</a:t>
            </a:r>
            <a:endParaRPr lang="en-US" sz="1200" dirty="0">
              <a:latin typeface="Prompt" pitchFamily="2" charset="-34"/>
              <a:cs typeface="Prompt" pitchFamily="2" charset="-34"/>
            </a:endParaRPr>
          </a:p>
        </p:txBody>
      </p:sp>
      <p:sp>
        <p:nvSpPr>
          <p:cNvPr id="11" name="Google Shape;224;p20">
            <a:extLst>
              <a:ext uri="{FF2B5EF4-FFF2-40B4-BE49-F238E27FC236}">
                <a16:creationId xmlns:a16="http://schemas.microsoft.com/office/drawing/2014/main" id="{4B9B5F31-881D-440B-8BA1-64A6A0FF2138}"/>
              </a:ext>
            </a:extLst>
          </p:cNvPr>
          <p:cNvSpPr txBox="1"/>
          <p:nvPr/>
        </p:nvSpPr>
        <p:spPr>
          <a:xfrm>
            <a:off x="609600" y="609600"/>
            <a:ext cx="1106805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0F172A"/>
                </a:solidFill>
                <a:latin typeface="Prompt"/>
                <a:ea typeface="Prompt"/>
                <a:cs typeface="Prompt"/>
                <a:sym typeface="Prompt"/>
              </a:rPr>
              <a:t>PHASE 3 • PREDICTIVE</a:t>
            </a:r>
            <a:endParaRPr/>
          </a:p>
        </p:txBody>
      </p:sp>
      <p:sp>
        <p:nvSpPr>
          <p:cNvPr id="12" name="Google Shape;225;p20">
            <a:extLst>
              <a:ext uri="{FF2B5EF4-FFF2-40B4-BE49-F238E27FC236}">
                <a16:creationId xmlns:a16="http://schemas.microsoft.com/office/drawing/2014/main" id="{576A2749-F824-8EF3-760F-50395DB5E281}"/>
              </a:ext>
            </a:extLst>
          </p:cNvPr>
          <p:cNvSpPr txBox="1"/>
          <p:nvPr/>
        </p:nvSpPr>
        <p:spPr>
          <a:xfrm>
            <a:off x="609600" y="962025"/>
            <a:ext cx="11582400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B3B2B"/>
                </a:solidFill>
                <a:latin typeface="Prompt"/>
                <a:ea typeface="Prompt"/>
                <a:cs typeface="Prompt"/>
                <a:sym typeface="Prompt"/>
              </a:rPr>
              <a:t>กลุ่มลูกค้า Champions คือหัวใจของยอดขาย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1"/>
          <p:cNvSpPr/>
          <p:nvPr/>
        </p:nvSpPr>
        <p:spPr>
          <a:xfrm>
            <a:off x="609600" y="2152650"/>
            <a:ext cx="5257800" cy="4095750"/>
          </a:xfrm>
          <a:prstGeom prst="rect">
            <a:avLst/>
          </a:prstGeom>
          <a:solidFill>
            <a:srgbClr val="F8FAF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1"/>
          <p:cNvSpPr/>
          <p:nvPr/>
        </p:nvSpPr>
        <p:spPr>
          <a:xfrm>
            <a:off x="6324600" y="2152650"/>
            <a:ext cx="5257800" cy="4095750"/>
          </a:xfrm>
          <a:prstGeom prst="rect">
            <a:avLst/>
          </a:prstGeom>
          <a:solidFill>
            <a:srgbClr val="1B3B2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6" name="Google Shape;246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6800" y="3752850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6800" y="4133850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6800" y="4514850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6800" y="4895850"/>
            <a:ext cx="13335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1"/>
          <p:cNvSpPr txBox="1"/>
          <p:nvPr/>
        </p:nvSpPr>
        <p:spPr>
          <a:xfrm>
            <a:off x="609600" y="609600"/>
            <a:ext cx="1106805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0F172A"/>
                </a:solidFill>
                <a:latin typeface="Prompt"/>
                <a:ea typeface="Prompt"/>
                <a:cs typeface="Prompt"/>
                <a:sym typeface="Prompt"/>
              </a:rPr>
              <a:t>PHASE 3 • STRATEGY</a:t>
            </a:r>
            <a:endParaRPr/>
          </a:p>
        </p:txBody>
      </p:sp>
      <p:sp>
        <p:nvSpPr>
          <p:cNvPr id="251" name="Google Shape;251;p21"/>
          <p:cNvSpPr txBox="1"/>
          <p:nvPr/>
        </p:nvSpPr>
        <p:spPr>
          <a:xfrm>
            <a:off x="609600" y="962025"/>
            <a:ext cx="11582400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B3B2B"/>
                </a:solidFill>
                <a:latin typeface="Prompt"/>
                <a:ea typeface="Prompt"/>
                <a:cs typeface="Prompt"/>
                <a:sym typeface="Prompt"/>
              </a:rPr>
              <a:t>กลยุทธ์เพิ่มยอด: เซ็ตสินค้า และ โยกงบโฆษณา</a:t>
            </a:r>
            <a:endParaRPr/>
          </a:p>
        </p:txBody>
      </p:sp>
      <p:sp>
        <p:nvSpPr>
          <p:cNvPr id="252" name="Google Shape;252;p21"/>
          <p:cNvSpPr txBox="1"/>
          <p:nvPr/>
        </p:nvSpPr>
        <p:spPr>
          <a:xfrm>
            <a:off x="1066800" y="2609850"/>
            <a:ext cx="4660582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2D6A4F"/>
                </a:solidFill>
                <a:latin typeface="Prompt"/>
                <a:ea typeface="Prompt"/>
                <a:cs typeface="Prompt"/>
                <a:sym typeface="Prompt"/>
              </a:rPr>
              <a:t>รวมเซ็ตสินค้าข้ามหมวด</a:t>
            </a:r>
            <a:endParaRPr/>
          </a:p>
        </p:txBody>
      </p:sp>
      <p:sp>
        <p:nvSpPr>
          <p:cNvPr id="253" name="Google Shape;253;p21"/>
          <p:cNvSpPr txBox="1"/>
          <p:nvPr/>
        </p:nvSpPr>
        <p:spPr>
          <a:xfrm>
            <a:off x="1066800" y="3181350"/>
            <a:ext cx="44386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A5568"/>
                </a:solidFill>
                <a:latin typeface="Prompt"/>
                <a:ea typeface="Prompt"/>
                <a:cs typeface="Prompt"/>
                <a:sym typeface="Prompt"/>
              </a:rPr>
              <a:t>จูงใจด้วยส่วนลด 10% เพิ่มยอดต่อบิล 100-270 บาท</a:t>
            </a:r>
            <a:endParaRPr/>
          </a:p>
        </p:txBody>
      </p:sp>
      <p:sp>
        <p:nvSpPr>
          <p:cNvPr id="254" name="Google Shape;254;p21"/>
          <p:cNvSpPr txBox="1"/>
          <p:nvPr/>
        </p:nvSpPr>
        <p:spPr>
          <a:xfrm>
            <a:off x="6781800" y="2609850"/>
            <a:ext cx="4660582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A7C4B5"/>
                </a:solidFill>
                <a:latin typeface="Prompt"/>
                <a:ea typeface="Prompt"/>
                <a:cs typeface="Prompt"/>
                <a:sym typeface="Prompt"/>
              </a:rPr>
              <a:t>โยกงบประมาณโฆษณา</a:t>
            </a:r>
            <a:endParaRPr/>
          </a:p>
        </p:txBody>
      </p:sp>
      <p:sp>
        <p:nvSpPr>
          <p:cNvPr id="255" name="Google Shape;255;p21"/>
          <p:cNvSpPr txBox="1"/>
          <p:nvPr/>
        </p:nvSpPr>
        <p:spPr>
          <a:xfrm>
            <a:off x="6781800" y="3181350"/>
            <a:ext cx="44386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DCE6DE"/>
                </a:solidFill>
                <a:latin typeface="Prompt"/>
                <a:ea typeface="Prompt"/>
                <a:cs typeface="Prompt"/>
                <a:sym typeface="Prompt"/>
              </a:rPr>
              <a:t>งบรวมเท่าเดิม แต่เน้นช่องทางที่มีประสิทธิภาพ (LINE)</a:t>
            </a:r>
            <a:endParaRPr/>
          </a:p>
        </p:txBody>
      </p:sp>
      <p:sp>
        <p:nvSpPr>
          <p:cNvPr id="256" name="Google Shape;256;p21"/>
          <p:cNvSpPr txBox="1"/>
          <p:nvPr/>
        </p:nvSpPr>
        <p:spPr>
          <a:xfrm>
            <a:off x="1314450" y="3714750"/>
            <a:ext cx="4191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F172A"/>
                </a:solidFill>
                <a:latin typeface="Prompt"/>
                <a:ea typeface="Prompt"/>
                <a:cs typeface="Prompt"/>
                <a:sym typeface="Prompt"/>
              </a:rPr>
              <a:t>เซ็ตผัดกะเพรา: กะเพรา + ไข่ไก่ + โหระพา</a:t>
            </a:r>
            <a:endParaRPr/>
          </a:p>
        </p:txBody>
      </p:sp>
      <p:sp>
        <p:nvSpPr>
          <p:cNvPr id="257" name="Google Shape;257;p21"/>
          <p:cNvSpPr txBox="1"/>
          <p:nvPr/>
        </p:nvSpPr>
        <p:spPr>
          <a:xfrm>
            <a:off x="1314450" y="4095750"/>
            <a:ext cx="4191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F172A"/>
                </a:solidFill>
                <a:latin typeface="Prompt"/>
                <a:ea typeface="Prompt"/>
                <a:cs typeface="Prompt"/>
                <a:sym typeface="Prompt"/>
              </a:rPr>
              <a:t>เซ็ตสลัดโปรตีน: ผักสลัด + อะโวคาโด + ไข่ไก่</a:t>
            </a:r>
            <a:endParaRPr/>
          </a:p>
        </p:txBody>
      </p:sp>
      <p:sp>
        <p:nvSpPr>
          <p:cNvPr id="258" name="Google Shape;258;p21"/>
          <p:cNvSpPr txBox="1"/>
          <p:nvPr/>
        </p:nvSpPr>
        <p:spPr>
          <a:xfrm>
            <a:off x="1314450" y="4476750"/>
            <a:ext cx="4191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F172A"/>
                </a:solidFill>
                <a:latin typeface="Prompt"/>
                <a:ea typeface="Prompt"/>
                <a:cs typeface="Prompt"/>
                <a:sym typeface="Prompt"/>
              </a:rPr>
              <a:t>เซ็ตผลไม้ตอนเช้า: แอปเปิ้ล + กล้วยหอม + บลูเบอร์รี่</a:t>
            </a:r>
            <a:endParaRPr/>
          </a:p>
        </p:txBody>
      </p:sp>
      <p:sp>
        <p:nvSpPr>
          <p:cNvPr id="259" name="Google Shape;259;p21"/>
          <p:cNvSpPr txBox="1"/>
          <p:nvPr/>
        </p:nvSpPr>
        <p:spPr>
          <a:xfrm>
            <a:off x="1314450" y="4857750"/>
            <a:ext cx="4191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F172A"/>
                </a:solidFill>
                <a:latin typeface="Prompt"/>
                <a:ea typeface="Prompt"/>
                <a:cs typeface="Prompt"/>
                <a:sym typeface="Prompt"/>
              </a:rPr>
              <a:t>เซ็ตสมุนไพรต้มยำ: ตะไคร้ + ข่า + ใบมะกรูด + มะนาว</a:t>
            </a:r>
            <a:endParaRPr/>
          </a:p>
        </p:txBody>
      </p:sp>
      <p:sp>
        <p:nvSpPr>
          <p:cNvPr id="260" name="Google Shape;260;p21"/>
          <p:cNvSpPr txBox="1"/>
          <p:nvPr/>
        </p:nvSpPr>
        <p:spPr>
          <a:xfrm>
            <a:off x="6781800" y="3714750"/>
            <a:ext cx="88582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FFFFFF"/>
                </a:solidFill>
                <a:latin typeface="Prompt"/>
                <a:ea typeface="Prompt"/>
                <a:cs typeface="Prompt"/>
                <a:sym typeface="Prompt"/>
              </a:rPr>
              <a:t>Facebook</a:t>
            </a:r>
            <a:endParaRPr/>
          </a:p>
        </p:txBody>
      </p:sp>
      <p:sp>
        <p:nvSpPr>
          <p:cNvPr id="261" name="Google Shape;261;p21"/>
          <p:cNvSpPr txBox="1"/>
          <p:nvPr/>
        </p:nvSpPr>
        <p:spPr>
          <a:xfrm>
            <a:off x="10477500" y="3714750"/>
            <a:ext cx="74295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E07A5F"/>
                </a:solidFill>
                <a:latin typeface="Prompt"/>
                <a:ea typeface="Prompt"/>
                <a:cs typeface="Prompt"/>
                <a:sym typeface="Prompt"/>
              </a:rPr>
              <a:t>ลด 30%</a:t>
            </a:r>
            <a:endParaRPr/>
          </a:p>
        </p:txBody>
      </p:sp>
      <p:sp>
        <p:nvSpPr>
          <p:cNvPr id="262" name="Google Shape;262;p21"/>
          <p:cNvSpPr txBox="1"/>
          <p:nvPr/>
        </p:nvSpPr>
        <p:spPr>
          <a:xfrm>
            <a:off x="6781800" y="4295775"/>
            <a:ext cx="6858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FFFFFF"/>
                </a:solidFill>
                <a:latin typeface="Prompt"/>
                <a:ea typeface="Prompt"/>
                <a:cs typeface="Prompt"/>
                <a:sym typeface="Prompt"/>
              </a:rPr>
              <a:t>Google</a:t>
            </a:r>
            <a:endParaRPr/>
          </a:p>
        </p:txBody>
      </p:sp>
      <p:sp>
        <p:nvSpPr>
          <p:cNvPr id="263" name="Google Shape;263;p21"/>
          <p:cNvSpPr txBox="1"/>
          <p:nvPr/>
        </p:nvSpPr>
        <p:spPr>
          <a:xfrm>
            <a:off x="10477500" y="4295775"/>
            <a:ext cx="74295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E07A5F"/>
                </a:solidFill>
                <a:latin typeface="Prompt"/>
                <a:ea typeface="Prompt"/>
                <a:cs typeface="Prompt"/>
                <a:sym typeface="Prompt"/>
              </a:rPr>
              <a:t>ลด 20%</a:t>
            </a:r>
            <a:endParaRPr/>
          </a:p>
        </p:txBody>
      </p:sp>
      <p:sp>
        <p:nvSpPr>
          <p:cNvPr id="264" name="Google Shape;264;p21"/>
          <p:cNvSpPr txBox="1"/>
          <p:nvPr/>
        </p:nvSpPr>
        <p:spPr>
          <a:xfrm>
            <a:off x="6781800" y="4876800"/>
            <a:ext cx="43815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FFFFFF"/>
                </a:solidFill>
                <a:latin typeface="Prompt"/>
                <a:ea typeface="Prompt"/>
                <a:cs typeface="Prompt"/>
                <a:sym typeface="Prompt"/>
              </a:rPr>
              <a:t>LINE</a:t>
            </a:r>
            <a:endParaRPr/>
          </a:p>
        </p:txBody>
      </p:sp>
      <p:sp>
        <p:nvSpPr>
          <p:cNvPr id="265" name="Google Shape;265;p21"/>
          <p:cNvSpPr txBox="1"/>
          <p:nvPr/>
        </p:nvSpPr>
        <p:spPr>
          <a:xfrm>
            <a:off x="9429750" y="4876800"/>
            <a:ext cx="17907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52B788"/>
                </a:solidFill>
                <a:latin typeface="Prompt"/>
                <a:ea typeface="Prompt"/>
                <a:cs typeface="Prompt"/>
                <a:sym typeface="Prompt"/>
              </a:rPr>
              <a:t>เพิ่มงบทั้งหมดที่ย้ายมา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6766417"/>
              </p:ext>
            </p:extLst>
          </p:nvPr>
        </p:nvGraphicFramePr>
        <p:xfrm>
          <a:off x="548640" y="1600200"/>
          <a:ext cx="6126480" cy="356616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rompt" pitchFamily="2" charset="-34"/>
                          <a:ea typeface="Tahoma" pitchFamily="34" charset="-122"/>
                          <a:cs typeface="Prompt" pitchFamily="2" charset="-34"/>
                        </a:rPr>
                        <a:t>ชุด</a:t>
                      </a:r>
                      <a:endParaRPr lang="en-US" sz="1200" dirty="0">
                        <a:latin typeface="Prompt" pitchFamily="2" charset="-34"/>
                        <a:ea typeface="Tahoma" charset="0"/>
                        <a:cs typeface="Prompt" pitchFamily="2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rompt" pitchFamily="2" charset="-34"/>
                          <a:ea typeface="Tahoma" pitchFamily="34" charset="-122"/>
                          <a:cs typeface="Prompt" pitchFamily="2" charset="-34"/>
                        </a:rPr>
                        <a:t>สินค้า</a:t>
                      </a:r>
                      <a:endParaRPr lang="en-US" sz="1200" dirty="0">
                        <a:latin typeface="Prompt" pitchFamily="2" charset="-34"/>
                        <a:ea typeface="Tahoma" charset="0"/>
                        <a:cs typeface="Prompt" pitchFamily="2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rompt" pitchFamily="2" charset="-34"/>
                          <a:ea typeface="Tahoma" pitchFamily="34" charset="-122"/>
                          <a:cs typeface="Prompt" pitchFamily="2" charset="-34"/>
                        </a:rPr>
                        <a:t>ปกติ</a:t>
                      </a:r>
                      <a:endParaRPr lang="en-US" sz="1200" dirty="0">
                        <a:latin typeface="Prompt" pitchFamily="2" charset="-34"/>
                        <a:ea typeface="Tahoma" charset="0"/>
                        <a:cs typeface="Prompt" pitchFamily="2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rompt" pitchFamily="2" charset="-34"/>
                          <a:ea typeface="Tahoma" pitchFamily="34" charset="-122"/>
                          <a:cs typeface="Prompt" pitchFamily="2" charset="-34"/>
                        </a:rPr>
                        <a:t>Bundle</a:t>
                      </a:r>
                      <a:endParaRPr lang="en-US" sz="1200" dirty="0">
                        <a:latin typeface="Prompt" pitchFamily="2" charset="-34"/>
                        <a:ea typeface="Tahoma" charset="0"/>
                        <a:cs typeface="Prompt" pitchFamily="2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A24"/>
                          </a:solidFill>
                          <a:latin typeface="Prompt" pitchFamily="2" charset="-34"/>
                          <a:ea typeface="Tahoma" pitchFamily="34" charset="-122"/>
                          <a:cs typeface="Prompt" pitchFamily="2" charset="-34"/>
                        </a:rPr>
                        <a:t>ผัดกะเพรา</a:t>
                      </a:r>
                      <a:endParaRPr lang="en-US" sz="1100" dirty="0">
                        <a:latin typeface="Prompt" pitchFamily="2" charset="-34"/>
                        <a:ea typeface="Tahoma" charset="0"/>
                        <a:cs typeface="Prompt" pitchFamily="2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A24"/>
                          </a:solidFill>
                          <a:latin typeface="Prompt" pitchFamily="2" charset="-34"/>
                          <a:ea typeface="Tahoma" pitchFamily="34" charset="-122"/>
                          <a:cs typeface="Prompt" pitchFamily="2" charset="-34"/>
                        </a:rPr>
                        <a:t>กะเพรา+ไข่ไก่+โหระพา</a:t>
                      </a:r>
                      <a:endParaRPr lang="en-US" sz="1100" dirty="0">
                        <a:latin typeface="Prompt" pitchFamily="2" charset="-34"/>
                        <a:ea typeface="Tahoma" charset="0"/>
                        <a:cs typeface="Prompt" pitchFamily="2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A24"/>
                          </a:solidFill>
                          <a:latin typeface="Prompt" pitchFamily="2" charset="-34"/>
                          <a:ea typeface="Tahoma" pitchFamily="34" charset="-122"/>
                          <a:cs typeface="Prompt" pitchFamily="2" charset="-34"/>
                        </a:rPr>
                        <a:t>170</a:t>
                      </a:r>
                      <a:endParaRPr lang="en-US" sz="1100" dirty="0">
                        <a:latin typeface="Prompt" pitchFamily="2" charset="-34"/>
                        <a:ea typeface="Tahoma" charset="0"/>
                        <a:cs typeface="Prompt" pitchFamily="2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E07A1F"/>
                          </a:solidFill>
                          <a:latin typeface="Prompt" pitchFamily="2" charset="-34"/>
                          <a:ea typeface="Tahoma" pitchFamily="34" charset="-122"/>
                          <a:cs typeface="Prompt" pitchFamily="2" charset="-34"/>
                        </a:rPr>
                        <a:t>153</a:t>
                      </a:r>
                      <a:endParaRPr lang="en-US" sz="1100" dirty="0">
                        <a:latin typeface="Prompt" pitchFamily="2" charset="-34"/>
                        <a:ea typeface="Tahoma" charset="0"/>
                        <a:cs typeface="Prompt" pitchFamily="2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A24"/>
                          </a:solidFill>
                          <a:latin typeface="Prompt" pitchFamily="2" charset="-34"/>
                          <a:ea typeface="Tahoma" pitchFamily="34" charset="-122"/>
                          <a:cs typeface="Prompt" pitchFamily="2" charset="-34"/>
                        </a:rPr>
                        <a:t>สลัดโปรตีน</a:t>
                      </a:r>
                      <a:endParaRPr lang="en-US" sz="1100" dirty="0">
                        <a:latin typeface="Prompt" pitchFamily="2" charset="-34"/>
                        <a:ea typeface="Tahoma" charset="0"/>
                        <a:cs typeface="Prompt" pitchFamily="2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A24"/>
                          </a:solidFill>
                          <a:latin typeface="Prompt" pitchFamily="2" charset="-34"/>
                          <a:ea typeface="Tahoma" pitchFamily="34" charset="-122"/>
                          <a:cs typeface="Prompt" pitchFamily="2" charset="-34"/>
                        </a:rPr>
                        <a:t>ผักสลัด+อะโวคาโด+ไข่ไก่</a:t>
                      </a:r>
                      <a:endParaRPr lang="en-US" sz="1100" dirty="0">
                        <a:latin typeface="Prompt" pitchFamily="2" charset="-34"/>
                        <a:ea typeface="Tahoma" charset="0"/>
                        <a:cs typeface="Prompt" pitchFamily="2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A24"/>
                          </a:solidFill>
                          <a:latin typeface="Prompt" pitchFamily="2" charset="-34"/>
                          <a:ea typeface="Tahoma" pitchFamily="34" charset="-122"/>
                          <a:cs typeface="Prompt" pitchFamily="2" charset="-34"/>
                        </a:rPr>
                        <a:t>365</a:t>
                      </a:r>
                      <a:endParaRPr lang="en-US" sz="1100" dirty="0">
                        <a:latin typeface="Prompt" pitchFamily="2" charset="-34"/>
                        <a:ea typeface="Tahoma" charset="0"/>
                        <a:cs typeface="Prompt" pitchFamily="2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E07A1F"/>
                          </a:solidFill>
                          <a:latin typeface="Prompt" pitchFamily="2" charset="-34"/>
                          <a:ea typeface="Tahoma" pitchFamily="34" charset="-122"/>
                          <a:cs typeface="Prompt" pitchFamily="2" charset="-34"/>
                        </a:rPr>
                        <a:t>329</a:t>
                      </a:r>
                      <a:endParaRPr lang="en-US" sz="1100" dirty="0">
                        <a:latin typeface="Prompt" pitchFamily="2" charset="-34"/>
                        <a:ea typeface="Tahoma" charset="0"/>
                        <a:cs typeface="Prompt" pitchFamily="2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A24"/>
                          </a:solidFill>
                          <a:latin typeface="Prompt" pitchFamily="2" charset="-34"/>
                          <a:ea typeface="Tahoma" pitchFamily="34" charset="-122"/>
                          <a:cs typeface="Prompt" pitchFamily="2" charset="-34"/>
                        </a:rPr>
                        <a:t>ผลไม้ตอนเช้า</a:t>
                      </a:r>
                      <a:endParaRPr lang="en-US" sz="1100" dirty="0">
                        <a:latin typeface="Prompt" pitchFamily="2" charset="-34"/>
                        <a:ea typeface="Tahoma" charset="0"/>
                        <a:cs typeface="Prompt" pitchFamily="2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A24"/>
                          </a:solidFill>
                          <a:latin typeface="Prompt" pitchFamily="2" charset="-34"/>
                          <a:ea typeface="Tahoma" pitchFamily="34" charset="-122"/>
                          <a:cs typeface="Prompt" pitchFamily="2" charset="-34"/>
                        </a:rPr>
                        <a:t>แอปเปิ้ล+กล้วยหอม+บลูเบอร์รี่</a:t>
                      </a:r>
                      <a:endParaRPr lang="en-US" sz="1100" dirty="0">
                        <a:latin typeface="Prompt" pitchFamily="2" charset="-34"/>
                        <a:ea typeface="Tahoma" charset="0"/>
                        <a:cs typeface="Prompt" pitchFamily="2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A24"/>
                          </a:solidFill>
                          <a:latin typeface="Prompt" pitchFamily="2" charset="-34"/>
                          <a:ea typeface="Tahoma" pitchFamily="34" charset="-122"/>
                          <a:cs typeface="Prompt" pitchFamily="2" charset="-34"/>
                        </a:rPr>
                        <a:t>460</a:t>
                      </a:r>
                      <a:endParaRPr lang="en-US" sz="1100" dirty="0">
                        <a:latin typeface="Prompt" pitchFamily="2" charset="-34"/>
                        <a:ea typeface="Tahoma" charset="0"/>
                        <a:cs typeface="Prompt" pitchFamily="2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E07A1F"/>
                          </a:solidFill>
                          <a:latin typeface="Prompt" pitchFamily="2" charset="-34"/>
                          <a:ea typeface="Tahoma" pitchFamily="34" charset="-122"/>
                          <a:cs typeface="Prompt" pitchFamily="2" charset="-34"/>
                        </a:rPr>
                        <a:t>414</a:t>
                      </a:r>
                      <a:endParaRPr lang="en-US" sz="1100" dirty="0">
                        <a:latin typeface="Prompt" pitchFamily="2" charset="-34"/>
                        <a:ea typeface="Tahoma" charset="0"/>
                        <a:cs typeface="Prompt" pitchFamily="2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A24"/>
                          </a:solidFill>
                          <a:latin typeface="Prompt" pitchFamily="2" charset="-34"/>
                          <a:ea typeface="Tahoma" pitchFamily="34" charset="-122"/>
                          <a:cs typeface="Prompt" pitchFamily="2" charset="-34"/>
                        </a:rPr>
                        <a:t>สมุนไพรต้มยำ</a:t>
                      </a:r>
                      <a:endParaRPr lang="en-US" sz="1100" dirty="0">
                        <a:latin typeface="Prompt" pitchFamily="2" charset="-34"/>
                        <a:ea typeface="Tahoma" charset="0"/>
                        <a:cs typeface="Prompt" pitchFamily="2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A24"/>
                          </a:solidFill>
                          <a:latin typeface="Prompt" pitchFamily="2" charset="-34"/>
                          <a:ea typeface="Tahoma" pitchFamily="34" charset="-122"/>
                          <a:cs typeface="Prompt" pitchFamily="2" charset="-34"/>
                        </a:rPr>
                        <a:t>ตะไคร้+ข่า+ใบมะกรูด+มะนาว</a:t>
                      </a:r>
                      <a:endParaRPr lang="en-US" sz="1100" dirty="0">
                        <a:latin typeface="Prompt" pitchFamily="2" charset="-34"/>
                        <a:ea typeface="Tahoma" charset="0"/>
                        <a:cs typeface="Prompt" pitchFamily="2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A24"/>
                          </a:solidFill>
                          <a:latin typeface="Prompt" pitchFamily="2" charset="-34"/>
                          <a:ea typeface="Tahoma" pitchFamily="34" charset="-122"/>
                          <a:cs typeface="Prompt" pitchFamily="2" charset="-34"/>
                        </a:rPr>
                        <a:t>155</a:t>
                      </a:r>
                      <a:endParaRPr lang="en-US" sz="1100" dirty="0">
                        <a:latin typeface="Prompt" pitchFamily="2" charset="-34"/>
                        <a:ea typeface="Tahoma" charset="0"/>
                        <a:cs typeface="Prompt" pitchFamily="2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E07A1F"/>
                          </a:solidFill>
                          <a:latin typeface="Prompt" pitchFamily="2" charset="-34"/>
                          <a:ea typeface="Tahoma" pitchFamily="34" charset="-122"/>
                          <a:cs typeface="Prompt" pitchFamily="2" charset="-34"/>
                        </a:rPr>
                        <a:t>140</a:t>
                      </a:r>
                      <a:endParaRPr lang="en-US" sz="1100" dirty="0">
                        <a:latin typeface="Prompt" pitchFamily="2" charset="-34"/>
                        <a:ea typeface="Tahoma" charset="0"/>
                        <a:cs typeface="Prompt" pitchFamily="2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A24"/>
                          </a:solidFill>
                          <a:latin typeface="Prompt" pitchFamily="2" charset="-34"/>
                          <a:ea typeface="Tahoma" pitchFamily="34" charset="-122"/>
                          <a:cs typeface="Prompt" pitchFamily="2" charset="-34"/>
                        </a:rPr>
                        <a:t>นมและชีสเช้า</a:t>
                      </a:r>
                      <a:endParaRPr lang="en-US" sz="1100" dirty="0">
                        <a:latin typeface="Prompt" pitchFamily="2" charset="-34"/>
                        <a:ea typeface="Tahoma" charset="0"/>
                        <a:cs typeface="Prompt" pitchFamily="2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A24"/>
                          </a:solidFill>
                          <a:latin typeface="Prompt" pitchFamily="2" charset="-34"/>
                          <a:ea typeface="Tahoma" pitchFamily="34" charset="-122"/>
                          <a:cs typeface="Prompt" pitchFamily="2" charset="-34"/>
                        </a:rPr>
                        <a:t>นมสด+โยเกิร์ต+มอสซาเรลลา</a:t>
                      </a:r>
                      <a:endParaRPr lang="en-US" sz="1100" dirty="0">
                        <a:latin typeface="Prompt" pitchFamily="2" charset="-34"/>
                        <a:ea typeface="Tahoma" charset="0"/>
                        <a:cs typeface="Prompt" pitchFamily="2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A24"/>
                          </a:solidFill>
                          <a:latin typeface="Prompt" pitchFamily="2" charset="-34"/>
                          <a:ea typeface="Tahoma" pitchFamily="34" charset="-122"/>
                          <a:cs typeface="Prompt" pitchFamily="2" charset="-34"/>
                        </a:rPr>
                        <a:t>330</a:t>
                      </a:r>
                      <a:endParaRPr lang="en-US" sz="1100" dirty="0">
                        <a:latin typeface="Prompt" pitchFamily="2" charset="-34"/>
                        <a:ea typeface="Tahoma" charset="0"/>
                        <a:cs typeface="Prompt" pitchFamily="2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E07A1F"/>
                          </a:solidFill>
                          <a:latin typeface="Prompt" pitchFamily="2" charset="-34"/>
                          <a:ea typeface="Tahoma" pitchFamily="34" charset="-122"/>
                          <a:cs typeface="Prompt" pitchFamily="2" charset="-34"/>
                        </a:rPr>
                        <a:t>297</a:t>
                      </a:r>
                      <a:endParaRPr lang="en-US" sz="1100" dirty="0">
                        <a:latin typeface="Prompt" pitchFamily="2" charset="-34"/>
                        <a:ea typeface="Tahoma" charset="0"/>
                        <a:cs typeface="Prompt" pitchFamily="2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349240"/>
            <a:ext cx="6126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62"/>
                </a:solidFill>
                <a:latin typeface="Prompt" pitchFamily="2" charset="-34"/>
                <a:ea typeface="Tahoma" pitchFamily="34" charset="-122"/>
                <a:cs typeface="Prompt" pitchFamily="2" charset="-34"/>
              </a:rPr>
              <a:t>ลด 10% จากราคาแยก • ยอดต่อบิลเพิ่มทันทีราว 100–270 ฿ ถ้าลูกค้าเลือกซื้อ bundle</a:t>
            </a:r>
            <a:endParaRPr lang="en-US" sz="1200" dirty="0">
              <a:latin typeface="Prompt" pitchFamily="2" charset="-34"/>
              <a:cs typeface="Prompt" pitchFamily="2" charset="-34"/>
            </a:endParaRPr>
          </a:p>
        </p:txBody>
      </p:sp>
      <p:sp>
        <p:nvSpPr>
          <p:cNvPr id="6" name="Shape 3"/>
          <p:cNvSpPr/>
          <p:nvPr/>
        </p:nvSpPr>
        <p:spPr>
          <a:xfrm>
            <a:off x="6949440" y="1600200"/>
            <a:ext cx="4663440" cy="4434840"/>
          </a:xfrm>
          <a:prstGeom prst="roundRect">
            <a:avLst>
              <a:gd name="adj" fmla="val 2474"/>
            </a:avLst>
          </a:prstGeom>
          <a:solidFill>
            <a:srgbClr val="FFFFFF"/>
          </a:solidFill>
          <a:ln w="12700">
            <a:solidFill>
              <a:srgbClr val="DCE6DE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TH">
              <a:latin typeface="Prompt" pitchFamily="2" charset="-34"/>
              <a:cs typeface="Prompt" pitchFamily="2" charset="-34"/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7223760" y="178308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4332"/>
                </a:solidFill>
                <a:latin typeface="Prompt" pitchFamily="2" charset="-34"/>
                <a:ea typeface="Tahoma" pitchFamily="34" charset="-122"/>
                <a:cs typeface="Prompt" pitchFamily="2" charset="-34"/>
              </a:rPr>
              <a:t>งบโฆษณา (รวมเท่าเดิม ~63,319 ฿/สัปดาห์)</a:t>
            </a:r>
            <a:endParaRPr lang="en-US" sz="1400" dirty="0">
              <a:latin typeface="Prompt" pitchFamily="2" charset="-34"/>
              <a:cs typeface="Prompt" pitchFamily="2" charset="-34"/>
            </a:endParaRPr>
          </a:p>
        </p:txBody>
      </p:sp>
      <p:sp>
        <p:nvSpPr>
          <p:cNvPr id="8" name="Text 5"/>
          <p:cNvSpPr txBox="1"/>
          <p:nvPr/>
        </p:nvSpPr>
        <p:spPr>
          <a:xfrm>
            <a:off x="7223760" y="23774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F2A24"/>
                </a:solidFill>
                <a:latin typeface="Prompt" pitchFamily="2" charset="-34"/>
                <a:ea typeface="Tahoma" pitchFamily="34" charset="-122"/>
                <a:cs typeface="Prompt" pitchFamily="2" charset="-34"/>
              </a:rPr>
              <a:t>Facebook</a:t>
            </a:r>
            <a:endParaRPr lang="en-US" sz="1500" dirty="0">
              <a:latin typeface="Prompt" pitchFamily="2" charset="-34"/>
              <a:cs typeface="Prompt" pitchFamily="2" charset="-34"/>
            </a:endParaRPr>
          </a:p>
        </p:txBody>
      </p:sp>
      <p:sp>
        <p:nvSpPr>
          <p:cNvPr id="9" name="Text 6"/>
          <p:cNvSpPr txBox="1"/>
          <p:nvPr/>
        </p:nvSpPr>
        <p:spPr>
          <a:xfrm>
            <a:off x="8778240" y="23774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B23A48"/>
                </a:solidFill>
                <a:latin typeface="Prompt" pitchFamily="2" charset="-34"/>
                <a:ea typeface="Tahoma" pitchFamily="34" charset="-122"/>
                <a:cs typeface="Prompt" pitchFamily="2" charset="-34"/>
              </a:rPr>
              <a:t>−30%</a:t>
            </a:r>
            <a:endParaRPr lang="en-US" sz="1500" dirty="0">
              <a:latin typeface="Prompt" pitchFamily="2" charset="-34"/>
              <a:cs typeface="Prompt" pitchFamily="2" charset="-34"/>
            </a:endParaRPr>
          </a:p>
        </p:txBody>
      </p:sp>
      <p:sp>
        <p:nvSpPr>
          <p:cNvPr id="10" name="Text 7"/>
          <p:cNvSpPr txBox="1"/>
          <p:nvPr/>
        </p:nvSpPr>
        <p:spPr>
          <a:xfrm>
            <a:off x="7223760" y="28346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F2A24"/>
                </a:solidFill>
                <a:latin typeface="Prompt" pitchFamily="2" charset="-34"/>
                <a:ea typeface="Tahoma" pitchFamily="34" charset="-122"/>
                <a:cs typeface="Prompt" pitchFamily="2" charset="-34"/>
              </a:rPr>
              <a:t>Google</a:t>
            </a:r>
            <a:endParaRPr lang="en-US" sz="1500" dirty="0">
              <a:latin typeface="Prompt" pitchFamily="2" charset="-34"/>
              <a:cs typeface="Prompt" pitchFamily="2" charset="-34"/>
            </a:endParaRPr>
          </a:p>
        </p:txBody>
      </p:sp>
      <p:sp>
        <p:nvSpPr>
          <p:cNvPr id="11" name="Text 8"/>
          <p:cNvSpPr txBox="1"/>
          <p:nvPr/>
        </p:nvSpPr>
        <p:spPr>
          <a:xfrm>
            <a:off x="8778240" y="28346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B23A48"/>
                </a:solidFill>
                <a:latin typeface="Prompt" pitchFamily="2" charset="-34"/>
                <a:ea typeface="Tahoma" pitchFamily="34" charset="-122"/>
                <a:cs typeface="Prompt" pitchFamily="2" charset="-34"/>
              </a:rPr>
              <a:t>−20%</a:t>
            </a:r>
            <a:endParaRPr lang="en-US" sz="1500" dirty="0">
              <a:latin typeface="Prompt" pitchFamily="2" charset="-34"/>
              <a:cs typeface="Prompt" pitchFamily="2" charset="-34"/>
            </a:endParaRPr>
          </a:p>
        </p:txBody>
      </p:sp>
      <p:sp>
        <p:nvSpPr>
          <p:cNvPr id="4" name="Text 9"/>
          <p:cNvSpPr txBox="1"/>
          <p:nvPr/>
        </p:nvSpPr>
        <p:spPr>
          <a:xfrm>
            <a:off x="7223760" y="32918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F2A24"/>
                </a:solidFill>
                <a:latin typeface="Prompt" pitchFamily="2" charset="-34"/>
                <a:ea typeface="Tahoma" pitchFamily="34" charset="-122"/>
                <a:cs typeface="Prompt" pitchFamily="2" charset="-34"/>
              </a:rPr>
              <a:t>LINE</a:t>
            </a:r>
            <a:endParaRPr lang="en-US" sz="1500" dirty="0">
              <a:latin typeface="Prompt" pitchFamily="2" charset="-34"/>
              <a:cs typeface="Prompt" pitchFamily="2" charset="-34"/>
            </a:endParaRPr>
          </a:p>
        </p:txBody>
      </p:sp>
      <p:sp>
        <p:nvSpPr>
          <p:cNvPr id="13" name="Text 10"/>
          <p:cNvSpPr txBox="1"/>
          <p:nvPr/>
        </p:nvSpPr>
        <p:spPr>
          <a:xfrm>
            <a:off x="8778240" y="32918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2D6A4F"/>
                </a:solidFill>
                <a:latin typeface="Prompt" pitchFamily="2" charset="-34"/>
                <a:ea typeface="Tahoma" pitchFamily="34" charset="-122"/>
                <a:cs typeface="Prompt" pitchFamily="2" charset="-34"/>
              </a:rPr>
              <a:t>+ รับงบที่ย้ายมา</a:t>
            </a:r>
            <a:endParaRPr lang="en-US" sz="1500" dirty="0">
              <a:latin typeface="Prompt" pitchFamily="2" charset="-34"/>
              <a:cs typeface="Prompt" pitchFamily="2" charset="-34"/>
            </a:endParaRPr>
          </a:p>
        </p:txBody>
      </p:sp>
      <p:sp>
        <p:nvSpPr>
          <p:cNvPr id="14" name="Text 11"/>
          <p:cNvSpPr txBox="1"/>
          <p:nvPr/>
        </p:nvSpPr>
        <p:spPr>
          <a:xfrm>
            <a:off x="7223760" y="393192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E07A1F"/>
                </a:solidFill>
                <a:latin typeface="Prompt" pitchFamily="2" charset="-34"/>
                <a:ea typeface="Tahoma" pitchFamily="34" charset="-122"/>
                <a:cs typeface="Prompt" pitchFamily="2" charset="-34"/>
              </a:rPr>
              <a:t>96.2 → 105.7</a:t>
            </a:r>
            <a:endParaRPr lang="en-US" sz="3400" dirty="0">
              <a:latin typeface="Prompt" pitchFamily="2" charset="-34"/>
              <a:cs typeface="Prompt" pitchFamily="2" charset="-34"/>
            </a:endParaRPr>
          </a:p>
        </p:txBody>
      </p:sp>
      <p:sp>
        <p:nvSpPr>
          <p:cNvPr id="15" name="Text 12"/>
          <p:cNvSpPr txBox="1"/>
          <p:nvPr/>
        </p:nvSpPr>
        <p:spPr>
          <a:xfrm>
            <a:off x="7223760" y="4663440"/>
            <a:ext cx="411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62"/>
                </a:solidFill>
                <a:latin typeface="Prompt" pitchFamily="2" charset="-34"/>
                <a:ea typeface="Tahoma" pitchFamily="34" charset="-122"/>
                <a:cs typeface="Prompt" pitchFamily="2" charset="-34"/>
              </a:rPr>
              <a:t>ลูกค้าใหม่/สัปดาห์ (+9.9%) รวม diminishing returns แล้ว (CAC LINE +40%) • แนะนำ pilot 4–6 สัปดาห์</a:t>
            </a:r>
            <a:endParaRPr lang="en-US" sz="1200" dirty="0">
              <a:latin typeface="Prompt" pitchFamily="2" charset="-34"/>
              <a:cs typeface="Prompt" pitchFamily="2" charset="-34"/>
            </a:endParaRPr>
          </a:p>
        </p:txBody>
      </p:sp>
      <p:sp>
        <p:nvSpPr>
          <p:cNvPr id="18" name="Google Shape;250;p21">
            <a:extLst>
              <a:ext uri="{FF2B5EF4-FFF2-40B4-BE49-F238E27FC236}">
                <a16:creationId xmlns:a16="http://schemas.microsoft.com/office/drawing/2014/main" id="{B0DAEAD2-B60E-8039-1628-2209C6F987A7}"/>
              </a:ext>
            </a:extLst>
          </p:cNvPr>
          <p:cNvSpPr txBox="1"/>
          <p:nvPr/>
        </p:nvSpPr>
        <p:spPr>
          <a:xfrm>
            <a:off x="609600" y="609600"/>
            <a:ext cx="1106805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0F172A"/>
                </a:solidFill>
                <a:latin typeface="Prompt"/>
                <a:ea typeface="Prompt"/>
                <a:cs typeface="Prompt"/>
                <a:sym typeface="Prompt"/>
              </a:rPr>
              <a:t>PHASE 3 • STRATEGY</a:t>
            </a:r>
            <a:endParaRPr/>
          </a:p>
        </p:txBody>
      </p:sp>
      <p:sp>
        <p:nvSpPr>
          <p:cNvPr id="19" name="Google Shape;251;p21">
            <a:extLst>
              <a:ext uri="{FF2B5EF4-FFF2-40B4-BE49-F238E27FC236}">
                <a16:creationId xmlns:a16="http://schemas.microsoft.com/office/drawing/2014/main" id="{B00F384D-1EC5-4DFB-3451-6328111E7A44}"/>
              </a:ext>
            </a:extLst>
          </p:cNvPr>
          <p:cNvSpPr txBox="1"/>
          <p:nvPr/>
        </p:nvSpPr>
        <p:spPr>
          <a:xfrm>
            <a:off x="609600" y="962025"/>
            <a:ext cx="11582400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B3B2B"/>
                </a:solidFill>
                <a:latin typeface="Prompt"/>
                <a:ea typeface="Prompt"/>
                <a:cs typeface="Prompt"/>
                <a:sym typeface="Prompt"/>
              </a:rPr>
              <a:t>กลยุทธ์เพิ่มยอด: เซ็ตสินค้า และ โยกงบโฆษณา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dirty="0">
              <a:noFill/>
              <a:latin typeface="Prompt" pitchFamily="2" charset="-34"/>
              <a:cs typeface="Prompt" pitchFamily="2" charset="-3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515735"/>
            <a:ext cx="10698480" cy="69249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4C8C4A"/>
                </a:solidFill>
              </a:defRPr>
            </a:pPr>
            <a:r>
              <a:rPr dirty="0">
                <a:latin typeface="Prompt" pitchFamily="2" charset="-34"/>
                <a:cs typeface="Prompt" pitchFamily="2" charset="-34"/>
              </a:rPr>
              <a:t>PHASE 3 • PREDICTIVE</a:t>
            </a:r>
          </a:p>
          <a:p>
            <a:pPr>
              <a:defRPr sz="2200" b="1">
                <a:solidFill>
                  <a:srgbClr val="212529"/>
                </a:solidFill>
              </a:defRPr>
            </a:pPr>
            <a:r>
              <a:rPr dirty="0">
                <a:latin typeface="Prompt" pitchFamily="2" charset="-34"/>
                <a:cs typeface="Prompt" pitchFamily="2" charset="-34"/>
              </a:rPr>
              <a:t>BCG Matrix: </a:t>
            </a:r>
            <a:r>
              <a:rPr dirty="0" err="1">
                <a:latin typeface="Prompt" pitchFamily="2" charset="-34"/>
                <a:cs typeface="Prompt" pitchFamily="2" charset="-34"/>
              </a:rPr>
              <a:t>จัดพอร์ตสินค้าเกษตร</a:t>
            </a:r>
            <a:r>
              <a:rPr dirty="0">
                <a:latin typeface="Prompt" pitchFamily="2" charset="-34"/>
                <a:cs typeface="Prompt" pitchFamily="2" charset="-34"/>
              </a:rPr>
              <a:t> 25 SKUs</a:t>
            </a:r>
          </a:p>
          <a:p>
            <a:pPr>
              <a:defRPr sz="1200">
                <a:solidFill>
                  <a:srgbClr val="6C757D"/>
                </a:solidFill>
              </a:defRPr>
            </a:pPr>
            <a:r>
              <a:rPr dirty="0" err="1">
                <a:latin typeface="Prompt" pitchFamily="2" charset="-34"/>
                <a:cs typeface="Prompt" pitchFamily="2" charset="-34"/>
              </a:rPr>
              <a:t>เกณฑ์จัดกลุ่ม</a:t>
            </a:r>
            <a:r>
              <a:rPr dirty="0">
                <a:latin typeface="Prompt" pitchFamily="2" charset="-34"/>
                <a:cs typeface="Prompt" pitchFamily="2" charset="-34"/>
              </a:rPr>
              <a:t>: Growth &gt; 250% (</a:t>
            </a:r>
            <a:r>
              <a:rPr dirty="0" err="1">
                <a:latin typeface="Prompt" pitchFamily="2" charset="-34"/>
                <a:cs typeface="Prompt" pitchFamily="2" charset="-34"/>
              </a:rPr>
              <a:t>สูง</a:t>
            </a:r>
            <a:r>
              <a:rPr dirty="0">
                <a:latin typeface="Prompt" pitchFamily="2" charset="-34"/>
                <a:cs typeface="Prompt" pitchFamily="2" charset="-34"/>
              </a:rPr>
              <a:t>) | Market Share &gt; 7.0% (</a:t>
            </a:r>
            <a:r>
              <a:rPr dirty="0" err="1">
                <a:latin typeface="Prompt" pitchFamily="2" charset="-34"/>
                <a:cs typeface="Prompt" pitchFamily="2" charset="-34"/>
              </a:rPr>
              <a:t>สูง</a:t>
            </a:r>
            <a:r>
              <a:rPr dirty="0">
                <a:latin typeface="Prompt" pitchFamily="2" charset="-34"/>
                <a:cs typeface="Prompt" pitchFamily="2" charset="-34"/>
              </a:rPr>
              <a:t>) [</a:t>
            </a:r>
            <a:r>
              <a:rPr dirty="0" err="1">
                <a:latin typeface="Prompt" pitchFamily="2" charset="-34"/>
                <a:cs typeface="Prompt" pitchFamily="2" charset="-34"/>
              </a:rPr>
              <a:t>อ้างอิง</a:t>
            </a:r>
            <a:r>
              <a:rPr dirty="0">
                <a:latin typeface="Prompt" pitchFamily="2" charset="-34"/>
                <a:cs typeface="Prompt" pitchFamily="2" charset="-34"/>
              </a:rPr>
              <a:t> P3_BCG]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rtlCol="0" anchor="ctr"/>
          <a:lstStyle/>
          <a:p>
            <a:pPr algn="ctr">
              <a:defRPr sz="1200" b="1">
                <a:solidFill>
                  <a:srgbClr val="E65100"/>
                </a:solidFill>
              </a:defRPr>
            </a:pPr>
            <a:r>
              <a:rPr>
                <a:latin typeface="Prompt" pitchFamily="2" charset="-34"/>
                <a:cs typeface="Prompt" pitchFamily="2" charset="-34"/>
              </a:rPr>
              <a:t>STAR (ดาวรุ่ง)  (Growth &gt; 250% | Share &gt; 7%)</a:t>
            </a:r>
          </a:p>
          <a:p>
            <a:pPr>
              <a:defRPr sz="1000" b="1">
                <a:solidFill>
                  <a:srgbClr val="212529"/>
                </a:solidFill>
              </a:defRPr>
            </a:pPr>
            <a:r>
              <a:rPr>
                <a:latin typeface="Prompt" pitchFamily="2" charset="-34"/>
                <a:cs typeface="Prompt" pitchFamily="2" charset="-34"/>
              </a:rPr>
              <a:t>สินค้าเด่น:</a:t>
            </a:r>
          </a:p>
          <a:p>
            <a:pPr>
              <a:defRPr sz="950">
                <a:solidFill>
                  <a:srgbClr val="212529"/>
                </a:solidFill>
              </a:defRPr>
            </a:pPr>
            <a:r>
              <a:rPr>
                <a:latin typeface="Prompt" pitchFamily="2" charset="-34"/>
                <a:cs typeface="Prompt" pitchFamily="2" charset="-34"/>
              </a:rPr>
              <a:t>P020 ชีสมอสซาเรลลา 200g (+285.4%, 9.9%)</a:t>
            </a:r>
            <a:br>
              <a:rPr>
                <a:latin typeface="Prompt" pitchFamily="2" charset="-34"/>
                <a:cs typeface="Prompt" pitchFamily="2" charset="-34"/>
              </a:rPr>
            </a:br>
            <a:r>
              <a:rPr>
                <a:latin typeface="Prompt" pitchFamily="2" charset="-34"/>
                <a:cs typeface="Prompt" pitchFamily="2" charset="-34"/>
              </a:rPr>
              <a:t>P014 อะโวคาโด 2 ลูก (+271.9%, 7.6%)</a:t>
            </a:r>
          </a:p>
          <a:p>
            <a:pPr>
              <a:defRPr sz="950">
                <a:solidFill>
                  <a:srgbClr val="6C757D"/>
                </a:solidFill>
              </a:defRPr>
            </a:pPr>
            <a:r>
              <a:rPr>
                <a:latin typeface="Prompt" pitchFamily="2" charset="-34"/>
                <a:cs typeface="Prompt" pitchFamily="2" charset="-34"/>
              </a:rPr>
              <a:t>กลยุทธ์:</a:t>
            </a:r>
            <a:br>
              <a:rPr>
                <a:latin typeface="Prompt" pitchFamily="2" charset="-34"/>
                <a:cs typeface="Prompt" pitchFamily="2" charset="-34"/>
              </a:rPr>
            </a:br>
            <a:r>
              <a:rPr>
                <a:latin typeface="Prompt" pitchFamily="2" charset="-34"/>
                <a:cs typeface="Prompt" pitchFamily="2" charset="-34"/>
              </a:rPr>
              <a:t>• ลงทุนขยายสต็อก 35% ป้องกันของขาด</a:t>
            </a:r>
            <a:br>
              <a:rPr>
                <a:latin typeface="Prompt" pitchFamily="2" charset="-34"/>
                <a:cs typeface="Prompt" pitchFamily="2" charset="-34"/>
              </a:rPr>
            </a:br>
            <a:r>
              <a:rPr>
                <a:latin typeface="Prompt" pitchFamily="2" charset="-34"/>
                <a:cs typeface="Prompt" pitchFamily="2" charset="-34"/>
              </a:rPr>
              <a:t>• ขยายงบยิงแอดกลุ่มรักสุขภาพ &amp; Home Cook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rtlCol="0" anchor="ctr"/>
          <a:lstStyle/>
          <a:p>
            <a:pPr algn="ctr">
              <a:defRPr sz="1200" b="1">
                <a:solidFill>
                  <a:srgbClr val="2E7D32"/>
                </a:solidFill>
              </a:defRPr>
            </a:pPr>
            <a:r>
              <a:rPr>
                <a:latin typeface="Prompt" pitchFamily="2" charset="-34"/>
                <a:cs typeface="Prompt" pitchFamily="2" charset="-34"/>
              </a:rPr>
              <a:t>CASH COW (วัวเงิน)  (Growth ≤ 250% | Share &gt; 7%)</a:t>
            </a:r>
          </a:p>
          <a:p>
            <a:pPr>
              <a:defRPr sz="1000" b="1">
                <a:solidFill>
                  <a:srgbClr val="212529"/>
                </a:solidFill>
              </a:defRPr>
            </a:pPr>
            <a:r>
              <a:rPr>
                <a:latin typeface="Prompt" pitchFamily="2" charset="-34"/>
                <a:cs typeface="Prompt" pitchFamily="2" charset="-34"/>
              </a:rPr>
              <a:t>สินค้าเด่น:</a:t>
            </a:r>
          </a:p>
          <a:p>
            <a:pPr>
              <a:defRPr sz="950">
                <a:solidFill>
                  <a:srgbClr val="212529"/>
                </a:solidFill>
              </a:defRPr>
            </a:pPr>
            <a:r>
              <a:rPr>
                <a:latin typeface="Prompt" pitchFamily="2" charset="-34"/>
                <a:cs typeface="Prompt" pitchFamily="2" charset="-34"/>
              </a:rPr>
              <a:t>P015 บลูเบอร์รี 200g (+224.2%, 11.6%)</a:t>
            </a:r>
            <a:br>
              <a:rPr>
                <a:latin typeface="Prompt" pitchFamily="2" charset="-34"/>
                <a:cs typeface="Prompt" pitchFamily="2" charset="-34"/>
              </a:rPr>
            </a:br>
            <a:r>
              <a:rPr>
                <a:latin typeface="Prompt" pitchFamily="2" charset="-34"/>
                <a:cs typeface="Prompt" pitchFamily="2" charset="-34"/>
              </a:rPr>
              <a:t>P011 แอปเปิ้ล Fuji 1kg (+244.6%, 8.1%)</a:t>
            </a:r>
          </a:p>
          <a:p>
            <a:pPr>
              <a:defRPr sz="950">
                <a:solidFill>
                  <a:srgbClr val="6C757D"/>
                </a:solidFill>
              </a:defRPr>
            </a:pPr>
            <a:r>
              <a:rPr>
                <a:latin typeface="Prompt" pitchFamily="2" charset="-34"/>
                <a:cs typeface="Prompt" pitchFamily="2" charset="-34"/>
              </a:rPr>
              <a:t>กลยุทธ์:</a:t>
            </a:r>
            <a:br>
              <a:rPr>
                <a:latin typeface="Prompt" pitchFamily="2" charset="-34"/>
                <a:cs typeface="Prompt" pitchFamily="2" charset="-34"/>
              </a:rPr>
            </a:br>
            <a:r>
              <a:rPr>
                <a:latin typeface="Prompt" pitchFamily="2" charset="-34"/>
                <a:cs typeface="Prompt" pitchFamily="2" charset="-34"/>
              </a:rPr>
              <a:t>• เสาหลักเงินสด (ครอง 19.7% ยอดขาย)</a:t>
            </a:r>
            <a:br>
              <a:rPr>
                <a:latin typeface="Prompt" pitchFamily="2" charset="-34"/>
                <a:cs typeface="Prompt" pitchFamily="2" charset="-34"/>
              </a:rPr>
            </a:br>
            <a:r>
              <a:rPr>
                <a:latin typeface="Prompt" pitchFamily="2" charset="-34"/>
                <a:cs typeface="Prompt" pitchFamily="2" charset="-34"/>
              </a:rPr>
              <a:t>• เจรจาเหมาสวนคุมต้นทุน + ออก Family Pack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114800"/>
            <a:ext cx="521208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77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rtlCol="0" anchor="ctr"/>
          <a:lstStyle/>
          <a:p>
            <a:pPr algn="ctr">
              <a:defRPr sz="1200" b="1">
                <a:solidFill>
                  <a:srgbClr val="0277BD"/>
                </a:solidFill>
              </a:defRPr>
            </a:pPr>
            <a:r>
              <a:rPr>
                <a:latin typeface="Prompt" pitchFamily="2" charset="-34"/>
                <a:cs typeface="Prompt" pitchFamily="2" charset="-34"/>
              </a:rPr>
              <a:t>QUESTION MARK (คำถาม)  (Growth &gt; 250% | Share ≤ 7%)</a:t>
            </a:r>
          </a:p>
          <a:p>
            <a:pPr>
              <a:defRPr sz="1000" b="1">
                <a:solidFill>
                  <a:srgbClr val="212529"/>
                </a:solidFill>
              </a:defRPr>
            </a:pPr>
            <a:r>
              <a:rPr>
                <a:latin typeface="Prompt" pitchFamily="2" charset="-34"/>
                <a:cs typeface="Prompt" pitchFamily="2" charset="-34"/>
              </a:rPr>
              <a:t>สินค้าเด่น:</a:t>
            </a:r>
          </a:p>
          <a:p>
            <a:pPr>
              <a:defRPr sz="950">
                <a:solidFill>
                  <a:srgbClr val="212529"/>
                </a:solidFill>
              </a:defRPr>
            </a:pPr>
            <a:r>
              <a:rPr>
                <a:latin typeface="Prompt" pitchFamily="2" charset="-34"/>
                <a:cs typeface="Prompt" pitchFamily="2" charset="-34"/>
              </a:rPr>
              <a:t>12 รายการเด่น: โยเกิร์ตกรีก (+306.8%), กะเพรา (+345.6%), ผักกาดขาว, ผักสลัด (+270.9%)</a:t>
            </a:r>
          </a:p>
          <a:p>
            <a:pPr>
              <a:defRPr sz="950">
                <a:solidFill>
                  <a:srgbClr val="6C757D"/>
                </a:solidFill>
              </a:defRPr>
            </a:pPr>
            <a:r>
              <a:rPr>
                <a:latin typeface="Prompt" pitchFamily="2" charset="-34"/>
                <a:cs typeface="Prompt" pitchFamily="2" charset="-34"/>
              </a:rPr>
              <a:t>กลยุทธ์:</a:t>
            </a:r>
            <a:br>
              <a:rPr>
                <a:latin typeface="Prompt" pitchFamily="2" charset="-34"/>
                <a:cs typeface="Prompt" pitchFamily="2" charset="-34"/>
              </a:rPr>
            </a:br>
            <a:r>
              <a:rPr>
                <a:latin typeface="Prompt" pitchFamily="2" charset="-34"/>
                <a:cs typeface="Prompt" pitchFamily="2" charset="-34"/>
              </a:rPr>
              <a:t>• สินค้าโตแรงมากแต่คนยังเห็นน้อย</a:t>
            </a:r>
            <a:br>
              <a:rPr>
                <a:latin typeface="Prompt" pitchFamily="2" charset="-34"/>
                <a:cs typeface="Prompt" pitchFamily="2" charset="-34"/>
              </a:rPr>
            </a:br>
            <a:r>
              <a:rPr>
                <a:latin typeface="Prompt" pitchFamily="2" charset="-34"/>
                <a:cs typeface="Prompt" pitchFamily="2" charset="-34"/>
              </a:rPr>
              <a:t>• ดันขึ้นแบนเนอร์หน้าแรก + จับคู่ Bundle ผัดกะเพรา/สลัด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4114800"/>
            <a:ext cx="521208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rtlCol="0" anchor="ctr"/>
          <a:lstStyle/>
          <a:p>
            <a:pPr algn="ctr">
              <a:defRPr sz="1200" b="1">
                <a:solidFill>
                  <a:srgbClr val="C62828"/>
                </a:solidFill>
              </a:defRPr>
            </a:pPr>
            <a:r>
              <a:rPr>
                <a:latin typeface="Prompt" pitchFamily="2" charset="-34"/>
                <a:cs typeface="Prompt" pitchFamily="2" charset="-34"/>
              </a:rPr>
              <a:t>DOG (หมา)  (Growth ≤ 250% | Share ≤ 7%)</a:t>
            </a:r>
          </a:p>
          <a:p>
            <a:pPr>
              <a:defRPr sz="1000" b="1">
                <a:solidFill>
                  <a:srgbClr val="212529"/>
                </a:solidFill>
              </a:defRPr>
            </a:pPr>
            <a:r>
              <a:rPr>
                <a:latin typeface="Prompt" pitchFamily="2" charset="-34"/>
                <a:cs typeface="Prompt" pitchFamily="2" charset="-34"/>
              </a:rPr>
              <a:t>สินค้าเด่น:</a:t>
            </a:r>
          </a:p>
          <a:p>
            <a:pPr>
              <a:defRPr sz="950">
                <a:solidFill>
                  <a:srgbClr val="212529"/>
                </a:solidFill>
              </a:defRPr>
            </a:pPr>
            <a:r>
              <a:rPr>
                <a:latin typeface="Prompt" pitchFamily="2" charset="-34"/>
                <a:cs typeface="Prompt" pitchFamily="2" charset="-34"/>
              </a:rPr>
              <a:t>9 รายการ: ไข่ไก่ (+246.1%), แครอท (+190.0%), มะเขือเทศ, บรอกโคลี, นมสด, กล้วยหอม, ขิง, ใบมะกรูด</a:t>
            </a:r>
          </a:p>
          <a:p>
            <a:pPr>
              <a:defRPr sz="950">
                <a:solidFill>
                  <a:srgbClr val="6C757D"/>
                </a:solidFill>
              </a:defRPr>
            </a:pPr>
            <a:r>
              <a:rPr>
                <a:latin typeface="Prompt" pitchFamily="2" charset="-34"/>
                <a:cs typeface="Prompt" pitchFamily="2" charset="-34"/>
              </a:rPr>
              <a:t>กลยุทธ์:</a:t>
            </a:r>
            <a:br>
              <a:rPr>
                <a:latin typeface="Prompt" pitchFamily="2" charset="-34"/>
                <a:cs typeface="Prompt" pitchFamily="2" charset="-34"/>
              </a:rPr>
            </a:br>
            <a:r>
              <a:rPr>
                <a:latin typeface="Prompt" pitchFamily="2" charset="-34"/>
                <a:cs typeface="Prompt" pitchFamily="2" charset="-34"/>
              </a:rPr>
              <a:t>• โตช้าแชร์ต่ำ เสี่ยงของสดเน่าเสีย</a:t>
            </a:r>
            <a:br>
              <a:rPr>
                <a:latin typeface="Prompt" pitchFamily="2" charset="-34"/>
                <a:cs typeface="Prompt" pitchFamily="2" charset="-34"/>
              </a:rPr>
            </a:br>
            <a:r>
              <a:rPr>
                <a:latin typeface="Prompt" pitchFamily="2" charset="-34"/>
                <a:cs typeface="Prompt" pitchFamily="2" charset="-34"/>
              </a:rPr>
              <a:t>• ยุบขายเดี่ยว รวมเข้าเซ็ตต้มยำ/ผักสวนครัว หรือ Pre-order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>
              <a:noFill/>
              <a:latin typeface="Prompt" pitchFamily="2" charset="-34"/>
              <a:cs typeface="Prompt" pitchFamily="2" charset="-3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523328"/>
            <a:ext cx="10698480" cy="69249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4C8C4A"/>
                </a:solidFill>
              </a:defRPr>
            </a:pPr>
            <a:r>
              <a:rPr>
                <a:latin typeface="Prompt" pitchFamily="2" charset="-34"/>
                <a:cs typeface="Prompt" pitchFamily="2" charset="-34"/>
              </a:rPr>
              <a:t>PHASE 4 • PRESCRIPTIVE</a:t>
            </a:r>
          </a:p>
          <a:p>
            <a:pPr>
              <a:defRPr sz="2200" b="1">
                <a:solidFill>
                  <a:srgbClr val="212529"/>
                </a:solidFill>
              </a:defRPr>
            </a:pPr>
            <a:r>
              <a:rPr>
                <a:latin typeface="Prompt" pitchFamily="2" charset="-34"/>
                <a:cs typeface="Prompt" pitchFamily="2" charset="-34"/>
              </a:rPr>
              <a:t>RFM Action Plan: แผนปฏิบัติการ 4 กลุ่มลูกค้า</a:t>
            </a:r>
          </a:p>
          <a:p>
            <a:pPr>
              <a:defRPr sz="1200">
                <a:solidFill>
                  <a:srgbClr val="6C757D"/>
                </a:solidFill>
              </a:defRPr>
            </a:pPr>
            <a:r>
              <a:rPr>
                <a:latin typeface="Prompt" pitchFamily="2" charset="-34"/>
                <a:cs typeface="Prompt" pitchFamily="2" charset="-34"/>
              </a:rPr>
              <a:t>Framework 4 ขั้น: Insight → Meaning → Action → Expected Result [อ้างอิง P3_Action_Plans]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58296"/>
            <a:ext cx="2514600" cy="3930127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C8C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37160" rIns="109728" rtlCol="0" anchor="ctr"/>
          <a:lstStyle/>
          <a:p>
            <a:pPr algn="ctr">
              <a:defRPr sz="1100" b="1">
                <a:solidFill>
                  <a:srgbClr val="4C8C4A"/>
                </a:solidFill>
              </a:defRPr>
            </a:pPr>
            <a:r>
              <a:rPr sz="1200" dirty="0">
                <a:latin typeface="Prompt" pitchFamily="2" charset="-34"/>
                <a:cs typeface="Prompt" pitchFamily="2" charset="-34"/>
              </a:rPr>
              <a:t>Champion (</a:t>
            </a:r>
            <a:r>
              <a:rPr sz="1200" dirty="0" err="1">
                <a:latin typeface="Prompt" pitchFamily="2" charset="-34"/>
                <a:cs typeface="Prompt" pitchFamily="2" charset="-34"/>
              </a:rPr>
              <a:t>ลูกค้าชั้นยอด</a:t>
            </a:r>
            <a:r>
              <a:rPr sz="1200" dirty="0">
                <a:latin typeface="Prompt" pitchFamily="2" charset="-34"/>
                <a:cs typeface="Prompt" pitchFamily="2" charset="-34"/>
              </a:rPr>
              <a:t>)</a:t>
            </a:r>
          </a:p>
          <a:p>
            <a:pPr>
              <a:defRPr sz="850">
                <a:solidFill>
                  <a:srgbClr val="212529"/>
                </a:solidFill>
              </a:defRPr>
            </a:pPr>
            <a:r>
              <a:rPr sz="1200" dirty="0">
                <a:latin typeface="Prompt" pitchFamily="2" charset="-34"/>
                <a:cs typeface="Prompt" pitchFamily="2" charset="-34"/>
              </a:rPr>
              <a:t>Plan 1: VIP Early Access</a:t>
            </a:r>
            <a:br>
              <a:rPr sz="1200" dirty="0">
                <a:latin typeface="Prompt" pitchFamily="2" charset="-34"/>
                <a:cs typeface="Prompt" pitchFamily="2" charset="-34"/>
              </a:rPr>
            </a:br>
            <a:r>
              <a:rPr sz="1200" dirty="0">
                <a:latin typeface="Prompt" pitchFamily="2" charset="-34"/>
                <a:cs typeface="Prompt" pitchFamily="2" charset="-34"/>
              </a:rPr>
              <a:t>• Insight: </a:t>
            </a:r>
            <a:r>
              <a:rPr sz="1200" dirty="0" err="1">
                <a:latin typeface="Prompt" pitchFamily="2" charset="-34"/>
                <a:cs typeface="Prompt" pitchFamily="2" charset="-34"/>
              </a:rPr>
              <a:t>ซื้อ</a:t>
            </a:r>
            <a:r>
              <a:rPr sz="1200" dirty="0">
                <a:latin typeface="Prompt" pitchFamily="2" charset="-34"/>
                <a:cs typeface="Prompt" pitchFamily="2" charset="-34"/>
              </a:rPr>
              <a:t> 5.9 </a:t>
            </a:r>
            <a:r>
              <a:rPr sz="1200" dirty="0" err="1">
                <a:latin typeface="Prompt" pitchFamily="2" charset="-34"/>
                <a:cs typeface="Prompt" pitchFamily="2" charset="-34"/>
              </a:rPr>
              <a:t>ครั้ง</a:t>
            </a:r>
            <a:r>
              <a:rPr sz="1200" dirty="0">
                <a:latin typeface="Prompt" pitchFamily="2" charset="-34"/>
                <a:cs typeface="Prompt" pitchFamily="2" charset="-34"/>
              </a:rPr>
              <a:t> </a:t>
            </a:r>
            <a:r>
              <a:rPr sz="1200" dirty="0" err="1">
                <a:latin typeface="Prompt" pitchFamily="2" charset="-34"/>
                <a:cs typeface="Prompt" pitchFamily="2" charset="-34"/>
              </a:rPr>
              <a:t>ยอด</a:t>
            </a:r>
            <a:r>
              <a:rPr sz="1200" dirty="0">
                <a:latin typeface="Prompt" pitchFamily="2" charset="-34"/>
                <a:cs typeface="Prompt" pitchFamily="2" charset="-34"/>
              </a:rPr>
              <a:t> 847 ฿ </a:t>
            </a:r>
            <a:r>
              <a:rPr sz="1200" dirty="0" err="1">
                <a:latin typeface="Prompt" pitchFamily="2" charset="-34"/>
                <a:cs typeface="Prompt" pitchFamily="2" charset="-34"/>
              </a:rPr>
              <a:t>ล่าสุด</a:t>
            </a:r>
            <a:r>
              <a:rPr sz="1200" dirty="0">
                <a:latin typeface="Prompt" pitchFamily="2" charset="-34"/>
                <a:cs typeface="Prompt" pitchFamily="2" charset="-34"/>
              </a:rPr>
              <a:t> 16 </a:t>
            </a:r>
            <a:r>
              <a:rPr sz="1200" dirty="0" err="1">
                <a:latin typeface="Prompt" pitchFamily="2" charset="-34"/>
                <a:cs typeface="Prompt" pitchFamily="2" charset="-34"/>
              </a:rPr>
              <a:t>วัน</a:t>
            </a:r>
            <a:br>
              <a:rPr sz="1200" dirty="0">
                <a:latin typeface="Prompt" pitchFamily="2" charset="-34"/>
                <a:cs typeface="Prompt" pitchFamily="2" charset="-34"/>
              </a:rPr>
            </a:br>
            <a:r>
              <a:rPr sz="1200" dirty="0">
                <a:latin typeface="Prompt" pitchFamily="2" charset="-34"/>
                <a:cs typeface="Prompt" pitchFamily="2" charset="-34"/>
              </a:rPr>
              <a:t>• Action: </a:t>
            </a:r>
            <a:r>
              <a:rPr sz="1200" dirty="0" err="1">
                <a:latin typeface="Prompt" pitchFamily="2" charset="-34"/>
                <a:cs typeface="Prompt" pitchFamily="2" charset="-34"/>
              </a:rPr>
              <a:t>สิทธิ์จองผลผลิตเกรดพิเศษล่วงหน้า</a:t>
            </a:r>
            <a:br>
              <a:rPr sz="1200" dirty="0">
                <a:latin typeface="Prompt" pitchFamily="2" charset="-34"/>
                <a:cs typeface="Prompt" pitchFamily="2" charset="-34"/>
              </a:rPr>
            </a:br>
            <a:r>
              <a:rPr sz="1200" dirty="0">
                <a:latin typeface="Prompt" pitchFamily="2" charset="-34"/>
                <a:cs typeface="Prompt" pitchFamily="2" charset="-34"/>
              </a:rPr>
              <a:t>• Result: Retention +15-20%, </a:t>
            </a:r>
            <a:r>
              <a:rPr sz="1200" dirty="0" err="1">
                <a:latin typeface="Prompt" pitchFamily="2" charset="-34"/>
                <a:cs typeface="Prompt" pitchFamily="2" charset="-34"/>
              </a:rPr>
              <a:t>บอกต่อ</a:t>
            </a:r>
            <a:endParaRPr sz="1200" dirty="0">
              <a:latin typeface="Prompt" pitchFamily="2" charset="-34"/>
              <a:cs typeface="Prompt" pitchFamily="2" charset="-34"/>
            </a:endParaRPr>
          </a:p>
          <a:p>
            <a:pPr>
              <a:defRPr sz="700">
                <a:solidFill>
                  <a:srgbClr val="DCE0E6"/>
                </a:solidFill>
              </a:defRPr>
            </a:pPr>
            <a:r>
              <a:rPr sz="1100" dirty="0">
                <a:latin typeface="Prompt" pitchFamily="2" charset="-34"/>
                <a:cs typeface="Prompt" pitchFamily="2" charset="-34"/>
              </a:rPr>
              <a:t>------------------------</a:t>
            </a:r>
          </a:p>
          <a:p>
            <a:pPr>
              <a:defRPr sz="850">
                <a:solidFill>
                  <a:srgbClr val="212529"/>
                </a:solidFill>
              </a:defRPr>
            </a:pPr>
            <a:r>
              <a:rPr sz="1200" dirty="0">
                <a:latin typeface="Prompt" pitchFamily="2" charset="-34"/>
                <a:cs typeface="Prompt" pitchFamily="2" charset="-34"/>
              </a:rPr>
              <a:t>Plan 2: Subscription Box</a:t>
            </a:r>
            <a:br>
              <a:rPr sz="1200" dirty="0">
                <a:latin typeface="Prompt" pitchFamily="2" charset="-34"/>
                <a:cs typeface="Prompt" pitchFamily="2" charset="-34"/>
              </a:rPr>
            </a:br>
            <a:r>
              <a:rPr sz="1200" dirty="0">
                <a:latin typeface="Prompt" pitchFamily="2" charset="-34"/>
                <a:cs typeface="Prompt" pitchFamily="2" charset="-34"/>
              </a:rPr>
              <a:t>• Insight: </a:t>
            </a:r>
            <a:r>
              <a:rPr sz="1200" dirty="0" err="1">
                <a:latin typeface="Prompt" pitchFamily="2" charset="-34"/>
                <a:cs typeface="Prompt" pitchFamily="2" charset="-34"/>
              </a:rPr>
              <a:t>ซื้อสม่ำเสมอทุก</a:t>
            </a:r>
            <a:r>
              <a:rPr sz="1200" dirty="0">
                <a:latin typeface="Prompt" pitchFamily="2" charset="-34"/>
                <a:cs typeface="Prompt" pitchFamily="2" charset="-34"/>
              </a:rPr>
              <a:t> 2-3 </a:t>
            </a:r>
            <a:r>
              <a:rPr sz="1200" dirty="0" err="1">
                <a:latin typeface="Prompt" pitchFamily="2" charset="-34"/>
                <a:cs typeface="Prompt" pitchFamily="2" charset="-34"/>
              </a:rPr>
              <a:t>สัปดาห์</a:t>
            </a:r>
            <a:br>
              <a:rPr sz="1200" dirty="0">
                <a:latin typeface="Prompt" pitchFamily="2" charset="-34"/>
                <a:cs typeface="Prompt" pitchFamily="2" charset="-34"/>
              </a:rPr>
            </a:br>
            <a:r>
              <a:rPr sz="1200" dirty="0">
                <a:latin typeface="Prompt" pitchFamily="2" charset="-34"/>
                <a:cs typeface="Prompt" pitchFamily="2" charset="-34"/>
              </a:rPr>
              <a:t>• Action: </a:t>
            </a:r>
            <a:r>
              <a:rPr sz="1200" dirty="0" err="1">
                <a:latin typeface="Prompt" pitchFamily="2" charset="-34"/>
                <a:cs typeface="Prompt" pitchFamily="2" charset="-34"/>
              </a:rPr>
              <a:t>สมัครส่งผักผลไม้สดรายเดือน</a:t>
            </a:r>
            <a:r>
              <a:rPr sz="1200" dirty="0">
                <a:latin typeface="Prompt" pitchFamily="2" charset="-34"/>
                <a:cs typeface="Prompt" pitchFamily="2" charset="-34"/>
              </a:rPr>
              <a:t> </a:t>
            </a:r>
            <a:r>
              <a:rPr sz="1200" dirty="0" err="1">
                <a:latin typeface="Prompt" pitchFamily="2" charset="-34"/>
                <a:cs typeface="Prompt" pitchFamily="2" charset="-34"/>
              </a:rPr>
              <a:t>ส่งฟรี</a:t>
            </a:r>
            <a:br>
              <a:rPr sz="1200" dirty="0">
                <a:latin typeface="Prompt" pitchFamily="2" charset="-34"/>
                <a:cs typeface="Prompt" pitchFamily="2" charset="-34"/>
              </a:rPr>
            </a:br>
            <a:r>
              <a:rPr sz="1200" dirty="0">
                <a:latin typeface="Prompt" pitchFamily="2" charset="-34"/>
                <a:cs typeface="Prompt" pitchFamily="2" charset="-34"/>
              </a:rPr>
              <a:t>• Result: CLV +25% </a:t>
            </a:r>
            <a:r>
              <a:rPr sz="1200" dirty="0" err="1">
                <a:latin typeface="Prompt" pitchFamily="2" charset="-34"/>
                <a:cs typeface="Prompt" pitchFamily="2" charset="-34"/>
              </a:rPr>
              <a:t>สร้าง</a:t>
            </a:r>
            <a:r>
              <a:rPr sz="1200" dirty="0">
                <a:latin typeface="Prompt" pitchFamily="2" charset="-34"/>
                <a:cs typeface="Prompt" pitchFamily="2" charset="-34"/>
              </a:rPr>
              <a:t> Predictable Cash 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29000" y="2058296"/>
            <a:ext cx="2514600" cy="3930127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88E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37160" rIns="109728" rtlCol="0" anchor="ctr"/>
          <a:lstStyle/>
          <a:p>
            <a:pPr algn="ctr">
              <a:defRPr sz="1100" b="1">
                <a:solidFill>
                  <a:srgbClr val="388E3C"/>
                </a:solidFill>
              </a:defRPr>
            </a:pPr>
            <a:r>
              <a:rPr sz="1200">
                <a:latin typeface="Prompt" pitchFamily="2" charset="-34"/>
                <a:cs typeface="Prompt" pitchFamily="2" charset="-34"/>
              </a:rPr>
              <a:t>Loyal (ลูกค้าประจำ)</a:t>
            </a:r>
          </a:p>
          <a:p>
            <a:pPr>
              <a:defRPr sz="850">
                <a:solidFill>
                  <a:srgbClr val="212529"/>
                </a:solidFill>
              </a:defRPr>
            </a:pPr>
            <a:r>
              <a:rPr sz="1200">
                <a:latin typeface="Prompt" pitchFamily="2" charset="-34"/>
                <a:cs typeface="Prompt" pitchFamily="2" charset="-34"/>
              </a:rPr>
              <a:t>Plan 1: Re-order Reminder</a:t>
            </a:r>
            <a:br>
              <a:rPr sz="1200">
                <a:latin typeface="Prompt" pitchFamily="2" charset="-34"/>
                <a:cs typeface="Prompt" pitchFamily="2" charset="-34"/>
              </a:rPr>
            </a:br>
            <a:r>
              <a:rPr sz="1200">
                <a:latin typeface="Prompt" pitchFamily="2" charset="-34"/>
                <a:cs typeface="Prompt" pitchFamily="2" charset="-34"/>
              </a:rPr>
              <a:t>• Insight: ซื้อ 4.8 ครั้ง ยอด 590 ฿ ห่างไป 61 วัน</a:t>
            </a:r>
            <a:br>
              <a:rPr sz="1200">
                <a:latin typeface="Prompt" pitchFamily="2" charset="-34"/>
                <a:cs typeface="Prompt" pitchFamily="2" charset="-34"/>
              </a:rPr>
            </a:br>
            <a:r>
              <a:rPr sz="1200">
                <a:latin typeface="Prompt" pitchFamily="2" charset="-34"/>
                <a:cs typeface="Prompt" pitchFamily="2" charset="-34"/>
              </a:rPr>
              <a:t>• Action: LINE OA เตือนเติมของสดพร้อมส่งฟรี</a:t>
            </a:r>
            <a:br>
              <a:rPr sz="1200">
                <a:latin typeface="Prompt" pitchFamily="2" charset="-34"/>
                <a:cs typeface="Prompt" pitchFamily="2" charset="-34"/>
              </a:rPr>
            </a:br>
            <a:r>
              <a:rPr sz="1200">
                <a:latin typeface="Prompt" pitchFamily="2" charset="-34"/>
                <a:cs typeface="Prompt" pitchFamily="2" charset="-34"/>
              </a:rPr>
              <a:t>• Result: ดึงกลับมาซื้อซ้ำใน 14 วัน +30%</a:t>
            </a:r>
          </a:p>
          <a:p>
            <a:pPr>
              <a:defRPr sz="700">
                <a:solidFill>
                  <a:srgbClr val="DCE0E6"/>
                </a:solidFill>
              </a:defRPr>
            </a:pPr>
            <a:r>
              <a:rPr sz="1100">
                <a:latin typeface="Prompt" pitchFamily="2" charset="-34"/>
                <a:cs typeface="Prompt" pitchFamily="2" charset="-34"/>
              </a:rPr>
              <a:t>------------------------</a:t>
            </a:r>
          </a:p>
          <a:p>
            <a:pPr>
              <a:defRPr sz="850">
                <a:solidFill>
                  <a:srgbClr val="212529"/>
                </a:solidFill>
              </a:defRPr>
            </a:pPr>
            <a:r>
              <a:rPr sz="1200">
                <a:latin typeface="Prompt" pitchFamily="2" charset="-34"/>
                <a:cs typeface="Prompt" pitchFamily="2" charset="-34"/>
              </a:rPr>
              <a:t>Plan 2: Upsell สู่ Champion</a:t>
            </a:r>
            <a:br>
              <a:rPr sz="1200">
                <a:latin typeface="Prompt" pitchFamily="2" charset="-34"/>
                <a:cs typeface="Prompt" pitchFamily="2" charset="-34"/>
              </a:rPr>
            </a:br>
            <a:r>
              <a:rPr sz="1200">
                <a:latin typeface="Prompt" pitchFamily="2" charset="-34"/>
                <a:cs typeface="Prompt" pitchFamily="2" charset="-34"/>
              </a:rPr>
              <a:t>• Insight: ยอดต่อบิลยังต่ำกว่า Champion</a:t>
            </a:r>
            <a:br>
              <a:rPr sz="1200">
                <a:latin typeface="Prompt" pitchFamily="2" charset="-34"/>
                <a:cs typeface="Prompt" pitchFamily="2" charset="-34"/>
              </a:rPr>
            </a:br>
            <a:r>
              <a:rPr sz="1200">
                <a:latin typeface="Prompt" pitchFamily="2" charset="-34"/>
                <a:cs typeface="Prompt" pitchFamily="2" charset="-34"/>
              </a:rPr>
              <a:t>• Action: สั่งครบ 400 ฿ รับฟรีผลไม้ตามฤดูกาล</a:t>
            </a:r>
            <a:br>
              <a:rPr sz="1200">
                <a:latin typeface="Prompt" pitchFamily="2" charset="-34"/>
                <a:cs typeface="Prompt" pitchFamily="2" charset="-34"/>
              </a:rPr>
            </a:br>
            <a:r>
              <a:rPr sz="1200">
                <a:latin typeface="Prompt" pitchFamily="2" charset="-34"/>
                <a:cs typeface="Prompt" pitchFamily="2" charset="-34"/>
              </a:rPr>
              <a:t>• Result: AOV เพิ่มขึ้น 20%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2058296"/>
            <a:ext cx="2514600" cy="3930127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37160" rIns="109728" rtlCol="0" anchor="ctr"/>
          <a:lstStyle/>
          <a:p>
            <a:pPr algn="ctr">
              <a:defRPr sz="1100" b="1">
                <a:solidFill>
                  <a:srgbClr val="1976D2"/>
                </a:solidFill>
              </a:defRPr>
            </a:pPr>
            <a:r>
              <a:rPr sz="1200">
                <a:latin typeface="Prompt" pitchFamily="2" charset="-34"/>
                <a:cs typeface="Prompt" pitchFamily="2" charset="-34"/>
              </a:rPr>
              <a:t>Growing (ลูกค้ากำลังเติบโต)</a:t>
            </a:r>
          </a:p>
          <a:p>
            <a:pPr>
              <a:defRPr sz="850">
                <a:solidFill>
                  <a:srgbClr val="212529"/>
                </a:solidFill>
              </a:defRPr>
            </a:pPr>
            <a:r>
              <a:rPr sz="1200">
                <a:latin typeface="Prompt" pitchFamily="2" charset="-34"/>
                <a:cs typeface="Prompt" pitchFamily="2" charset="-34"/>
              </a:rPr>
              <a:t>Plan 1: Second-Order Voucher</a:t>
            </a:r>
            <a:br>
              <a:rPr sz="1200">
                <a:latin typeface="Prompt" pitchFamily="2" charset="-34"/>
                <a:cs typeface="Prompt" pitchFamily="2" charset="-34"/>
              </a:rPr>
            </a:br>
            <a:r>
              <a:rPr sz="1200">
                <a:latin typeface="Prompt" pitchFamily="2" charset="-34"/>
                <a:cs typeface="Prompt" pitchFamily="2" charset="-34"/>
              </a:rPr>
              <a:t>• Insight: ซื้อล่าสุด 20 วัน ความถี่ 2.2 ยอด 291 ฿</a:t>
            </a:r>
            <a:br>
              <a:rPr sz="1200">
                <a:latin typeface="Prompt" pitchFamily="2" charset="-34"/>
                <a:cs typeface="Prompt" pitchFamily="2" charset="-34"/>
              </a:rPr>
            </a:br>
            <a:r>
              <a:rPr sz="1200">
                <a:latin typeface="Prompt" pitchFamily="2" charset="-34"/>
                <a:cs typeface="Prompt" pitchFamily="2" charset="-34"/>
              </a:rPr>
              <a:t>• Action: ส่งคูปองลด 50 ฿ สั่งรอบ 2 ใน 15 วัน</a:t>
            </a:r>
            <a:br>
              <a:rPr sz="1200">
                <a:latin typeface="Prompt" pitchFamily="2" charset="-34"/>
                <a:cs typeface="Prompt" pitchFamily="2" charset="-34"/>
              </a:rPr>
            </a:br>
            <a:r>
              <a:rPr sz="1200">
                <a:latin typeface="Prompt" pitchFamily="2" charset="-34"/>
                <a:cs typeface="Prompt" pitchFamily="2" charset="-34"/>
              </a:rPr>
              <a:t>• Result: Conversion ซื้อรอบ 2 โต 20% → 40%</a:t>
            </a:r>
          </a:p>
          <a:p>
            <a:pPr>
              <a:defRPr sz="700">
                <a:solidFill>
                  <a:srgbClr val="DCE0E6"/>
                </a:solidFill>
              </a:defRPr>
            </a:pPr>
            <a:r>
              <a:rPr sz="1100">
                <a:latin typeface="Prompt" pitchFamily="2" charset="-34"/>
                <a:cs typeface="Prompt" pitchFamily="2" charset="-34"/>
              </a:rPr>
              <a:t>------------------------</a:t>
            </a:r>
          </a:p>
          <a:p>
            <a:pPr>
              <a:defRPr sz="850">
                <a:solidFill>
                  <a:srgbClr val="212529"/>
                </a:solidFill>
              </a:defRPr>
            </a:pPr>
            <a:r>
              <a:rPr sz="1200">
                <a:latin typeface="Prompt" pitchFamily="2" charset="-34"/>
                <a:cs typeface="Prompt" pitchFamily="2" charset="-34"/>
              </a:rPr>
              <a:t>Plan 2: ถนอมอาหาร &amp; เมนู</a:t>
            </a:r>
            <a:br>
              <a:rPr sz="1200">
                <a:latin typeface="Prompt" pitchFamily="2" charset="-34"/>
                <a:cs typeface="Prompt" pitchFamily="2" charset="-34"/>
              </a:rPr>
            </a:br>
            <a:r>
              <a:rPr sz="1200">
                <a:latin typeface="Prompt" pitchFamily="2" charset="-34"/>
                <a:cs typeface="Prompt" pitchFamily="2" charset="-34"/>
              </a:rPr>
              <a:t>• Insight: เพิ่งเริ่มซื้อผักผลไม้ออร์แกนิก</a:t>
            </a:r>
            <a:br>
              <a:rPr sz="1200">
                <a:latin typeface="Prompt" pitchFamily="2" charset="-34"/>
                <a:cs typeface="Prompt" pitchFamily="2" charset="-34"/>
              </a:rPr>
            </a:br>
            <a:r>
              <a:rPr sz="1200">
                <a:latin typeface="Prompt" pitchFamily="2" charset="-34"/>
                <a:cs typeface="Prompt" pitchFamily="2" charset="-34"/>
              </a:rPr>
              <a:t>• Action: บรอดแคสต์วิธีเก็บผักสด &amp; เมนูคลีน</a:t>
            </a:r>
            <a:br>
              <a:rPr sz="1200">
                <a:latin typeface="Prompt" pitchFamily="2" charset="-34"/>
                <a:cs typeface="Prompt" pitchFamily="2" charset="-34"/>
              </a:rPr>
            </a:br>
            <a:r>
              <a:rPr sz="1200">
                <a:latin typeface="Prompt" pitchFamily="2" charset="-34"/>
                <a:cs typeface="Prompt" pitchFamily="2" charset="-34"/>
              </a:rPr>
              <a:t>• Result: เพิ่ม Engagement รอบบริโภคถี่ขึ้น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823960" y="2058296"/>
            <a:ext cx="2514600" cy="3930127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32F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37160" rIns="109728" rtlCol="0" anchor="ctr"/>
          <a:lstStyle/>
          <a:p>
            <a:pPr algn="ctr">
              <a:defRPr sz="1100" b="1">
                <a:solidFill>
                  <a:srgbClr val="D32F2F"/>
                </a:solidFill>
              </a:defRPr>
            </a:pPr>
            <a:r>
              <a:rPr sz="1200">
                <a:latin typeface="Prompt" pitchFamily="2" charset="-34"/>
                <a:cs typeface="Prompt" pitchFamily="2" charset="-34"/>
              </a:rPr>
              <a:t>At-Risk (ลูกค้าเสี่ยงหาย)</a:t>
            </a:r>
          </a:p>
          <a:p>
            <a:pPr>
              <a:defRPr sz="850">
                <a:solidFill>
                  <a:srgbClr val="212529"/>
                </a:solidFill>
              </a:defRPr>
            </a:pPr>
            <a:r>
              <a:rPr sz="1200">
                <a:latin typeface="Prompt" pitchFamily="2" charset="-34"/>
                <a:cs typeface="Prompt" pitchFamily="2" charset="-34"/>
              </a:rPr>
              <a:t>Plan 1: Win-Back Campaign</a:t>
            </a:r>
            <a:br>
              <a:rPr sz="1200">
                <a:latin typeface="Prompt" pitchFamily="2" charset="-34"/>
                <a:cs typeface="Prompt" pitchFamily="2" charset="-34"/>
              </a:rPr>
            </a:br>
            <a:r>
              <a:rPr sz="1200">
                <a:latin typeface="Prompt" pitchFamily="2" charset="-34"/>
                <a:cs typeface="Prompt" pitchFamily="2" charset="-34"/>
              </a:rPr>
              <a:t>• Insight: ไม่ซื้อเฉลี่ย 82 วัน ยอดต่ำ 237 ฿</a:t>
            </a:r>
            <a:br>
              <a:rPr sz="1200">
                <a:latin typeface="Prompt" pitchFamily="2" charset="-34"/>
                <a:cs typeface="Prompt" pitchFamily="2" charset="-34"/>
              </a:rPr>
            </a:br>
            <a:r>
              <a:rPr sz="1200">
                <a:latin typeface="Prompt" pitchFamily="2" charset="-34"/>
                <a:cs typeface="Prompt" pitchFamily="2" charset="-34"/>
              </a:rPr>
              <a:t>• Action: SMS/LINE แจกโค้ดลด 15% ส่งฟรีใน 7 วัน</a:t>
            </a:r>
            <a:br>
              <a:rPr sz="1200">
                <a:latin typeface="Prompt" pitchFamily="2" charset="-34"/>
                <a:cs typeface="Prompt" pitchFamily="2" charset="-34"/>
              </a:rPr>
            </a:br>
            <a:r>
              <a:rPr sz="1200">
                <a:latin typeface="Prompt" pitchFamily="2" charset="-34"/>
                <a:cs typeface="Prompt" pitchFamily="2" charset="-34"/>
              </a:rPr>
              <a:t>• Result: ดึงลูกค้าเก่ากลับมาซื้อ 10-15%</a:t>
            </a:r>
          </a:p>
          <a:p>
            <a:pPr>
              <a:defRPr sz="700">
                <a:solidFill>
                  <a:srgbClr val="DCE0E6"/>
                </a:solidFill>
              </a:defRPr>
            </a:pPr>
            <a:r>
              <a:rPr sz="1100">
                <a:latin typeface="Prompt" pitchFamily="2" charset="-34"/>
                <a:cs typeface="Prompt" pitchFamily="2" charset="-34"/>
              </a:rPr>
              <a:t>------------------------</a:t>
            </a:r>
          </a:p>
          <a:p>
            <a:pPr>
              <a:defRPr sz="850">
                <a:solidFill>
                  <a:srgbClr val="212529"/>
                </a:solidFill>
              </a:defRPr>
            </a:pPr>
            <a:r>
              <a:rPr sz="1200">
                <a:latin typeface="Prompt" pitchFamily="2" charset="-34"/>
                <a:cs typeface="Prompt" pitchFamily="2" charset="-34"/>
              </a:rPr>
              <a:t>Plan 2: Feedback Survey</a:t>
            </a:r>
            <a:br>
              <a:rPr sz="1200">
                <a:latin typeface="Prompt" pitchFamily="2" charset="-34"/>
                <a:cs typeface="Prompt" pitchFamily="2" charset="-34"/>
              </a:rPr>
            </a:br>
            <a:r>
              <a:rPr sz="1200">
                <a:latin typeface="Prompt" pitchFamily="2" charset="-34"/>
                <a:cs typeface="Prompt" pitchFamily="2" charset="-34"/>
              </a:rPr>
              <a:t>• Insight: ซื้อ 1-2 ครั้งแล้วหยุดสั่งซื้อ</a:t>
            </a:r>
            <a:br>
              <a:rPr sz="1200">
                <a:latin typeface="Prompt" pitchFamily="2" charset="-34"/>
                <a:cs typeface="Prompt" pitchFamily="2" charset="-34"/>
              </a:rPr>
            </a:br>
            <a:r>
              <a:rPr sz="1200">
                <a:latin typeface="Prompt" pitchFamily="2" charset="-34"/>
                <a:cs typeface="Prompt" pitchFamily="2" charset="-34"/>
              </a:rPr>
              <a:t>• Action: แบบสอบถาม 3 ข้อสั้นๆ แลกคูปองส่วนลด</a:t>
            </a:r>
            <a:br>
              <a:rPr sz="1200">
                <a:latin typeface="Prompt" pitchFamily="2" charset="-34"/>
                <a:cs typeface="Prompt" pitchFamily="2" charset="-34"/>
              </a:rPr>
            </a:br>
            <a:r>
              <a:rPr sz="1200">
                <a:latin typeface="Prompt" pitchFamily="2" charset="-34"/>
                <a:cs typeface="Prompt" pitchFamily="2" charset="-34"/>
              </a:rPr>
              <a:t>• Result: ได้ข้อเท็จจริงปรับปรุงบริการ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>
              <a:noFill/>
              <a:latin typeface="Prompt" pitchFamily="2" charset="-34"/>
              <a:cs typeface="Prompt" pitchFamily="2" charset="-3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499889"/>
            <a:ext cx="10698480" cy="69249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4C8C4A"/>
                </a:solidFill>
              </a:defRPr>
            </a:pPr>
            <a:r>
              <a:rPr dirty="0">
                <a:latin typeface="Prompt" pitchFamily="2" charset="-34"/>
                <a:cs typeface="Prompt" pitchFamily="2" charset="-34"/>
              </a:rPr>
              <a:t>PHASE 4 • PRESCRIPTIVE</a:t>
            </a:r>
          </a:p>
          <a:p>
            <a:pPr>
              <a:defRPr sz="2200" b="1">
                <a:solidFill>
                  <a:srgbClr val="212529"/>
                </a:solidFill>
              </a:defRPr>
            </a:pPr>
            <a:r>
              <a:rPr dirty="0">
                <a:latin typeface="Prompt" pitchFamily="2" charset="-34"/>
                <a:cs typeface="Prompt" pitchFamily="2" charset="-34"/>
              </a:rPr>
              <a:t>BCG Action Plan: </a:t>
            </a:r>
            <a:r>
              <a:rPr dirty="0" err="1">
                <a:latin typeface="Prompt" pitchFamily="2" charset="-34"/>
                <a:cs typeface="Prompt" pitchFamily="2" charset="-34"/>
              </a:rPr>
              <a:t>แผนบริหาร</a:t>
            </a:r>
            <a:r>
              <a:rPr dirty="0">
                <a:latin typeface="Prompt" pitchFamily="2" charset="-34"/>
                <a:cs typeface="Prompt" pitchFamily="2" charset="-34"/>
              </a:rPr>
              <a:t> 4 </a:t>
            </a:r>
            <a:r>
              <a:rPr dirty="0" err="1">
                <a:latin typeface="Prompt" pitchFamily="2" charset="-34"/>
                <a:cs typeface="Prompt" pitchFamily="2" charset="-34"/>
              </a:rPr>
              <a:t>พอร์ตสินค้า</a:t>
            </a:r>
            <a:endParaRPr dirty="0">
              <a:latin typeface="Prompt" pitchFamily="2" charset="-34"/>
              <a:cs typeface="Prompt" pitchFamily="2" charset="-34"/>
            </a:endParaRPr>
          </a:p>
          <a:p>
            <a:pPr>
              <a:defRPr sz="1200">
                <a:solidFill>
                  <a:srgbClr val="6C757D"/>
                </a:solidFill>
              </a:defRPr>
            </a:pPr>
            <a:r>
              <a:rPr dirty="0">
                <a:latin typeface="Prompt" pitchFamily="2" charset="-34"/>
                <a:cs typeface="Prompt" pitchFamily="2" charset="-34"/>
              </a:rPr>
              <a:t>Framework 4 </a:t>
            </a:r>
            <a:r>
              <a:rPr dirty="0" err="1">
                <a:latin typeface="Prompt" pitchFamily="2" charset="-34"/>
                <a:cs typeface="Prompt" pitchFamily="2" charset="-34"/>
              </a:rPr>
              <a:t>ขั้น</a:t>
            </a:r>
            <a:r>
              <a:rPr dirty="0">
                <a:latin typeface="Prompt" pitchFamily="2" charset="-34"/>
                <a:cs typeface="Prompt" pitchFamily="2" charset="-34"/>
              </a:rPr>
              <a:t>: Insight → Meaning → Action → Expected Result [</a:t>
            </a:r>
            <a:r>
              <a:rPr dirty="0" err="1">
                <a:latin typeface="Prompt" pitchFamily="2" charset="-34"/>
                <a:cs typeface="Prompt" pitchFamily="2" charset="-34"/>
              </a:rPr>
              <a:t>อ้างอิง</a:t>
            </a:r>
            <a:r>
              <a:rPr dirty="0">
                <a:latin typeface="Prompt" pitchFamily="2" charset="-34"/>
                <a:cs typeface="Prompt" pitchFamily="2" charset="-34"/>
              </a:rPr>
              <a:t> P3_Action_Plans]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64374"/>
            <a:ext cx="2514600" cy="353051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37160" rIns="109728" rtlCol="0" anchor="ctr"/>
          <a:lstStyle/>
          <a:p>
            <a:pPr algn="ctr">
              <a:defRPr sz="1100" b="1">
                <a:solidFill>
                  <a:srgbClr val="E65100"/>
                </a:solidFill>
              </a:defRPr>
            </a:pPr>
            <a:r>
              <a:rPr sz="1200" dirty="0">
                <a:latin typeface="Prompt" pitchFamily="2" charset="-34"/>
                <a:cs typeface="Prompt" pitchFamily="2" charset="-34"/>
              </a:rPr>
              <a:t>Star (</a:t>
            </a:r>
            <a:r>
              <a:rPr sz="1200" dirty="0" err="1">
                <a:latin typeface="Prompt" pitchFamily="2" charset="-34"/>
                <a:cs typeface="Prompt" pitchFamily="2" charset="-34"/>
              </a:rPr>
              <a:t>ดาวรุ่ง</a:t>
            </a:r>
            <a:r>
              <a:rPr sz="1200" dirty="0">
                <a:latin typeface="Prompt" pitchFamily="2" charset="-34"/>
                <a:cs typeface="Prompt" pitchFamily="2" charset="-34"/>
              </a:rPr>
              <a:t>)</a:t>
            </a:r>
          </a:p>
          <a:p>
            <a:pPr>
              <a:defRPr sz="850">
                <a:solidFill>
                  <a:srgbClr val="212529"/>
                </a:solidFill>
              </a:defRPr>
            </a:pPr>
            <a:r>
              <a:rPr sz="1100" dirty="0">
                <a:latin typeface="Prompt" pitchFamily="2" charset="-34"/>
                <a:cs typeface="Prompt" pitchFamily="2" charset="-34"/>
              </a:rPr>
              <a:t>Plan 1: Scale &amp; Promote</a:t>
            </a:r>
            <a:br>
              <a:rPr sz="1100" dirty="0">
                <a:latin typeface="Prompt" pitchFamily="2" charset="-34"/>
                <a:cs typeface="Prompt" pitchFamily="2" charset="-34"/>
              </a:rPr>
            </a:br>
            <a:r>
              <a:rPr sz="1100" dirty="0">
                <a:latin typeface="Prompt" pitchFamily="2" charset="-34"/>
                <a:cs typeface="Prompt" pitchFamily="2" charset="-34"/>
              </a:rPr>
              <a:t>• Insight: </a:t>
            </a:r>
            <a:r>
              <a:rPr sz="1100" dirty="0" err="1">
                <a:latin typeface="Prompt" pitchFamily="2" charset="-34"/>
                <a:cs typeface="Prompt" pitchFamily="2" charset="-34"/>
              </a:rPr>
              <a:t>โต</a:t>
            </a:r>
            <a:r>
              <a:rPr sz="1100" dirty="0">
                <a:latin typeface="Prompt" pitchFamily="2" charset="-34"/>
                <a:cs typeface="Prompt" pitchFamily="2" charset="-34"/>
              </a:rPr>
              <a:t> +278% </a:t>
            </a:r>
            <a:r>
              <a:rPr sz="1100" dirty="0" err="1">
                <a:latin typeface="Prompt" pitchFamily="2" charset="-34"/>
                <a:cs typeface="Prompt" pitchFamily="2" charset="-34"/>
              </a:rPr>
              <a:t>แชร์</a:t>
            </a:r>
            <a:r>
              <a:rPr sz="1100" dirty="0">
                <a:latin typeface="Prompt" pitchFamily="2" charset="-34"/>
                <a:cs typeface="Prompt" pitchFamily="2" charset="-34"/>
              </a:rPr>
              <a:t> 8.7% (</a:t>
            </a:r>
            <a:r>
              <a:rPr sz="1100" dirty="0" err="1">
                <a:latin typeface="Prompt" pitchFamily="2" charset="-34"/>
                <a:cs typeface="Prompt" pitchFamily="2" charset="-34"/>
              </a:rPr>
              <a:t>ชีส</a:t>
            </a:r>
            <a:r>
              <a:rPr sz="1100" dirty="0">
                <a:latin typeface="Prompt" pitchFamily="2" charset="-34"/>
                <a:cs typeface="Prompt" pitchFamily="2" charset="-34"/>
              </a:rPr>
              <a:t>, </a:t>
            </a:r>
            <a:r>
              <a:rPr sz="1100" dirty="0" err="1">
                <a:latin typeface="Prompt" pitchFamily="2" charset="-34"/>
                <a:cs typeface="Prompt" pitchFamily="2" charset="-34"/>
              </a:rPr>
              <a:t>อะโวคาโด</a:t>
            </a:r>
            <a:r>
              <a:rPr sz="1100" dirty="0">
                <a:latin typeface="Prompt" pitchFamily="2" charset="-34"/>
                <a:cs typeface="Prompt" pitchFamily="2" charset="-34"/>
              </a:rPr>
              <a:t>)</a:t>
            </a:r>
            <a:br>
              <a:rPr sz="1100" dirty="0">
                <a:latin typeface="Prompt" pitchFamily="2" charset="-34"/>
                <a:cs typeface="Prompt" pitchFamily="2" charset="-34"/>
              </a:rPr>
            </a:br>
            <a:r>
              <a:rPr sz="1100" dirty="0">
                <a:latin typeface="Prompt" pitchFamily="2" charset="-34"/>
                <a:cs typeface="Prompt" pitchFamily="2" charset="-34"/>
              </a:rPr>
              <a:t>• Action: </a:t>
            </a:r>
            <a:r>
              <a:rPr sz="1100" dirty="0" err="1">
                <a:latin typeface="Prompt" pitchFamily="2" charset="-34"/>
                <a:cs typeface="Prompt" pitchFamily="2" charset="-34"/>
              </a:rPr>
              <a:t>เพิ่มสต็อก</a:t>
            </a:r>
            <a:r>
              <a:rPr sz="1100" dirty="0">
                <a:latin typeface="Prompt" pitchFamily="2" charset="-34"/>
                <a:cs typeface="Prompt" pitchFamily="2" charset="-34"/>
              </a:rPr>
              <a:t> 35% + </a:t>
            </a:r>
            <a:r>
              <a:rPr sz="1100" dirty="0" err="1">
                <a:latin typeface="Prompt" pitchFamily="2" charset="-34"/>
                <a:cs typeface="Prompt" pitchFamily="2" charset="-34"/>
              </a:rPr>
              <a:t>ยิงแอด</a:t>
            </a:r>
            <a:r>
              <a:rPr sz="1100" dirty="0">
                <a:latin typeface="Prompt" pitchFamily="2" charset="-34"/>
                <a:cs typeface="Prompt" pitchFamily="2" charset="-34"/>
              </a:rPr>
              <a:t> TikTok/Meta</a:t>
            </a:r>
            <a:br>
              <a:rPr sz="1100" dirty="0">
                <a:latin typeface="Prompt" pitchFamily="2" charset="-34"/>
                <a:cs typeface="Prompt" pitchFamily="2" charset="-34"/>
              </a:rPr>
            </a:br>
            <a:r>
              <a:rPr sz="1100" dirty="0">
                <a:latin typeface="Prompt" pitchFamily="2" charset="-34"/>
                <a:cs typeface="Prompt" pitchFamily="2" charset="-34"/>
              </a:rPr>
              <a:t>• Result: </a:t>
            </a:r>
            <a:r>
              <a:rPr sz="1100" dirty="0" err="1">
                <a:latin typeface="Prompt" pitchFamily="2" charset="-34"/>
                <a:cs typeface="Prompt" pitchFamily="2" charset="-34"/>
              </a:rPr>
              <a:t>ยอดขายไตรมาสถัดไป</a:t>
            </a:r>
            <a:r>
              <a:rPr sz="1100" dirty="0">
                <a:latin typeface="Prompt" pitchFamily="2" charset="-34"/>
                <a:cs typeface="Prompt" pitchFamily="2" charset="-34"/>
              </a:rPr>
              <a:t> +25%</a:t>
            </a:r>
          </a:p>
          <a:p>
            <a:pPr>
              <a:defRPr sz="700">
                <a:solidFill>
                  <a:srgbClr val="DCE0E6"/>
                </a:solidFill>
              </a:defRPr>
            </a:pPr>
            <a:r>
              <a:rPr sz="900" dirty="0">
                <a:latin typeface="Prompt" pitchFamily="2" charset="-34"/>
                <a:cs typeface="Prompt" pitchFamily="2" charset="-34"/>
              </a:rPr>
              <a:t>------------------------</a:t>
            </a:r>
          </a:p>
          <a:p>
            <a:pPr>
              <a:defRPr sz="850">
                <a:solidFill>
                  <a:srgbClr val="212529"/>
                </a:solidFill>
              </a:defRPr>
            </a:pPr>
            <a:r>
              <a:rPr sz="1100" dirty="0">
                <a:latin typeface="Prompt" pitchFamily="2" charset="-34"/>
                <a:cs typeface="Prompt" pitchFamily="2" charset="-34"/>
              </a:rPr>
              <a:t>Plan 2: Cross-selling </a:t>
            </a:r>
            <a:r>
              <a:rPr sz="1100" dirty="0" err="1">
                <a:latin typeface="Prompt" pitchFamily="2" charset="-34"/>
                <a:cs typeface="Prompt" pitchFamily="2" charset="-34"/>
              </a:rPr>
              <a:t>พ่วงสินค้าอื่น</a:t>
            </a:r>
            <a:br>
              <a:rPr sz="1100" dirty="0">
                <a:latin typeface="Prompt" pitchFamily="2" charset="-34"/>
                <a:cs typeface="Prompt" pitchFamily="2" charset="-34"/>
              </a:rPr>
            </a:br>
            <a:r>
              <a:rPr sz="1100" dirty="0">
                <a:latin typeface="Prompt" pitchFamily="2" charset="-34"/>
                <a:cs typeface="Prompt" pitchFamily="2" charset="-34"/>
              </a:rPr>
              <a:t>• Insight: </a:t>
            </a:r>
            <a:r>
              <a:rPr sz="1100" dirty="0" err="1">
                <a:latin typeface="Prompt" pitchFamily="2" charset="-34"/>
                <a:cs typeface="Prompt" pitchFamily="2" charset="-34"/>
              </a:rPr>
              <a:t>เป็นสินค้าดึง</a:t>
            </a:r>
            <a:r>
              <a:rPr sz="1100" dirty="0">
                <a:latin typeface="Prompt" pitchFamily="2" charset="-34"/>
                <a:cs typeface="Prompt" pitchFamily="2" charset="-34"/>
              </a:rPr>
              <a:t> Traffic </a:t>
            </a:r>
            <a:r>
              <a:rPr sz="1100" dirty="0" err="1">
                <a:latin typeface="Prompt" pitchFamily="2" charset="-34"/>
                <a:cs typeface="Prompt" pitchFamily="2" charset="-34"/>
              </a:rPr>
              <a:t>แรกของร้าน</a:t>
            </a:r>
            <a:br>
              <a:rPr sz="1100" dirty="0">
                <a:latin typeface="Prompt" pitchFamily="2" charset="-34"/>
                <a:cs typeface="Prompt" pitchFamily="2" charset="-34"/>
              </a:rPr>
            </a:br>
            <a:r>
              <a:rPr sz="1100" dirty="0">
                <a:latin typeface="Prompt" pitchFamily="2" charset="-34"/>
                <a:cs typeface="Prompt" pitchFamily="2" charset="-34"/>
              </a:rPr>
              <a:t>• Action: </a:t>
            </a:r>
            <a:r>
              <a:rPr sz="1100" dirty="0" err="1">
                <a:latin typeface="Prompt" pitchFamily="2" charset="-34"/>
                <a:cs typeface="Prompt" pitchFamily="2" charset="-34"/>
              </a:rPr>
              <a:t>ซื้อชีส</a:t>
            </a:r>
            <a:r>
              <a:rPr sz="1100" dirty="0">
                <a:latin typeface="Prompt" pitchFamily="2" charset="-34"/>
                <a:cs typeface="Prompt" pitchFamily="2" charset="-34"/>
              </a:rPr>
              <a:t>/</a:t>
            </a:r>
            <a:r>
              <a:rPr sz="1100" dirty="0" err="1">
                <a:latin typeface="Prompt" pitchFamily="2" charset="-34"/>
                <a:cs typeface="Prompt" pitchFamily="2" charset="-34"/>
              </a:rPr>
              <a:t>อะโวคาโด</a:t>
            </a:r>
            <a:r>
              <a:rPr sz="1100" dirty="0">
                <a:latin typeface="Prompt" pitchFamily="2" charset="-34"/>
                <a:cs typeface="Prompt" pitchFamily="2" charset="-34"/>
              </a:rPr>
              <a:t> </a:t>
            </a:r>
            <a:r>
              <a:rPr sz="1100" dirty="0" err="1">
                <a:latin typeface="Prompt" pitchFamily="2" charset="-34"/>
                <a:cs typeface="Prompt" pitchFamily="2" charset="-34"/>
              </a:rPr>
              <a:t>แลกซื้อผักสลัดลด</a:t>
            </a:r>
            <a:r>
              <a:rPr sz="1100" dirty="0">
                <a:latin typeface="Prompt" pitchFamily="2" charset="-34"/>
                <a:cs typeface="Prompt" pitchFamily="2" charset="-34"/>
              </a:rPr>
              <a:t> 50%</a:t>
            </a:r>
            <a:br>
              <a:rPr sz="1100" dirty="0">
                <a:latin typeface="Prompt" pitchFamily="2" charset="-34"/>
                <a:cs typeface="Prompt" pitchFamily="2" charset="-34"/>
              </a:rPr>
            </a:br>
            <a:r>
              <a:rPr sz="1100" dirty="0">
                <a:latin typeface="Prompt" pitchFamily="2" charset="-34"/>
                <a:cs typeface="Prompt" pitchFamily="2" charset="-34"/>
              </a:rPr>
              <a:t>• Result: </a:t>
            </a:r>
            <a:r>
              <a:rPr sz="1100" dirty="0" err="1">
                <a:latin typeface="Prompt" pitchFamily="2" charset="-34"/>
                <a:cs typeface="Prompt" pitchFamily="2" charset="-34"/>
              </a:rPr>
              <a:t>เพิ่มยอดต่อบิล</a:t>
            </a:r>
            <a:r>
              <a:rPr sz="1100" dirty="0">
                <a:latin typeface="Prompt" pitchFamily="2" charset="-34"/>
                <a:cs typeface="Prompt" pitchFamily="2" charset="-34"/>
              </a:rPr>
              <a:t> (Basket Size) +18%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29000" y="2064374"/>
            <a:ext cx="2514600" cy="353051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37160" rIns="109728" rtlCol="0" anchor="ctr"/>
          <a:lstStyle/>
          <a:p>
            <a:pPr algn="ctr">
              <a:defRPr sz="1100" b="1">
                <a:solidFill>
                  <a:srgbClr val="2E7D32"/>
                </a:solidFill>
              </a:defRPr>
            </a:pPr>
            <a:r>
              <a:rPr sz="1200">
                <a:latin typeface="Prompt" pitchFamily="2" charset="-34"/>
                <a:cs typeface="Prompt" pitchFamily="2" charset="-34"/>
              </a:rPr>
              <a:t>Cash Cow (วัวเงิน)</a:t>
            </a:r>
          </a:p>
          <a:p>
            <a:pPr>
              <a:defRPr sz="850">
                <a:solidFill>
                  <a:srgbClr val="212529"/>
                </a:solidFill>
              </a:defRPr>
            </a:pPr>
            <a:r>
              <a:rPr sz="1100">
                <a:latin typeface="Prompt" pitchFamily="2" charset="-34"/>
                <a:cs typeface="Prompt" pitchFamily="2" charset="-34"/>
              </a:rPr>
              <a:t>Plan 1: Maximize Margin</a:t>
            </a:r>
            <a:br>
              <a:rPr sz="1100">
                <a:latin typeface="Prompt" pitchFamily="2" charset="-34"/>
                <a:cs typeface="Prompt" pitchFamily="2" charset="-34"/>
              </a:rPr>
            </a:br>
            <a:r>
              <a:rPr sz="1100">
                <a:latin typeface="Prompt" pitchFamily="2" charset="-34"/>
                <a:cs typeface="Prompt" pitchFamily="2" charset="-34"/>
              </a:rPr>
              <a:t>• Insight: ครอง 19.7% ยอดขาย โตคงที่ 234%</a:t>
            </a:r>
            <a:br>
              <a:rPr sz="1100">
                <a:latin typeface="Prompt" pitchFamily="2" charset="-34"/>
                <a:cs typeface="Prompt" pitchFamily="2" charset="-34"/>
              </a:rPr>
            </a:br>
            <a:r>
              <a:rPr sz="1100">
                <a:latin typeface="Prompt" pitchFamily="2" charset="-34"/>
                <a:cs typeface="Prompt" pitchFamily="2" charset="-34"/>
              </a:rPr>
              <a:t>• Action: ซื้อเหมาล็อตใหญ่ขอลดต้นทุน 5-8%</a:t>
            </a:r>
            <a:br>
              <a:rPr sz="1100">
                <a:latin typeface="Prompt" pitchFamily="2" charset="-34"/>
                <a:cs typeface="Prompt" pitchFamily="2" charset="-34"/>
              </a:rPr>
            </a:br>
            <a:r>
              <a:rPr sz="1100">
                <a:latin typeface="Prompt" pitchFamily="2" charset="-34"/>
                <a:cs typeface="Prompt" pitchFamily="2" charset="-34"/>
              </a:rPr>
              <a:t>• Result: กำไรขั้นต้น (Gross Margin) เพิ่ม +5%</a:t>
            </a:r>
          </a:p>
          <a:p>
            <a:pPr>
              <a:defRPr sz="700">
                <a:solidFill>
                  <a:srgbClr val="DCE0E6"/>
                </a:solidFill>
              </a:defRPr>
            </a:pPr>
            <a:r>
              <a:rPr sz="900">
                <a:latin typeface="Prompt" pitchFamily="2" charset="-34"/>
                <a:cs typeface="Prompt" pitchFamily="2" charset="-34"/>
              </a:rPr>
              <a:t>------------------------</a:t>
            </a:r>
          </a:p>
          <a:p>
            <a:pPr>
              <a:defRPr sz="850">
                <a:solidFill>
                  <a:srgbClr val="212529"/>
                </a:solidFill>
              </a:defRPr>
            </a:pPr>
            <a:r>
              <a:rPr sz="1100">
                <a:latin typeface="Prompt" pitchFamily="2" charset="-34"/>
                <a:cs typeface="Prompt" pitchFamily="2" charset="-34"/>
              </a:rPr>
              <a:t>Plan 2: Family Value Pack</a:t>
            </a:r>
            <a:br>
              <a:rPr sz="1100">
                <a:latin typeface="Prompt" pitchFamily="2" charset="-34"/>
                <a:cs typeface="Prompt" pitchFamily="2" charset="-34"/>
              </a:rPr>
            </a:br>
            <a:r>
              <a:rPr sz="1100">
                <a:latin typeface="Prompt" pitchFamily="2" charset="-34"/>
                <a:cs typeface="Prompt" pitchFamily="2" charset="-34"/>
              </a:rPr>
              <a:t>• Insight: ซื้อผลไม้ (บลูเบอร์รี, แอปเปิ้ล) ประจำ</a:t>
            </a:r>
            <a:br>
              <a:rPr sz="1100">
                <a:latin typeface="Prompt" pitchFamily="2" charset="-34"/>
                <a:cs typeface="Prompt" pitchFamily="2" charset="-34"/>
              </a:rPr>
            </a:br>
            <a:r>
              <a:rPr sz="1100">
                <a:latin typeface="Prompt" pitchFamily="2" charset="-34"/>
                <a:cs typeface="Prompt" pitchFamily="2" charset="-34"/>
              </a:rPr>
              <a:t>• Action: ออกแพ็กเกจครอบครัว 2-3 kg ลด 10%</a:t>
            </a:r>
            <a:br>
              <a:rPr sz="1100">
                <a:latin typeface="Prompt" pitchFamily="2" charset="-34"/>
                <a:cs typeface="Prompt" pitchFamily="2" charset="-34"/>
              </a:rPr>
            </a:br>
            <a:r>
              <a:rPr sz="1100">
                <a:latin typeface="Prompt" pitchFamily="2" charset="-34"/>
                <a:cs typeface="Prompt" pitchFamily="2" charset="-34"/>
              </a:rPr>
              <a:t>• Result: ปริมาณยอดขายต่อรอบบิล +20%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2064374"/>
            <a:ext cx="2514600" cy="353051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77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37160" rIns="109728" rtlCol="0" anchor="ctr"/>
          <a:lstStyle/>
          <a:p>
            <a:pPr algn="ctr">
              <a:defRPr sz="1100" b="1">
                <a:solidFill>
                  <a:srgbClr val="0277BD"/>
                </a:solidFill>
              </a:defRPr>
            </a:pPr>
            <a:r>
              <a:rPr sz="1200">
                <a:latin typeface="Prompt" pitchFamily="2" charset="-34"/>
                <a:cs typeface="Prompt" pitchFamily="2" charset="-34"/>
              </a:rPr>
              <a:t>Question Mark (คำถาม)</a:t>
            </a:r>
          </a:p>
          <a:p>
            <a:pPr>
              <a:defRPr sz="850">
                <a:solidFill>
                  <a:srgbClr val="212529"/>
                </a:solidFill>
              </a:defRPr>
            </a:pPr>
            <a:r>
              <a:rPr sz="1100">
                <a:latin typeface="Prompt" pitchFamily="2" charset="-34"/>
                <a:cs typeface="Prompt" pitchFamily="2" charset="-34"/>
              </a:rPr>
              <a:t>Plan 1: Niche to Star</a:t>
            </a:r>
            <a:br>
              <a:rPr sz="1100">
                <a:latin typeface="Prompt" pitchFamily="2" charset="-34"/>
                <a:cs typeface="Prompt" pitchFamily="2" charset="-34"/>
              </a:rPr>
            </a:br>
            <a:r>
              <a:rPr sz="1100">
                <a:latin typeface="Prompt" pitchFamily="2" charset="-34"/>
                <a:cs typeface="Prompt" pitchFamily="2" charset="-34"/>
              </a:rPr>
              <a:t>• Insight: โตทะลุ &gt;300% แต่แชร์เฉลี่ย 2.8%</a:t>
            </a:r>
            <a:br>
              <a:rPr sz="1100">
                <a:latin typeface="Prompt" pitchFamily="2" charset="-34"/>
                <a:cs typeface="Prompt" pitchFamily="2" charset="-34"/>
              </a:rPr>
            </a:br>
            <a:r>
              <a:rPr sz="1100">
                <a:latin typeface="Prompt" pitchFamily="2" charset="-34"/>
                <a:cs typeface="Prompt" pitchFamily="2" charset="-34"/>
              </a:rPr>
              <a:t>• Action: วางบนแบนเนอร์หน้าแรก + Flash Sale 3 วัน</a:t>
            </a:r>
            <a:br>
              <a:rPr sz="1100">
                <a:latin typeface="Prompt" pitchFamily="2" charset="-34"/>
                <a:cs typeface="Prompt" pitchFamily="2" charset="-34"/>
              </a:rPr>
            </a:br>
            <a:r>
              <a:rPr sz="1100">
                <a:latin typeface="Prompt" pitchFamily="2" charset="-34"/>
                <a:cs typeface="Prompt" pitchFamily="2" charset="-34"/>
              </a:rPr>
              <a:t>• Result: ส่วนแบ่งตลาดขยับขึ้นแตะ 5-7%</a:t>
            </a:r>
          </a:p>
          <a:p>
            <a:pPr>
              <a:defRPr sz="700">
                <a:solidFill>
                  <a:srgbClr val="DCE0E6"/>
                </a:solidFill>
              </a:defRPr>
            </a:pPr>
            <a:r>
              <a:rPr sz="900">
                <a:latin typeface="Prompt" pitchFamily="2" charset="-34"/>
                <a:cs typeface="Prompt" pitchFamily="2" charset="-34"/>
              </a:rPr>
              <a:t>------------------------</a:t>
            </a:r>
          </a:p>
          <a:p>
            <a:pPr>
              <a:defRPr sz="850">
                <a:solidFill>
                  <a:srgbClr val="212529"/>
                </a:solidFill>
              </a:defRPr>
            </a:pPr>
            <a:r>
              <a:rPr sz="1100">
                <a:latin typeface="Prompt" pitchFamily="2" charset="-34"/>
                <a:cs typeface="Prompt" pitchFamily="2" charset="-34"/>
              </a:rPr>
              <a:t>Plan 2: Cooking Recipe Bundle</a:t>
            </a:r>
            <a:br>
              <a:rPr sz="1100">
                <a:latin typeface="Prompt" pitchFamily="2" charset="-34"/>
                <a:cs typeface="Prompt" pitchFamily="2" charset="-34"/>
              </a:rPr>
            </a:br>
            <a:r>
              <a:rPr sz="1100">
                <a:latin typeface="Prompt" pitchFamily="2" charset="-34"/>
                <a:cs typeface="Prompt" pitchFamily="2" charset="-34"/>
              </a:rPr>
              <a:t>• Insight: ผักใบราคาต่อชิ้นต่ำ ซื้อทำอาหารคู่กัน</a:t>
            </a:r>
            <a:br>
              <a:rPr sz="1100">
                <a:latin typeface="Prompt" pitchFamily="2" charset="-34"/>
                <a:cs typeface="Prompt" pitchFamily="2" charset="-34"/>
              </a:rPr>
            </a:br>
            <a:r>
              <a:rPr sz="1100">
                <a:latin typeface="Prompt" pitchFamily="2" charset="-34"/>
                <a:cs typeface="Prompt" pitchFamily="2" charset="-34"/>
              </a:rPr>
              <a:t>• Action: จัดเซ็ตชุดผัดกะเพรา / สุกี้ผักสด</a:t>
            </a:r>
            <a:br>
              <a:rPr sz="1100">
                <a:latin typeface="Prompt" pitchFamily="2" charset="-34"/>
                <a:cs typeface="Prompt" pitchFamily="2" charset="-34"/>
              </a:rPr>
            </a:br>
            <a:r>
              <a:rPr sz="1100">
                <a:latin typeface="Prompt" pitchFamily="2" charset="-34"/>
                <a:cs typeface="Prompt" pitchFamily="2" charset="-34"/>
              </a:rPr>
              <a:t>• Result: ยอดขายผักกลุ่มนี้ขยายตัว +30%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823960" y="2064374"/>
            <a:ext cx="2514600" cy="353051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37160" rIns="109728" rtlCol="0" anchor="ctr"/>
          <a:lstStyle/>
          <a:p>
            <a:pPr algn="ctr">
              <a:defRPr sz="1100" b="1">
                <a:solidFill>
                  <a:srgbClr val="C62828"/>
                </a:solidFill>
              </a:defRPr>
            </a:pPr>
            <a:r>
              <a:rPr sz="1200">
                <a:latin typeface="Prompt" pitchFamily="2" charset="-34"/>
                <a:cs typeface="Prompt" pitchFamily="2" charset="-34"/>
              </a:rPr>
              <a:t>Dog (หมา)</a:t>
            </a:r>
          </a:p>
          <a:p>
            <a:pPr>
              <a:defRPr sz="850">
                <a:solidFill>
                  <a:srgbClr val="212529"/>
                </a:solidFill>
              </a:defRPr>
            </a:pPr>
            <a:r>
              <a:rPr sz="1100">
                <a:latin typeface="Prompt" pitchFamily="2" charset="-34"/>
                <a:cs typeface="Prompt" pitchFamily="2" charset="-34"/>
              </a:rPr>
              <a:t>Plan 1: Pre-order / Make-to-Order</a:t>
            </a:r>
            <a:br>
              <a:rPr sz="1100">
                <a:latin typeface="Prompt" pitchFamily="2" charset="-34"/>
                <a:cs typeface="Prompt" pitchFamily="2" charset="-34"/>
              </a:rPr>
            </a:br>
            <a:r>
              <a:rPr sz="1100">
                <a:latin typeface="Prompt" pitchFamily="2" charset="-34"/>
                <a:cs typeface="Prompt" pitchFamily="2" charset="-34"/>
              </a:rPr>
              <a:t>• Insight: แชร์ต่ำ 3.2% โตต่ำสุด เสี่ยงเน่าเสีย</a:t>
            </a:r>
            <a:br>
              <a:rPr sz="1100">
                <a:latin typeface="Prompt" pitchFamily="2" charset="-34"/>
                <a:cs typeface="Prompt" pitchFamily="2" charset="-34"/>
              </a:rPr>
            </a:br>
            <a:r>
              <a:rPr sz="1100">
                <a:latin typeface="Prompt" pitchFamily="2" charset="-34"/>
                <a:cs typeface="Prompt" pitchFamily="2" charset="-34"/>
              </a:rPr>
              <a:t>• Action: ลดสต็อก 50% เปลี่ยนรับออเดอร์ล่วงหน้า 1 วัน</a:t>
            </a:r>
            <a:br>
              <a:rPr sz="1100">
                <a:latin typeface="Prompt" pitchFamily="2" charset="-34"/>
                <a:cs typeface="Prompt" pitchFamily="2" charset="-34"/>
              </a:rPr>
            </a:br>
            <a:r>
              <a:rPr sz="1100">
                <a:latin typeface="Prompt" pitchFamily="2" charset="-34"/>
                <a:cs typeface="Prompt" pitchFamily="2" charset="-34"/>
              </a:rPr>
              <a:t>• Result: ลดต้นทุนของสดเน่าเสีย (Waste) 20-30%</a:t>
            </a:r>
          </a:p>
          <a:p>
            <a:pPr>
              <a:defRPr sz="700">
                <a:solidFill>
                  <a:srgbClr val="DCE0E6"/>
                </a:solidFill>
              </a:defRPr>
            </a:pPr>
            <a:r>
              <a:rPr sz="900">
                <a:latin typeface="Prompt" pitchFamily="2" charset="-34"/>
                <a:cs typeface="Prompt" pitchFamily="2" charset="-34"/>
              </a:rPr>
              <a:t>------------------------</a:t>
            </a:r>
          </a:p>
          <a:p>
            <a:pPr>
              <a:defRPr sz="850">
                <a:solidFill>
                  <a:srgbClr val="212529"/>
                </a:solidFill>
              </a:defRPr>
            </a:pPr>
            <a:r>
              <a:rPr sz="1100">
                <a:latin typeface="Prompt" pitchFamily="2" charset="-34"/>
                <a:cs typeface="Prompt" pitchFamily="2" charset="-34"/>
              </a:rPr>
              <a:t>Plan 2: พ่วงชุดต้มยำ / แถมฟรี</a:t>
            </a:r>
            <a:br>
              <a:rPr sz="1100">
                <a:latin typeface="Prompt" pitchFamily="2" charset="-34"/>
                <a:cs typeface="Prompt" pitchFamily="2" charset="-34"/>
              </a:rPr>
            </a:br>
            <a:r>
              <a:rPr sz="1100">
                <a:latin typeface="Prompt" pitchFamily="2" charset="-34"/>
                <a:cs typeface="Prompt" pitchFamily="2" charset="-34"/>
              </a:rPr>
              <a:t>• Insight: ยอดเดี่ยวน้อยแต่จำเป็นต้องใช้คู่กัน</a:t>
            </a:r>
            <a:br>
              <a:rPr sz="1100">
                <a:latin typeface="Prompt" pitchFamily="2" charset="-34"/>
                <a:cs typeface="Prompt" pitchFamily="2" charset="-34"/>
              </a:rPr>
            </a:br>
            <a:r>
              <a:rPr sz="1100">
                <a:latin typeface="Prompt" pitchFamily="2" charset="-34"/>
                <a:cs typeface="Prompt" pitchFamily="2" charset="-34"/>
              </a:rPr>
              <a:t>• Action: แถมฟรีเมื่อซื้อครบ 300 ฿ หรือรวมชุดต้มยำ</a:t>
            </a:r>
            <a:br>
              <a:rPr sz="1100">
                <a:latin typeface="Prompt" pitchFamily="2" charset="-34"/>
                <a:cs typeface="Prompt" pitchFamily="2" charset="-34"/>
              </a:rPr>
            </a:br>
            <a:r>
              <a:rPr sz="1100">
                <a:latin typeface="Prompt" pitchFamily="2" charset="-34"/>
                <a:cs typeface="Prompt" pitchFamily="2" charset="-34"/>
              </a:rPr>
              <a:t>• Result: เคลียร์สต็อกตกค้าง ยกระดับความพึงพอใจ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>
              <a:noFill/>
              <a:latin typeface="Prompt" pitchFamily="2" charset="-34"/>
              <a:cs typeface="Prompt" pitchFamily="2" charset="-3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499889"/>
            <a:ext cx="10698480" cy="69249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4C8C4A"/>
                </a:solidFill>
              </a:defRPr>
            </a:pPr>
            <a:r>
              <a:rPr dirty="0">
                <a:latin typeface="Prompt" pitchFamily="2" charset="-34"/>
                <a:cs typeface="Prompt" pitchFamily="2" charset="-34"/>
              </a:rPr>
              <a:t>PHASE 4 • PRESCRIPTIVE</a:t>
            </a:r>
          </a:p>
          <a:p>
            <a:pPr>
              <a:defRPr sz="2200" b="1">
                <a:solidFill>
                  <a:srgbClr val="212529"/>
                </a:solidFill>
              </a:defRPr>
            </a:pPr>
            <a:r>
              <a:rPr dirty="0">
                <a:latin typeface="Prompt" pitchFamily="2" charset="-34"/>
                <a:cs typeface="Prompt" pitchFamily="2" charset="-34"/>
              </a:rPr>
              <a:t>3 Priority Actions: </a:t>
            </a:r>
            <a:r>
              <a:rPr dirty="0" err="1">
                <a:latin typeface="Prompt" pitchFamily="2" charset="-34"/>
                <a:cs typeface="Prompt" pitchFamily="2" charset="-34"/>
              </a:rPr>
              <a:t>แผนสำคัญที่สุดและเหตุผลรองรับ</a:t>
            </a:r>
            <a:endParaRPr dirty="0">
              <a:latin typeface="Prompt" pitchFamily="2" charset="-34"/>
              <a:cs typeface="Prompt" pitchFamily="2" charset="-34"/>
            </a:endParaRPr>
          </a:p>
          <a:p>
            <a:pPr>
              <a:defRPr sz="1200">
                <a:solidFill>
                  <a:srgbClr val="6C757D"/>
                </a:solidFill>
              </a:defRPr>
            </a:pPr>
            <a:r>
              <a:rPr dirty="0" err="1">
                <a:latin typeface="Prompt" pitchFamily="2" charset="-34"/>
                <a:cs typeface="Prompt" pitchFamily="2" charset="-34"/>
              </a:rPr>
              <a:t>จัดลำดับตามผลกระทบต่อรายได้</a:t>
            </a:r>
            <a:r>
              <a:rPr dirty="0">
                <a:latin typeface="Prompt" pitchFamily="2" charset="-34"/>
                <a:cs typeface="Prompt" pitchFamily="2" charset="-34"/>
              </a:rPr>
              <a:t> (Impact) </a:t>
            </a:r>
            <a:r>
              <a:rPr dirty="0" err="1">
                <a:latin typeface="Prompt" pitchFamily="2" charset="-34"/>
                <a:cs typeface="Prompt" pitchFamily="2" charset="-34"/>
              </a:rPr>
              <a:t>และความเร่งด่วนทางธุรกิจ</a:t>
            </a:r>
            <a:r>
              <a:rPr dirty="0">
                <a:latin typeface="Prompt" pitchFamily="2" charset="-34"/>
                <a:cs typeface="Prompt" pitchFamily="2" charset="-34"/>
              </a:rPr>
              <a:t> [</a:t>
            </a:r>
            <a:r>
              <a:rPr dirty="0" err="1">
                <a:latin typeface="Prompt" pitchFamily="2" charset="-34"/>
                <a:cs typeface="Prompt" pitchFamily="2" charset="-34"/>
              </a:rPr>
              <a:t>อ้างอิง</a:t>
            </a:r>
            <a:r>
              <a:rPr dirty="0">
                <a:latin typeface="Prompt" pitchFamily="2" charset="-34"/>
                <a:cs typeface="Prompt" pitchFamily="2" charset="-34"/>
              </a:rPr>
              <a:t> P3_Priority_Actions]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1417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Ins="182880" rtlCol="0" anchor="ctr"/>
          <a:lstStyle/>
          <a:p>
            <a:pPr algn="ctr">
              <a:defRPr sz="1150" b="1">
                <a:solidFill>
                  <a:srgbClr val="E65100"/>
                </a:solidFill>
              </a:defRPr>
            </a:pPr>
            <a:r>
              <a:rPr sz="1200" dirty="0">
                <a:latin typeface="Prompt" pitchFamily="2" charset="-34"/>
                <a:cs typeface="Prompt" pitchFamily="2" charset="-34"/>
              </a:rPr>
              <a:t>PRIORITY 1 : </a:t>
            </a:r>
            <a:r>
              <a:rPr sz="1200" dirty="0" err="1">
                <a:latin typeface="Prompt" pitchFamily="2" charset="-34"/>
                <a:cs typeface="Prompt" pitchFamily="2" charset="-34"/>
              </a:rPr>
              <a:t>ขยายสต็อก</a:t>
            </a:r>
            <a:r>
              <a:rPr sz="1200" dirty="0">
                <a:latin typeface="Prompt" pitchFamily="2" charset="-34"/>
                <a:cs typeface="Prompt" pitchFamily="2" charset="-34"/>
              </a:rPr>
              <a:t> &amp; </a:t>
            </a:r>
            <a:r>
              <a:rPr sz="1200" dirty="0" err="1">
                <a:latin typeface="Prompt" pitchFamily="2" charset="-34"/>
                <a:cs typeface="Prompt" pitchFamily="2" charset="-34"/>
              </a:rPr>
              <a:t>เพิ่มงบแอดสินค้ากลุ่ม</a:t>
            </a:r>
            <a:r>
              <a:rPr sz="1200" dirty="0">
                <a:latin typeface="Prompt" pitchFamily="2" charset="-34"/>
                <a:cs typeface="Prompt" pitchFamily="2" charset="-34"/>
              </a:rPr>
              <a:t> Star (</a:t>
            </a:r>
            <a:r>
              <a:rPr sz="1200" dirty="0" err="1">
                <a:latin typeface="Prompt" pitchFamily="2" charset="-34"/>
                <a:cs typeface="Prompt" pitchFamily="2" charset="-34"/>
              </a:rPr>
              <a:t>ชีสมอสซาเรลลา</a:t>
            </a:r>
            <a:r>
              <a:rPr sz="1200" dirty="0">
                <a:latin typeface="Prompt" pitchFamily="2" charset="-34"/>
                <a:cs typeface="Prompt" pitchFamily="2" charset="-34"/>
              </a:rPr>
              <a:t> &amp; </a:t>
            </a:r>
            <a:r>
              <a:rPr sz="1200" dirty="0" err="1">
                <a:latin typeface="Prompt" pitchFamily="2" charset="-34"/>
                <a:cs typeface="Prompt" pitchFamily="2" charset="-34"/>
              </a:rPr>
              <a:t>อะโวคาโด</a:t>
            </a:r>
            <a:r>
              <a:rPr sz="1200" dirty="0">
                <a:latin typeface="Prompt" pitchFamily="2" charset="-34"/>
                <a:cs typeface="Prompt" pitchFamily="2" charset="-34"/>
              </a:rPr>
              <a:t>)  [</a:t>
            </a:r>
            <a:r>
              <a:rPr sz="1200" dirty="0" err="1">
                <a:latin typeface="Prompt" pitchFamily="2" charset="-34"/>
                <a:cs typeface="Prompt" pitchFamily="2" charset="-34"/>
              </a:rPr>
              <a:t>เป้าหมาย</a:t>
            </a:r>
            <a:r>
              <a:rPr sz="1200" dirty="0">
                <a:latin typeface="Prompt" pitchFamily="2" charset="-34"/>
                <a:cs typeface="Prompt" pitchFamily="2" charset="-34"/>
              </a:rPr>
              <a:t>: BCG (Star Products)]</a:t>
            </a:r>
          </a:p>
          <a:p>
            <a:pPr>
              <a:defRPr sz="950">
                <a:solidFill>
                  <a:srgbClr val="212529"/>
                </a:solidFill>
              </a:defRPr>
            </a:pPr>
            <a:r>
              <a:rPr sz="1100" dirty="0" err="1">
                <a:latin typeface="Prompt" pitchFamily="2" charset="-34"/>
                <a:cs typeface="Prompt" pitchFamily="2" charset="-34"/>
              </a:rPr>
              <a:t>ข้อมูล</a:t>
            </a:r>
            <a:r>
              <a:rPr sz="1100" dirty="0">
                <a:latin typeface="Prompt" pitchFamily="2" charset="-34"/>
                <a:cs typeface="Prompt" pitchFamily="2" charset="-34"/>
              </a:rPr>
              <a:t> &amp; </a:t>
            </a:r>
            <a:r>
              <a:rPr sz="1100" dirty="0" err="1">
                <a:latin typeface="Prompt" pitchFamily="2" charset="-34"/>
                <a:cs typeface="Prompt" pitchFamily="2" charset="-34"/>
              </a:rPr>
              <a:t>การปฏิบัติ</a:t>
            </a:r>
            <a:r>
              <a:rPr sz="1100" dirty="0">
                <a:latin typeface="Prompt" pitchFamily="2" charset="-34"/>
                <a:cs typeface="Prompt" pitchFamily="2" charset="-34"/>
              </a:rPr>
              <a:t>: • </a:t>
            </a:r>
            <a:r>
              <a:rPr sz="1100" dirty="0" err="1">
                <a:latin typeface="Prompt" pitchFamily="2" charset="-34"/>
                <a:cs typeface="Prompt" pitchFamily="2" charset="-34"/>
              </a:rPr>
              <a:t>เติบโต</a:t>
            </a:r>
            <a:r>
              <a:rPr sz="1100" dirty="0">
                <a:latin typeface="Prompt" pitchFamily="2" charset="-34"/>
                <a:cs typeface="Prompt" pitchFamily="2" charset="-34"/>
              </a:rPr>
              <a:t> +278% </a:t>
            </a:r>
            <a:r>
              <a:rPr sz="1100" dirty="0" err="1">
                <a:latin typeface="Prompt" pitchFamily="2" charset="-34"/>
                <a:cs typeface="Prompt" pitchFamily="2" charset="-34"/>
              </a:rPr>
              <a:t>ครองสัดส่วน</a:t>
            </a:r>
            <a:r>
              <a:rPr sz="1100" dirty="0">
                <a:latin typeface="Prompt" pitchFamily="2" charset="-34"/>
                <a:cs typeface="Prompt" pitchFamily="2" charset="-34"/>
              </a:rPr>
              <a:t> 17.5% </a:t>
            </a:r>
            <a:r>
              <a:rPr sz="1100" dirty="0" err="1">
                <a:latin typeface="Prompt" pitchFamily="2" charset="-34"/>
                <a:cs typeface="Prompt" pitchFamily="2" charset="-34"/>
              </a:rPr>
              <a:t>ของยอดขายทั้งร้าน</a:t>
            </a:r>
            <a:r>
              <a:rPr sz="1100" dirty="0">
                <a:latin typeface="Prompt" pitchFamily="2" charset="-34"/>
                <a:cs typeface="Prompt" pitchFamily="2" charset="-34"/>
              </a:rPr>
              <a:t> </a:t>
            </a:r>
            <a:r>
              <a:rPr sz="1100" dirty="0" err="1">
                <a:latin typeface="Prompt" pitchFamily="2" charset="-34"/>
                <a:cs typeface="Prompt" pitchFamily="2" charset="-34"/>
              </a:rPr>
              <a:t>เป็นหัวหอกสร้างรายได้เร็วที่สุด</a:t>
            </a:r>
            <a:r>
              <a:rPr sz="1100" dirty="0">
                <a:latin typeface="Prompt" pitchFamily="2" charset="-34"/>
                <a:cs typeface="Prompt" pitchFamily="2" charset="-34"/>
              </a:rPr>
              <a:t> | </a:t>
            </a:r>
            <a:r>
              <a:rPr sz="1100" dirty="0" err="1">
                <a:latin typeface="Prompt" pitchFamily="2" charset="-34"/>
                <a:cs typeface="Prompt" pitchFamily="2" charset="-34"/>
              </a:rPr>
              <a:t>แผนงาน</a:t>
            </a:r>
            <a:r>
              <a:rPr sz="1100" dirty="0">
                <a:latin typeface="Prompt" pitchFamily="2" charset="-34"/>
                <a:cs typeface="Prompt" pitchFamily="2" charset="-34"/>
              </a:rPr>
              <a:t>: • </a:t>
            </a:r>
            <a:r>
              <a:rPr sz="1100" dirty="0" err="1">
                <a:latin typeface="Prompt" pitchFamily="2" charset="-34"/>
                <a:cs typeface="Prompt" pitchFamily="2" charset="-34"/>
              </a:rPr>
              <a:t>เพิ่มงบสต็อกวัตถุดิบ</a:t>
            </a:r>
            <a:r>
              <a:rPr sz="1100" dirty="0">
                <a:latin typeface="Prompt" pitchFamily="2" charset="-34"/>
                <a:cs typeface="Prompt" pitchFamily="2" charset="-34"/>
              </a:rPr>
              <a:t> 35% </a:t>
            </a:r>
            <a:r>
              <a:rPr sz="1100" dirty="0" err="1">
                <a:latin typeface="Prompt" pitchFamily="2" charset="-34"/>
                <a:cs typeface="Prompt" pitchFamily="2" charset="-34"/>
              </a:rPr>
              <a:t>ป้องกันสินค้าขาดสต็อก</a:t>
            </a:r>
            <a:br>
              <a:rPr sz="1100" dirty="0">
                <a:latin typeface="Prompt" pitchFamily="2" charset="-34"/>
                <a:cs typeface="Prompt" pitchFamily="2" charset="-34"/>
              </a:rPr>
            </a:br>
            <a:r>
              <a:rPr sz="1100" dirty="0">
                <a:latin typeface="Prompt" pitchFamily="2" charset="-34"/>
                <a:cs typeface="Prompt" pitchFamily="2" charset="-34"/>
              </a:rPr>
              <a:t>• </a:t>
            </a:r>
            <a:r>
              <a:rPr sz="1100" dirty="0" err="1">
                <a:latin typeface="Prompt" pitchFamily="2" charset="-34"/>
                <a:cs typeface="Prompt" pitchFamily="2" charset="-34"/>
              </a:rPr>
              <a:t>จัดสรรงบแอดเน้นสื่อสารประโยชน์และเมนูสุขภาพกลุ่ม</a:t>
            </a:r>
            <a:r>
              <a:rPr sz="1100" dirty="0">
                <a:latin typeface="Prompt" pitchFamily="2" charset="-34"/>
                <a:cs typeface="Prompt" pitchFamily="2" charset="-34"/>
              </a:rPr>
              <a:t> Home Cook &amp; Keto</a:t>
            </a:r>
          </a:p>
          <a:p>
            <a:pPr>
              <a:defRPr sz="900" b="1">
                <a:solidFill>
                  <a:srgbClr val="6C757D"/>
                </a:solidFill>
              </a:defRPr>
            </a:pPr>
            <a:r>
              <a:rPr sz="1050" dirty="0" err="1">
                <a:latin typeface="Prompt" pitchFamily="2" charset="-34"/>
                <a:cs typeface="Prompt" pitchFamily="2" charset="-34"/>
              </a:rPr>
              <a:t>เหตุผลสนับสนุน</a:t>
            </a:r>
            <a:r>
              <a:rPr sz="1050" dirty="0">
                <a:latin typeface="Prompt" pitchFamily="2" charset="-34"/>
                <a:cs typeface="Prompt" pitchFamily="2" charset="-34"/>
              </a:rPr>
              <a:t> (Revenue Driver):</a:t>
            </a:r>
            <a:br>
              <a:rPr sz="1050" dirty="0">
                <a:latin typeface="Prompt" pitchFamily="2" charset="-34"/>
                <a:cs typeface="Prompt" pitchFamily="2" charset="-34"/>
              </a:rPr>
            </a:br>
            <a:r>
              <a:rPr sz="1050" dirty="0" err="1">
                <a:latin typeface="Prompt" pitchFamily="2" charset="-34"/>
                <a:cs typeface="Prompt" pitchFamily="2" charset="-34"/>
              </a:rPr>
              <a:t>มี</a:t>
            </a:r>
            <a:r>
              <a:rPr sz="1050" dirty="0">
                <a:latin typeface="Prompt" pitchFamily="2" charset="-34"/>
                <a:cs typeface="Prompt" pitchFamily="2" charset="-34"/>
              </a:rPr>
              <a:t> Impact </a:t>
            </a:r>
            <a:r>
              <a:rPr sz="1050" dirty="0" err="1">
                <a:latin typeface="Prompt" pitchFamily="2" charset="-34"/>
                <a:cs typeface="Prompt" pitchFamily="2" charset="-34"/>
              </a:rPr>
              <a:t>ต่อรายได้สูงที่สุดและเห็นผลเร็วที่สุด</a:t>
            </a:r>
            <a:r>
              <a:rPr sz="1050" dirty="0">
                <a:latin typeface="Prompt" pitchFamily="2" charset="-34"/>
                <a:cs typeface="Prompt" pitchFamily="2" charset="-34"/>
              </a:rPr>
              <a:t> </a:t>
            </a:r>
            <a:r>
              <a:rPr sz="1050" dirty="0" err="1">
                <a:latin typeface="Prompt" pitchFamily="2" charset="-34"/>
                <a:cs typeface="Prompt" pitchFamily="2" charset="-34"/>
              </a:rPr>
              <a:t>สินค้ากำลังติดลมบน</a:t>
            </a:r>
            <a:r>
              <a:rPr sz="1050" dirty="0">
                <a:latin typeface="Prompt" pitchFamily="2" charset="-34"/>
                <a:cs typeface="Prompt" pitchFamily="2" charset="-34"/>
              </a:rPr>
              <a:t> </a:t>
            </a:r>
            <a:r>
              <a:rPr sz="1050" dirty="0" err="1">
                <a:latin typeface="Prompt" pitchFamily="2" charset="-34"/>
                <a:cs typeface="Prompt" pitchFamily="2" charset="-34"/>
              </a:rPr>
              <a:t>หากสต็อกขาดจะเสียโอกาสทันที</a:t>
            </a:r>
            <a:r>
              <a:rPr sz="1050" dirty="0">
                <a:latin typeface="Prompt" pitchFamily="2" charset="-34"/>
                <a:cs typeface="Prompt" pitchFamily="2" charset="-34"/>
              </a:rPr>
              <a:t> </a:t>
            </a:r>
            <a:r>
              <a:rPr sz="1050" dirty="0" err="1">
                <a:latin typeface="Prompt" pitchFamily="2" charset="-34"/>
                <a:cs typeface="Prompt" pitchFamily="2" charset="-34"/>
              </a:rPr>
              <a:t>และพร้อมขยับเป็น</a:t>
            </a:r>
            <a:r>
              <a:rPr sz="1050" dirty="0">
                <a:latin typeface="Prompt" pitchFamily="2" charset="-34"/>
                <a:cs typeface="Prompt" pitchFamily="2" charset="-34"/>
              </a:rPr>
              <a:t> Cash Cow </a:t>
            </a:r>
            <a:r>
              <a:rPr sz="1050" dirty="0" err="1">
                <a:latin typeface="Prompt" pitchFamily="2" charset="-34"/>
                <a:cs typeface="Prompt" pitchFamily="2" charset="-34"/>
              </a:rPr>
              <a:t>ในอนาคต</a:t>
            </a:r>
            <a:endParaRPr sz="1050" dirty="0">
              <a:latin typeface="Prompt" pitchFamily="2" charset="-34"/>
              <a:cs typeface="Prompt" pitchFamily="2" charset="-34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1520" y="3227832"/>
            <a:ext cx="10698480" cy="1417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Ins="182880" rtlCol="0" anchor="ctr"/>
          <a:lstStyle/>
          <a:p>
            <a:pPr algn="ctr">
              <a:defRPr sz="1150" b="1">
                <a:solidFill>
                  <a:srgbClr val="C62828"/>
                </a:solidFill>
              </a:defRPr>
            </a:pPr>
            <a:r>
              <a:rPr sz="1200" dirty="0">
                <a:latin typeface="Prompt" pitchFamily="2" charset="-34"/>
                <a:cs typeface="Prompt" pitchFamily="2" charset="-34"/>
              </a:rPr>
              <a:t>PRIORITY 2 : </a:t>
            </a:r>
            <a:r>
              <a:rPr sz="1200" dirty="0" err="1">
                <a:latin typeface="Prompt" pitchFamily="2" charset="-34"/>
                <a:cs typeface="Prompt" pitchFamily="2" charset="-34"/>
              </a:rPr>
              <a:t>แคมเปญ</a:t>
            </a:r>
            <a:r>
              <a:rPr sz="1200" dirty="0">
                <a:latin typeface="Prompt" pitchFamily="2" charset="-34"/>
                <a:cs typeface="Prompt" pitchFamily="2" charset="-34"/>
              </a:rPr>
              <a:t> Win-Back </a:t>
            </a:r>
            <a:r>
              <a:rPr sz="1200" dirty="0" err="1">
                <a:latin typeface="Prompt" pitchFamily="2" charset="-34"/>
                <a:cs typeface="Prompt" pitchFamily="2" charset="-34"/>
              </a:rPr>
              <a:t>กู้ชีพกลุ่มลูกค้าเสี่ยงหาย</a:t>
            </a:r>
            <a:r>
              <a:rPr sz="1200" dirty="0">
                <a:latin typeface="Prompt" pitchFamily="2" charset="-34"/>
                <a:cs typeface="Prompt" pitchFamily="2" charset="-34"/>
              </a:rPr>
              <a:t> (At-Risk Segment)  [</a:t>
            </a:r>
            <a:r>
              <a:rPr sz="1200" dirty="0" err="1">
                <a:latin typeface="Prompt" pitchFamily="2" charset="-34"/>
                <a:cs typeface="Prompt" pitchFamily="2" charset="-34"/>
              </a:rPr>
              <a:t>เป้าหมาย</a:t>
            </a:r>
            <a:r>
              <a:rPr sz="1200" dirty="0">
                <a:latin typeface="Prompt" pitchFamily="2" charset="-34"/>
                <a:cs typeface="Prompt" pitchFamily="2" charset="-34"/>
              </a:rPr>
              <a:t>: RFM (At-Risk Customers)]</a:t>
            </a:r>
          </a:p>
          <a:p>
            <a:pPr>
              <a:defRPr sz="950">
                <a:solidFill>
                  <a:srgbClr val="212529"/>
                </a:solidFill>
              </a:defRPr>
            </a:pPr>
            <a:r>
              <a:rPr sz="1100" dirty="0" err="1">
                <a:latin typeface="Prompt" pitchFamily="2" charset="-34"/>
                <a:cs typeface="Prompt" pitchFamily="2" charset="-34"/>
              </a:rPr>
              <a:t>ข้อมูล</a:t>
            </a:r>
            <a:r>
              <a:rPr sz="1100" dirty="0">
                <a:latin typeface="Prompt" pitchFamily="2" charset="-34"/>
                <a:cs typeface="Prompt" pitchFamily="2" charset="-34"/>
              </a:rPr>
              <a:t> &amp; </a:t>
            </a:r>
            <a:r>
              <a:rPr sz="1100" dirty="0" err="1">
                <a:latin typeface="Prompt" pitchFamily="2" charset="-34"/>
                <a:cs typeface="Prompt" pitchFamily="2" charset="-34"/>
              </a:rPr>
              <a:t>การปฏิบัติ</a:t>
            </a:r>
            <a:r>
              <a:rPr sz="1100" dirty="0">
                <a:latin typeface="Prompt" pitchFamily="2" charset="-34"/>
                <a:cs typeface="Prompt" pitchFamily="2" charset="-34"/>
              </a:rPr>
              <a:t>: • </a:t>
            </a:r>
            <a:r>
              <a:rPr sz="1100" dirty="0" err="1">
                <a:latin typeface="Prompt" pitchFamily="2" charset="-34"/>
                <a:cs typeface="Prompt" pitchFamily="2" charset="-34"/>
              </a:rPr>
              <a:t>ไม่กลับมาซื้อนานเฉลี่ย</a:t>
            </a:r>
            <a:r>
              <a:rPr sz="1100" dirty="0">
                <a:latin typeface="Prompt" pitchFamily="2" charset="-34"/>
                <a:cs typeface="Prompt" pitchFamily="2" charset="-34"/>
              </a:rPr>
              <a:t> &gt;82 </a:t>
            </a:r>
            <a:r>
              <a:rPr sz="1100" dirty="0" err="1">
                <a:latin typeface="Prompt" pitchFamily="2" charset="-34"/>
                <a:cs typeface="Prompt" pitchFamily="2" charset="-34"/>
              </a:rPr>
              <a:t>วัน</a:t>
            </a:r>
            <a:r>
              <a:rPr sz="1100" dirty="0">
                <a:latin typeface="Prompt" pitchFamily="2" charset="-34"/>
                <a:cs typeface="Prompt" pitchFamily="2" charset="-34"/>
              </a:rPr>
              <a:t> </a:t>
            </a:r>
            <a:r>
              <a:rPr sz="1100" dirty="0" err="1">
                <a:latin typeface="Prompt" pitchFamily="2" charset="-34"/>
                <a:cs typeface="Prompt" pitchFamily="2" charset="-34"/>
              </a:rPr>
              <a:t>เสี่ยงกลายเป็น</a:t>
            </a:r>
            <a:r>
              <a:rPr sz="1100" dirty="0">
                <a:latin typeface="Prompt" pitchFamily="2" charset="-34"/>
                <a:cs typeface="Prompt" pitchFamily="2" charset="-34"/>
              </a:rPr>
              <a:t> Churn </a:t>
            </a:r>
            <a:r>
              <a:rPr sz="1100" dirty="0" err="1">
                <a:latin typeface="Prompt" pitchFamily="2" charset="-34"/>
                <a:cs typeface="Prompt" pitchFamily="2" charset="-34"/>
              </a:rPr>
              <a:t>ถาวรและหลุดออกจากระบบ</a:t>
            </a:r>
            <a:r>
              <a:rPr sz="1100" dirty="0">
                <a:latin typeface="Prompt" pitchFamily="2" charset="-34"/>
                <a:cs typeface="Prompt" pitchFamily="2" charset="-34"/>
              </a:rPr>
              <a:t> | </a:t>
            </a:r>
            <a:r>
              <a:rPr sz="1100" dirty="0" err="1">
                <a:latin typeface="Prompt" pitchFamily="2" charset="-34"/>
                <a:cs typeface="Prompt" pitchFamily="2" charset="-34"/>
              </a:rPr>
              <a:t>แผนงาน</a:t>
            </a:r>
            <a:r>
              <a:rPr sz="1100" dirty="0">
                <a:latin typeface="Prompt" pitchFamily="2" charset="-34"/>
                <a:cs typeface="Prompt" pitchFamily="2" charset="-34"/>
              </a:rPr>
              <a:t>: • </a:t>
            </a:r>
            <a:r>
              <a:rPr sz="1100" dirty="0" err="1">
                <a:latin typeface="Prompt" pitchFamily="2" charset="-34"/>
                <a:cs typeface="Prompt" pitchFamily="2" charset="-34"/>
              </a:rPr>
              <a:t>ส่งบรอดแคสต์</a:t>
            </a:r>
            <a:r>
              <a:rPr sz="1100" dirty="0">
                <a:latin typeface="Prompt" pitchFamily="2" charset="-34"/>
                <a:cs typeface="Prompt" pitchFamily="2" charset="-34"/>
              </a:rPr>
              <a:t> LINE OA / SMS </a:t>
            </a:r>
            <a:r>
              <a:rPr sz="1100" dirty="0" err="1">
                <a:latin typeface="Prompt" pitchFamily="2" charset="-34"/>
                <a:cs typeface="Prompt" pitchFamily="2" charset="-34"/>
              </a:rPr>
              <a:t>แจกโค้ด</a:t>
            </a:r>
            <a:r>
              <a:rPr sz="1100" dirty="0">
                <a:latin typeface="Prompt" pitchFamily="2" charset="-34"/>
                <a:cs typeface="Prompt" pitchFamily="2" charset="-34"/>
              </a:rPr>
              <a:t> '</a:t>
            </a:r>
            <a:r>
              <a:rPr sz="1100" dirty="0" err="1">
                <a:latin typeface="Prompt" pitchFamily="2" charset="-34"/>
                <a:cs typeface="Prompt" pitchFamily="2" charset="-34"/>
              </a:rPr>
              <a:t>คิดถึงนะ</a:t>
            </a:r>
            <a:r>
              <a:rPr sz="1100" dirty="0">
                <a:latin typeface="Prompt" pitchFamily="2" charset="-34"/>
                <a:cs typeface="Prompt" pitchFamily="2" charset="-34"/>
              </a:rPr>
              <a:t> </a:t>
            </a:r>
            <a:r>
              <a:rPr sz="1100" dirty="0" err="1">
                <a:latin typeface="Prompt" pitchFamily="2" charset="-34"/>
                <a:cs typeface="Prompt" pitchFamily="2" charset="-34"/>
              </a:rPr>
              <a:t>ลด</a:t>
            </a:r>
            <a:r>
              <a:rPr sz="1100" dirty="0">
                <a:latin typeface="Prompt" pitchFamily="2" charset="-34"/>
                <a:cs typeface="Prompt" pitchFamily="2" charset="-34"/>
              </a:rPr>
              <a:t> 15% + </a:t>
            </a:r>
            <a:r>
              <a:rPr sz="1100" dirty="0" err="1">
                <a:latin typeface="Prompt" pitchFamily="2" charset="-34"/>
                <a:cs typeface="Prompt" pitchFamily="2" charset="-34"/>
              </a:rPr>
              <a:t>ส่งฟรี</a:t>
            </a:r>
            <a:r>
              <a:rPr sz="1100" dirty="0">
                <a:latin typeface="Prompt" pitchFamily="2" charset="-34"/>
                <a:cs typeface="Prompt" pitchFamily="2" charset="-34"/>
              </a:rPr>
              <a:t>' </a:t>
            </a:r>
            <a:r>
              <a:rPr sz="1100" dirty="0" err="1">
                <a:latin typeface="Prompt" pitchFamily="2" charset="-34"/>
                <a:cs typeface="Prompt" pitchFamily="2" charset="-34"/>
              </a:rPr>
              <a:t>ภายใน</a:t>
            </a:r>
            <a:r>
              <a:rPr sz="1100" dirty="0">
                <a:latin typeface="Prompt" pitchFamily="2" charset="-34"/>
                <a:cs typeface="Prompt" pitchFamily="2" charset="-34"/>
              </a:rPr>
              <a:t> 7 </a:t>
            </a:r>
            <a:r>
              <a:rPr sz="1100" dirty="0" err="1">
                <a:latin typeface="Prompt" pitchFamily="2" charset="-34"/>
                <a:cs typeface="Prompt" pitchFamily="2" charset="-34"/>
              </a:rPr>
              <a:t>วัน</a:t>
            </a:r>
            <a:br>
              <a:rPr sz="1100" dirty="0">
                <a:latin typeface="Prompt" pitchFamily="2" charset="-34"/>
                <a:cs typeface="Prompt" pitchFamily="2" charset="-34"/>
              </a:rPr>
            </a:br>
            <a:r>
              <a:rPr sz="1100" dirty="0">
                <a:latin typeface="Prompt" pitchFamily="2" charset="-34"/>
                <a:cs typeface="Prompt" pitchFamily="2" charset="-34"/>
              </a:rPr>
              <a:t>• </a:t>
            </a:r>
            <a:r>
              <a:rPr sz="1100" dirty="0" err="1">
                <a:latin typeface="Prompt" pitchFamily="2" charset="-34"/>
                <a:cs typeface="Prompt" pitchFamily="2" charset="-34"/>
              </a:rPr>
              <a:t>ระบบแจ้งเตือนอัตโนมัติเมื่อครบ</a:t>
            </a:r>
            <a:r>
              <a:rPr sz="1100" dirty="0">
                <a:latin typeface="Prompt" pitchFamily="2" charset="-34"/>
                <a:cs typeface="Prompt" pitchFamily="2" charset="-34"/>
              </a:rPr>
              <a:t> 45 </a:t>
            </a:r>
            <a:r>
              <a:rPr sz="1100" dirty="0" err="1">
                <a:latin typeface="Prompt" pitchFamily="2" charset="-34"/>
                <a:cs typeface="Prompt" pitchFamily="2" charset="-34"/>
              </a:rPr>
              <a:t>วันที่ไม่มีคำสั่งซื้อ</a:t>
            </a:r>
            <a:endParaRPr sz="1100" dirty="0">
              <a:latin typeface="Prompt" pitchFamily="2" charset="-34"/>
              <a:cs typeface="Prompt" pitchFamily="2" charset="-34"/>
            </a:endParaRPr>
          </a:p>
          <a:p>
            <a:pPr>
              <a:defRPr sz="900" b="1">
                <a:solidFill>
                  <a:srgbClr val="6C757D"/>
                </a:solidFill>
              </a:defRPr>
            </a:pPr>
            <a:r>
              <a:rPr sz="1050" dirty="0" err="1">
                <a:latin typeface="Prompt" pitchFamily="2" charset="-34"/>
                <a:cs typeface="Prompt" pitchFamily="2" charset="-34"/>
              </a:rPr>
              <a:t>เหตุผลสนับสนุน</a:t>
            </a:r>
            <a:r>
              <a:rPr sz="1050" dirty="0">
                <a:latin typeface="Prompt" pitchFamily="2" charset="-34"/>
                <a:cs typeface="Prompt" pitchFamily="2" charset="-34"/>
              </a:rPr>
              <a:t> (Churn Prevention):</a:t>
            </a:r>
            <a:br>
              <a:rPr sz="1050" dirty="0">
                <a:latin typeface="Prompt" pitchFamily="2" charset="-34"/>
                <a:cs typeface="Prompt" pitchFamily="2" charset="-34"/>
              </a:rPr>
            </a:br>
            <a:r>
              <a:rPr sz="1050" dirty="0" err="1">
                <a:latin typeface="Prompt" pitchFamily="2" charset="-34"/>
                <a:cs typeface="Prompt" pitchFamily="2" charset="-34"/>
              </a:rPr>
              <a:t>การรักษาลูกค้าเดิมมีต้นทุนต่ำกว่าการหาลูกค้าใหม่</a:t>
            </a:r>
            <a:r>
              <a:rPr sz="1050" dirty="0">
                <a:latin typeface="Prompt" pitchFamily="2" charset="-34"/>
                <a:cs typeface="Prompt" pitchFamily="2" charset="-34"/>
              </a:rPr>
              <a:t> (CAC) </a:t>
            </a:r>
            <a:r>
              <a:rPr sz="1050" dirty="0" err="1">
                <a:latin typeface="Prompt" pitchFamily="2" charset="-34"/>
                <a:cs typeface="Prompt" pitchFamily="2" charset="-34"/>
              </a:rPr>
              <a:t>หลายเท่าตัว</a:t>
            </a:r>
            <a:r>
              <a:rPr sz="1050" dirty="0">
                <a:latin typeface="Prompt" pitchFamily="2" charset="-34"/>
                <a:cs typeface="Prompt" pitchFamily="2" charset="-34"/>
              </a:rPr>
              <a:t> </a:t>
            </a:r>
            <a:r>
              <a:rPr sz="1050" dirty="0" err="1">
                <a:latin typeface="Prompt" pitchFamily="2" charset="-34"/>
                <a:cs typeface="Prompt" pitchFamily="2" charset="-34"/>
              </a:rPr>
              <a:t>การดึงกลับมาซื้อซ้ำทันเวลาจะกอบกู้รายได้กลับคืนมาทันที</a:t>
            </a:r>
            <a:endParaRPr sz="1050" dirty="0">
              <a:latin typeface="Prompt" pitchFamily="2" charset="-34"/>
              <a:cs typeface="Prompt" pitchFamily="2" charset="-34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31520" y="4809744"/>
            <a:ext cx="10698480" cy="1417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77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Ins="182880" rtlCol="0" anchor="ctr"/>
          <a:lstStyle/>
          <a:p>
            <a:pPr algn="ctr">
              <a:defRPr sz="1150" b="1">
                <a:solidFill>
                  <a:srgbClr val="0277BD"/>
                </a:solidFill>
              </a:defRPr>
            </a:pPr>
            <a:r>
              <a:rPr sz="1200" dirty="0">
                <a:latin typeface="Prompt" pitchFamily="2" charset="-34"/>
                <a:cs typeface="Prompt" pitchFamily="2" charset="-34"/>
              </a:rPr>
              <a:t>PRIORITY 3 : </a:t>
            </a:r>
            <a:r>
              <a:rPr sz="1200" dirty="0" err="1">
                <a:latin typeface="Prompt" pitchFamily="2" charset="-34"/>
                <a:cs typeface="Prompt" pitchFamily="2" charset="-34"/>
              </a:rPr>
              <a:t>ปรับพอร์ตสินค้า</a:t>
            </a:r>
            <a:r>
              <a:rPr sz="1200" dirty="0">
                <a:latin typeface="Prompt" pitchFamily="2" charset="-34"/>
                <a:cs typeface="Prompt" pitchFamily="2" charset="-34"/>
              </a:rPr>
              <a:t> Dog &amp; Question </a:t>
            </a:r>
            <a:r>
              <a:rPr sz="1200" dirty="0" err="1">
                <a:latin typeface="Prompt" pitchFamily="2" charset="-34"/>
                <a:cs typeface="Prompt" pitchFamily="2" charset="-34"/>
              </a:rPr>
              <a:t>ด้วย</a:t>
            </a:r>
            <a:r>
              <a:rPr sz="1200" dirty="0">
                <a:latin typeface="Prompt" pitchFamily="2" charset="-34"/>
                <a:cs typeface="Prompt" pitchFamily="2" charset="-34"/>
              </a:rPr>
              <a:t> Product Bundling  [</a:t>
            </a:r>
            <a:r>
              <a:rPr sz="1200" dirty="0" err="1">
                <a:latin typeface="Prompt" pitchFamily="2" charset="-34"/>
                <a:cs typeface="Prompt" pitchFamily="2" charset="-34"/>
              </a:rPr>
              <a:t>เป้าหมาย</a:t>
            </a:r>
            <a:r>
              <a:rPr sz="1200" dirty="0">
                <a:latin typeface="Prompt" pitchFamily="2" charset="-34"/>
                <a:cs typeface="Prompt" pitchFamily="2" charset="-34"/>
              </a:rPr>
              <a:t>: BCG (Dog &amp; Question Mark)]</a:t>
            </a:r>
          </a:p>
          <a:p>
            <a:pPr>
              <a:defRPr sz="950">
                <a:solidFill>
                  <a:srgbClr val="212529"/>
                </a:solidFill>
              </a:defRPr>
            </a:pPr>
            <a:r>
              <a:rPr sz="1100" dirty="0" err="1">
                <a:latin typeface="Prompt" pitchFamily="2" charset="-34"/>
                <a:cs typeface="Prompt" pitchFamily="2" charset="-34"/>
              </a:rPr>
              <a:t>ข้อมูล</a:t>
            </a:r>
            <a:r>
              <a:rPr sz="1100" dirty="0">
                <a:latin typeface="Prompt" pitchFamily="2" charset="-34"/>
                <a:cs typeface="Prompt" pitchFamily="2" charset="-34"/>
              </a:rPr>
              <a:t> &amp; </a:t>
            </a:r>
            <a:r>
              <a:rPr sz="1100" dirty="0" err="1">
                <a:latin typeface="Prompt" pitchFamily="2" charset="-34"/>
                <a:cs typeface="Prompt" pitchFamily="2" charset="-34"/>
              </a:rPr>
              <a:t>การปฏิบัติ</a:t>
            </a:r>
            <a:r>
              <a:rPr sz="1100" dirty="0">
                <a:latin typeface="Prompt" pitchFamily="2" charset="-34"/>
                <a:cs typeface="Prompt" pitchFamily="2" charset="-34"/>
              </a:rPr>
              <a:t>: • </a:t>
            </a:r>
            <a:r>
              <a:rPr sz="1100" dirty="0" err="1">
                <a:latin typeface="Prompt" pitchFamily="2" charset="-34"/>
                <a:cs typeface="Prompt" pitchFamily="2" charset="-34"/>
              </a:rPr>
              <a:t>ผักเครื่องครัว</a:t>
            </a:r>
            <a:r>
              <a:rPr sz="1100" dirty="0">
                <a:latin typeface="Prompt" pitchFamily="2" charset="-34"/>
                <a:cs typeface="Prompt" pitchFamily="2" charset="-34"/>
              </a:rPr>
              <a:t> (</a:t>
            </a:r>
            <a:r>
              <a:rPr sz="1100" dirty="0" err="1">
                <a:latin typeface="Prompt" pitchFamily="2" charset="-34"/>
                <a:cs typeface="Prompt" pitchFamily="2" charset="-34"/>
              </a:rPr>
              <a:t>ขิง</a:t>
            </a:r>
            <a:r>
              <a:rPr sz="1100" dirty="0">
                <a:latin typeface="Prompt" pitchFamily="2" charset="-34"/>
                <a:cs typeface="Prompt" pitchFamily="2" charset="-34"/>
              </a:rPr>
              <a:t>, </a:t>
            </a:r>
            <a:r>
              <a:rPr sz="1100" dirty="0" err="1">
                <a:latin typeface="Prompt" pitchFamily="2" charset="-34"/>
                <a:cs typeface="Prompt" pitchFamily="2" charset="-34"/>
              </a:rPr>
              <a:t>ข่า</a:t>
            </a:r>
            <a:r>
              <a:rPr sz="1100" dirty="0">
                <a:latin typeface="Prompt" pitchFamily="2" charset="-34"/>
                <a:cs typeface="Prompt" pitchFamily="2" charset="-34"/>
              </a:rPr>
              <a:t>, </a:t>
            </a:r>
            <a:r>
              <a:rPr sz="1100" dirty="0" err="1">
                <a:latin typeface="Prompt" pitchFamily="2" charset="-34"/>
                <a:cs typeface="Prompt" pitchFamily="2" charset="-34"/>
              </a:rPr>
              <a:t>ตะไคร้</a:t>
            </a:r>
            <a:r>
              <a:rPr sz="1100" dirty="0">
                <a:latin typeface="Prompt" pitchFamily="2" charset="-34"/>
                <a:cs typeface="Prompt" pitchFamily="2" charset="-34"/>
              </a:rPr>
              <a:t>, </a:t>
            </a:r>
            <a:r>
              <a:rPr sz="1100" dirty="0" err="1">
                <a:latin typeface="Prompt" pitchFamily="2" charset="-34"/>
                <a:cs typeface="Prompt" pitchFamily="2" charset="-34"/>
              </a:rPr>
              <a:t>ใบมะกรูด</a:t>
            </a:r>
            <a:r>
              <a:rPr sz="1100" dirty="0">
                <a:latin typeface="Prompt" pitchFamily="2" charset="-34"/>
                <a:cs typeface="Prompt" pitchFamily="2" charset="-34"/>
              </a:rPr>
              <a:t>) </a:t>
            </a:r>
            <a:r>
              <a:rPr sz="1100" dirty="0" err="1">
                <a:latin typeface="Prompt" pitchFamily="2" charset="-34"/>
                <a:cs typeface="Prompt" pitchFamily="2" charset="-34"/>
              </a:rPr>
              <a:t>ขายเดี่ยวได้น้อยและมีต้นทุนของสดเน่าเสียสูง</a:t>
            </a:r>
            <a:r>
              <a:rPr sz="1100" dirty="0">
                <a:latin typeface="Prompt" pitchFamily="2" charset="-34"/>
                <a:cs typeface="Prompt" pitchFamily="2" charset="-34"/>
              </a:rPr>
              <a:t> | </a:t>
            </a:r>
            <a:r>
              <a:rPr sz="1100" dirty="0" err="1">
                <a:latin typeface="Prompt" pitchFamily="2" charset="-34"/>
                <a:cs typeface="Prompt" pitchFamily="2" charset="-34"/>
              </a:rPr>
              <a:t>แผนงาน</a:t>
            </a:r>
            <a:r>
              <a:rPr sz="1100" dirty="0">
                <a:latin typeface="Prompt" pitchFamily="2" charset="-34"/>
                <a:cs typeface="Prompt" pitchFamily="2" charset="-34"/>
              </a:rPr>
              <a:t>: • </a:t>
            </a:r>
            <a:r>
              <a:rPr sz="1100" dirty="0" err="1">
                <a:latin typeface="Prompt" pitchFamily="2" charset="-34"/>
                <a:cs typeface="Prompt" pitchFamily="2" charset="-34"/>
              </a:rPr>
              <a:t>รวมเป็น</a:t>
            </a:r>
            <a:r>
              <a:rPr sz="1100" dirty="0">
                <a:latin typeface="Prompt" pitchFamily="2" charset="-34"/>
                <a:cs typeface="Prompt" pitchFamily="2" charset="-34"/>
              </a:rPr>
              <a:t> '</a:t>
            </a:r>
            <a:r>
              <a:rPr sz="1100" dirty="0" err="1">
                <a:latin typeface="Prompt" pitchFamily="2" charset="-34"/>
                <a:cs typeface="Prompt" pitchFamily="2" charset="-34"/>
              </a:rPr>
              <a:t>ชุดเครื่องต้มยำออร์แกนิก</a:t>
            </a:r>
            <a:r>
              <a:rPr sz="1100" dirty="0">
                <a:latin typeface="Prompt" pitchFamily="2" charset="-34"/>
                <a:cs typeface="Prompt" pitchFamily="2" charset="-34"/>
              </a:rPr>
              <a:t>' </a:t>
            </a:r>
            <a:r>
              <a:rPr sz="1100" dirty="0" err="1">
                <a:latin typeface="Prompt" pitchFamily="2" charset="-34"/>
                <a:cs typeface="Prompt" pitchFamily="2" charset="-34"/>
              </a:rPr>
              <a:t>หรือ</a:t>
            </a:r>
            <a:r>
              <a:rPr sz="1100" dirty="0">
                <a:latin typeface="Prompt" pitchFamily="2" charset="-34"/>
                <a:cs typeface="Prompt" pitchFamily="2" charset="-34"/>
              </a:rPr>
              <a:t> '</a:t>
            </a:r>
            <a:r>
              <a:rPr sz="1100" dirty="0" err="1">
                <a:latin typeface="Prompt" pitchFamily="2" charset="-34"/>
                <a:cs typeface="Prompt" pitchFamily="2" charset="-34"/>
              </a:rPr>
              <a:t>ชุดผักสวนครัว</a:t>
            </a:r>
            <a:r>
              <a:rPr sz="1100" dirty="0">
                <a:latin typeface="Prompt" pitchFamily="2" charset="-34"/>
                <a:cs typeface="Prompt" pitchFamily="2" charset="-34"/>
              </a:rPr>
              <a:t>' </a:t>
            </a:r>
            <a:r>
              <a:rPr sz="1100" dirty="0" err="1">
                <a:latin typeface="Prompt" pitchFamily="2" charset="-34"/>
                <a:cs typeface="Prompt" pitchFamily="2" charset="-34"/>
              </a:rPr>
              <a:t>พ่วงกับสินค้าหลัก</a:t>
            </a:r>
            <a:br>
              <a:rPr sz="1100" dirty="0">
                <a:latin typeface="Prompt" pitchFamily="2" charset="-34"/>
                <a:cs typeface="Prompt" pitchFamily="2" charset="-34"/>
              </a:rPr>
            </a:br>
            <a:r>
              <a:rPr sz="1100" dirty="0">
                <a:latin typeface="Prompt" pitchFamily="2" charset="-34"/>
                <a:cs typeface="Prompt" pitchFamily="2" charset="-34"/>
              </a:rPr>
              <a:t>• </a:t>
            </a:r>
            <a:r>
              <a:rPr sz="1100" dirty="0" err="1">
                <a:latin typeface="Prompt" pitchFamily="2" charset="-34"/>
                <a:cs typeface="Prompt" pitchFamily="2" charset="-34"/>
              </a:rPr>
              <a:t>ทำโปรโมชันแลกซื้อราคาพิเศษเมื่อสั่งผักสลัดหรือผลไม้ครบ</a:t>
            </a:r>
            <a:r>
              <a:rPr sz="1100" dirty="0">
                <a:latin typeface="Prompt" pitchFamily="2" charset="-34"/>
                <a:cs typeface="Prompt" pitchFamily="2" charset="-34"/>
              </a:rPr>
              <a:t> 300 ฿</a:t>
            </a:r>
          </a:p>
          <a:p>
            <a:pPr>
              <a:defRPr sz="900" b="1">
                <a:solidFill>
                  <a:srgbClr val="6C757D"/>
                </a:solidFill>
              </a:defRPr>
            </a:pPr>
            <a:r>
              <a:rPr sz="1050" dirty="0" err="1">
                <a:latin typeface="Prompt" pitchFamily="2" charset="-34"/>
                <a:cs typeface="Prompt" pitchFamily="2" charset="-34"/>
              </a:rPr>
              <a:t>เหตุผลสนับสนุน</a:t>
            </a:r>
            <a:r>
              <a:rPr sz="1050" dirty="0">
                <a:latin typeface="Prompt" pitchFamily="2" charset="-34"/>
                <a:cs typeface="Prompt" pitchFamily="2" charset="-34"/>
              </a:rPr>
              <a:t> (Cost &amp; AOV Optimization):</a:t>
            </a:r>
            <a:br>
              <a:rPr sz="1050" dirty="0">
                <a:latin typeface="Prompt" pitchFamily="2" charset="-34"/>
                <a:cs typeface="Prompt" pitchFamily="2" charset="-34"/>
              </a:rPr>
            </a:br>
            <a:r>
              <a:rPr sz="1050" dirty="0" err="1">
                <a:latin typeface="Prompt" pitchFamily="2" charset="-34"/>
                <a:cs typeface="Prompt" pitchFamily="2" charset="-34"/>
              </a:rPr>
              <a:t>ลดความสูญเสียจากของสดเน่าเสีย</a:t>
            </a:r>
            <a:r>
              <a:rPr sz="1050" dirty="0">
                <a:latin typeface="Prompt" pitchFamily="2" charset="-34"/>
                <a:cs typeface="Prompt" pitchFamily="2" charset="-34"/>
              </a:rPr>
              <a:t> (Food Waste) </a:t>
            </a:r>
            <a:r>
              <a:rPr sz="1050" dirty="0" err="1">
                <a:latin typeface="Prompt" pitchFamily="2" charset="-34"/>
                <a:cs typeface="Prompt" pitchFamily="2" charset="-34"/>
              </a:rPr>
              <a:t>ได้</a:t>
            </a:r>
            <a:r>
              <a:rPr sz="1050" dirty="0">
                <a:latin typeface="Prompt" pitchFamily="2" charset="-34"/>
                <a:cs typeface="Prompt" pitchFamily="2" charset="-34"/>
              </a:rPr>
              <a:t> 20-30% </a:t>
            </a:r>
            <a:r>
              <a:rPr sz="1050" dirty="0" err="1">
                <a:latin typeface="Prompt" pitchFamily="2" charset="-34"/>
                <a:cs typeface="Prompt" pitchFamily="2" charset="-34"/>
              </a:rPr>
              <a:t>และดันยอดซื้อเฉลี่ยต่อบิล</a:t>
            </a:r>
            <a:r>
              <a:rPr sz="1050" dirty="0">
                <a:latin typeface="Prompt" pitchFamily="2" charset="-34"/>
                <a:cs typeface="Prompt" pitchFamily="2" charset="-34"/>
              </a:rPr>
              <a:t> (AOV) </a:t>
            </a:r>
            <a:r>
              <a:rPr sz="1050" dirty="0" err="1">
                <a:latin typeface="Prompt" pitchFamily="2" charset="-34"/>
                <a:cs typeface="Prompt" pitchFamily="2" charset="-34"/>
              </a:rPr>
              <a:t>สูงขึ้นทันทีโดยไม่ต้องแบกต้นทุนเพิ่ม</a:t>
            </a:r>
            <a:endParaRPr sz="1050" dirty="0">
              <a:latin typeface="Prompt" pitchFamily="2" charset="-34"/>
              <a:cs typeface="Prompt" pitchFamily="2" charset="-34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5"/>
        </a:solidFill>
        <a:effectLst/>
      </p:bgPr>
    </p:bg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2"/>
          <p:cNvSpPr/>
          <p:nvPr/>
        </p:nvSpPr>
        <p:spPr>
          <a:xfrm>
            <a:off x="609600" y="2519362"/>
            <a:ext cx="3511599" cy="3362325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CE6D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2"/>
          <p:cNvSpPr/>
          <p:nvPr/>
        </p:nvSpPr>
        <p:spPr>
          <a:xfrm>
            <a:off x="4262485" y="2445305"/>
            <a:ext cx="3667176" cy="3510438"/>
          </a:xfrm>
          <a:prstGeom prst="rect">
            <a:avLst/>
          </a:prstGeom>
          <a:solidFill>
            <a:srgbClr val="1B3B2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2"/>
          <p:cNvSpPr/>
          <p:nvPr/>
        </p:nvSpPr>
        <p:spPr>
          <a:xfrm>
            <a:off x="8070949" y="2519362"/>
            <a:ext cx="3511599" cy="3362325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CE6D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2"/>
          <p:cNvSpPr/>
          <p:nvPr/>
        </p:nvSpPr>
        <p:spPr>
          <a:xfrm>
            <a:off x="1076325" y="4872037"/>
            <a:ext cx="2578149" cy="9525"/>
          </a:xfrm>
          <a:prstGeom prst="rect">
            <a:avLst/>
          </a:prstGeom>
          <a:solidFill>
            <a:srgbClr val="DCE6D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2"/>
          <p:cNvSpPr/>
          <p:nvPr/>
        </p:nvSpPr>
        <p:spPr>
          <a:xfrm>
            <a:off x="4742545" y="4905613"/>
            <a:ext cx="2707057" cy="100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2"/>
          <p:cNvSpPr/>
          <p:nvPr/>
        </p:nvSpPr>
        <p:spPr>
          <a:xfrm>
            <a:off x="8537674" y="4872037"/>
            <a:ext cx="2578149" cy="9525"/>
          </a:xfrm>
          <a:prstGeom prst="rect">
            <a:avLst/>
          </a:prstGeom>
          <a:solidFill>
            <a:srgbClr val="DCE6D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2"/>
          <p:cNvSpPr txBox="1"/>
          <p:nvPr/>
        </p:nvSpPr>
        <p:spPr>
          <a:xfrm>
            <a:off x="609600" y="609600"/>
            <a:ext cx="1106805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0F172A"/>
                </a:solidFill>
                <a:latin typeface="Prompt"/>
                <a:ea typeface="Prompt"/>
                <a:cs typeface="Prompt"/>
                <a:sym typeface="Prompt"/>
              </a:rPr>
              <a:t>PHASE 4 • PRESCRIPTIVE</a:t>
            </a:r>
            <a:endParaRPr/>
          </a:p>
        </p:txBody>
      </p:sp>
      <p:sp>
        <p:nvSpPr>
          <p:cNvPr id="277" name="Google Shape;277;p22"/>
          <p:cNvSpPr txBox="1"/>
          <p:nvPr/>
        </p:nvSpPr>
        <p:spPr>
          <a:xfrm>
            <a:off x="609600" y="962025"/>
            <a:ext cx="11582400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 dirty="0" err="1">
                <a:solidFill>
                  <a:srgbClr val="1B3B2B"/>
                </a:solidFill>
                <a:latin typeface="Prompt"/>
                <a:ea typeface="Prompt"/>
                <a:cs typeface="Prompt"/>
                <a:sym typeface="Prompt"/>
              </a:rPr>
              <a:t>ระบบกล่องสมาชิก</a:t>
            </a:r>
            <a:r>
              <a:rPr lang="en-US" sz="3000" b="1" i="0" u="none" strike="noStrike" cap="none" dirty="0">
                <a:solidFill>
                  <a:srgbClr val="1B3B2B"/>
                </a:solidFill>
                <a:latin typeface="Prompt"/>
                <a:ea typeface="Prompt"/>
                <a:cs typeface="Prompt"/>
                <a:sym typeface="Prompt"/>
              </a:rPr>
              <a:t> 3 </a:t>
            </a:r>
            <a:r>
              <a:rPr lang="en-US" sz="3000" b="1" i="0" u="none" strike="noStrike" cap="none" dirty="0" err="1">
                <a:solidFill>
                  <a:srgbClr val="1B3B2B"/>
                </a:solidFill>
                <a:latin typeface="Prompt"/>
                <a:ea typeface="Prompt"/>
                <a:cs typeface="Prompt"/>
                <a:sym typeface="Prompt"/>
              </a:rPr>
              <a:t>ระดับ</a:t>
            </a:r>
            <a:endParaRPr dirty="0"/>
          </a:p>
        </p:txBody>
      </p:sp>
      <p:sp>
        <p:nvSpPr>
          <p:cNvPr id="278" name="Google Shape;278;p22"/>
          <p:cNvSpPr txBox="1"/>
          <p:nvPr/>
        </p:nvSpPr>
        <p:spPr>
          <a:xfrm>
            <a:off x="673489" y="2986087"/>
            <a:ext cx="3383821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B3B2B"/>
                </a:solidFill>
                <a:latin typeface="Prompt"/>
                <a:ea typeface="Prompt"/>
                <a:cs typeface="Prompt"/>
                <a:sym typeface="Prompt"/>
              </a:rPr>
              <a:t>Starter</a:t>
            </a:r>
            <a:endParaRPr/>
          </a:p>
        </p:txBody>
      </p:sp>
      <p:sp>
        <p:nvSpPr>
          <p:cNvPr id="279" name="Google Shape;279;p22"/>
          <p:cNvSpPr txBox="1"/>
          <p:nvPr/>
        </p:nvSpPr>
        <p:spPr>
          <a:xfrm>
            <a:off x="754056" y="3405187"/>
            <a:ext cx="3222687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A5568"/>
                </a:solidFill>
                <a:latin typeface="Prompt"/>
                <a:ea typeface="Prompt"/>
                <a:cs typeface="Prompt"/>
                <a:sym typeface="Prompt"/>
              </a:rPr>
              <a:t>ลูกค้าใหม่ / Potential</a:t>
            </a:r>
            <a:endParaRPr/>
          </a:p>
        </p:txBody>
      </p:sp>
      <p:sp>
        <p:nvSpPr>
          <p:cNvPr id="280" name="Google Shape;280;p22"/>
          <p:cNvSpPr txBox="1"/>
          <p:nvPr/>
        </p:nvSpPr>
        <p:spPr>
          <a:xfrm>
            <a:off x="754056" y="3833812"/>
            <a:ext cx="322268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2D6A4F"/>
                </a:solidFill>
                <a:latin typeface="Inter"/>
                <a:ea typeface="Inter"/>
                <a:cs typeface="Inter"/>
                <a:sym typeface="Inter"/>
              </a:rPr>
              <a:t>99 ฿</a:t>
            </a:r>
            <a:endParaRPr/>
          </a:p>
        </p:txBody>
      </p:sp>
      <p:sp>
        <p:nvSpPr>
          <p:cNvPr id="281" name="Google Shape;281;p22"/>
          <p:cNvSpPr txBox="1"/>
          <p:nvPr/>
        </p:nvSpPr>
        <p:spPr>
          <a:xfrm>
            <a:off x="754056" y="4367212"/>
            <a:ext cx="3222687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A5568"/>
                </a:solidFill>
                <a:latin typeface="Prompt"/>
                <a:ea typeface="Prompt"/>
                <a:cs typeface="Prompt"/>
                <a:sym typeface="Prompt"/>
              </a:rPr>
              <a:t>ต่อสัปดาห์</a:t>
            </a:r>
            <a:endParaRPr/>
          </a:p>
        </p:txBody>
      </p:sp>
      <p:sp>
        <p:nvSpPr>
          <p:cNvPr id="282" name="Google Shape;282;p22"/>
          <p:cNvSpPr txBox="1"/>
          <p:nvPr/>
        </p:nvSpPr>
        <p:spPr>
          <a:xfrm>
            <a:off x="754056" y="5186362"/>
            <a:ext cx="3222687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B3B2B"/>
                </a:solidFill>
                <a:latin typeface="Prompt"/>
                <a:ea typeface="Prompt"/>
                <a:cs typeface="Prompt"/>
                <a:sym typeface="Prompt"/>
              </a:rPr>
              <a:t>สินค้า 5 ชิ้นพื้นฐาน</a:t>
            </a:r>
            <a:endParaRPr/>
          </a:p>
        </p:txBody>
      </p:sp>
      <p:sp>
        <p:nvSpPr>
          <p:cNvPr id="283" name="Google Shape;283;p22"/>
          <p:cNvSpPr txBox="1"/>
          <p:nvPr/>
        </p:nvSpPr>
        <p:spPr>
          <a:xfrm>
            <a:off x="4319568" y="2925365"/>
            <a:ext cx="3553012" cy="3600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Prompt"/>
                <a:ea typeface="Prompt"/>
                <a:cs typeface="Prompt"/>
                <a:sym typeface="Prompt"/>
              </a:rPr>
              <a:t>Family</a:t>
            </a:r>
            <a:endParaRPr/>
          </a:p>
        </p:txBody>
      </p:sp>
      <p:sp>
        <p:nvSpPr>
          <p:cNvPr id="284" name="Google Shape;284;p22"/>
          <p:cNvSpPr txBox="1"/>
          <p:nvPr/>
        </p:nvSpPr>
        <p:spPr>
          <a:xfrm>
            <a:off x="4404163" y="3365420"/>
            <a:ext cx="3383821" cy="2100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A7C4B5"/>
                </a:solidFill>
                <a:latin typeface="Prompt"/>
                <a:ea typeface="Prompt"/>
                <a:cs typeface="Prompt"/>
                <a:sym typeface="Prompt"/>
              </a:rPr>
              <a:t>กลุ่มลูกค้า Loyal (เป้าหมายหลัก)</a:t>
            </a:r>
            <a:endParaRPr/>
          </a:p>
        </p:txBody>
      </p:sp>
      <p:sp>
        <p:nvSpPr>
          <p:cNvPr id="285" name="Google Shape;285;p22"/>
          <p:cNvSpPr txBox="1"/>
          <p:nvPr/>
        </p:nvSpPr>
        <p:spPr>
          <a:xfrm>
            <a:off x="4404163" y="3815476"/>
            <a:ext cx="3383821" cy="480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E07A5F"/>
                </a:solidFill>
                <a:latin typeface="Inter"/>
                <a:ea typeface="Inter"/>
                <a:cs typeface="Inter"/>
                <a:sym typeface="Inter"/>
              </a:rPr>
              <a:t>299 ฿</a:t>
            </a:r>
            <a:endParaRPr/>
          </a:p>
        </p:txBody>
      </p:sp>
      <p:sp>
        <p:nvSpPr>
          <p:cNvPr id="286" name="Google Shape;286;p22"/>
          <p:cNvSpPr txBox="1"/>
          <p:nvPr/>
        </p:nvSpPr>
        <p:spPr>
          <a:xfrm>
            <a:off x="4404163" y="4375546"/>
            <a:ext cx="3383821" cy="2100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A7C4B5"/>
                </a:solidFill>
                <a:latin typeface="Prompt"/>
                <a:ea typeface="Prompt"/>
                <a:cs typeface="Prompt"/>
                <a:sym typeface="Prompt"/>
              </a:rPr>
              <a:t>ต่อสัปดาห์</a:t>
            </a:r>
            <a:endParaRPr/>
          </a:p>
        </p:txBody>
      </p:sp>
      <p:sp>
        <p:nvSpPr>
          <p:cNvPr id="287" name="Google Shape;287;p22"/>
          <p:cNvSpPr txBox="1"/>
          <p:nvPr/>
        </p:nvSpPr>
        <p:spPr>
          <a:xfrm>
            <a:off x="4404163" y="5235654"/>
            <a:ext cx="3383821" cy="240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Prompt"/>
                <a:ea typeface="Prompt"/>
                <a:cs typeface="Prompt"/>
                <a:sym typeface="Prompt"/>
              </a:rPr>
              <a:t>สินค้า 12 ชิ้น</a:t>
            </a:r>
            <a:endParaRPr/>
          </a:p>
        </p:txBody>
      </p:sp>
      <p:sp>
        <p:nvSpPr>
          <p:cNvPr id="288" name="Google Shape;288;p22"/>
          <p:cNvSpPr txBox="1"/>
          <p:nvPr/>
        </p:nvSpPr>
        <p:spPr>
          <a:xfrm>
            <a:off x="8134838" y="2986087"/>
            <a:ext cx="3383821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B3B2B"/>
                </a:solidFill>
                <a:latin typeface="Prompt"/>
                <a:ea typeface="Prompt"/>
                <a:cs typeface="Prompt"/>
                <a:sym typeface="Prompt"/>
              </a:rPr>
              <a:t>Premium</a:t>
            </a:r>
            <a:endParaRPr/>
          </a:p>
        </p:txBody>
      </p:sp>
      <p:sp>
        <p:nvSpPr>
          <p:cNvPr id="289" name="Google Shape;289;p22"/>
          <p:cNvSpPr txBox="1"/>
          <p:nvPr/>
        </p:nvSpPr>
        <p:spPr>
          <a:xfrm>
            <a:off x="8215405" y="3405187"/>
            <a:ext cx="3222687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A5568"/>
                </a:solidFill>
                <a:latin typeface="Prompt"/>
                <a:ea typeface="Prompt"/>
                <a:cs typeface="Prompt"/>
                <a:sym typeface="Prompt"/>
              </a:rPr>
              <a:t>กลุ่มลูกค้า Champions</a:t>
            </a:r>
            <a:endParaRPr/>
          </a:p>
        </p:txBody>
      </p:sp>
      <p:sp>
        <p:nvSpPr>
          <p:cNvPr id="290" name="Google Shape;290;p22"/>
          <p:cNvSpPr txBox="1"/>
          <p:nvPr/>
        </p:nvSpPr>
        <p:spPr>
          <a:xfrm>
            <a:off x="8215405" y="3833812"/>
            <a:ext cx="322268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2D6A4F"/>
                </a:solidFill>
                <a:latin typeface="Inter"/>
                <a:ea typeface="Inter"/>
                <a:cs typeface="Inter"/>
                <a:sym typeface="Inter"/>
              </a:rPr>
              <a:t>599 ฿</a:t>
            </a:r>
            <a:endParaRPr/>
          </a:p>
        </p:txBody>
      </p:sp>
      <p:sp>
        <p:nvSpPr>
          <p:cNvPr id="291" name="Google Shape;291;p22"/>
          <p:cNvSpPr txBox="1"/>
          <p:nvPr/>
        </p:nvSpPr>
        <p:spPr>
          <a:xfrm>
            <a:off x="8215405" y="4367212"/>
            <a:ext cx="3222687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A5568"/>
                </a:solidFill>
                <a:latin typeface="Prompt"/>
                <a:ea typeface="Prompt"/>
                <a:cs typeface="Prompt"/>
                <a:sym typeface="Prompt"/>
              </a:rPr>
              <a:t>ต่อสัปดาห์</a:t>
            </a:r>
            <a:endParaRPr/>
          </a:p>
        </p:txBody>
      </p:sp>
      <p:sp>
        <p:nvSpPr>
          <p:cNvPr id="292" name="Google Shape;292;p22"/>
          <p:cNvSpPr txBox="1"/>
          <p:nvPr/>
        </p:nvSpPr>
        <p:spPr>
          <a:xfrm>
            <a:off x="8215405" y="5186362"/>
            <a:ext cx="3222687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B3B2B"/>
                </a:solidFill>
                <a:latin typeface="Prompt"/>
                <a:ea typeface="Prompt"/>
                <a:cs typeface="Prompt"/>
                <a:sym typeface="Prompt"/>
              </a:rPr>
              <a:t>สินค้า 18 ชิ้น + ของพิเศษ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2771948"/>
              </p:ext>
            </p:extLst>
          </p:nvPr>
        </p:nvGraphicFramePr>
        <p:xfrm>
          <a:off x="548640" y="1600200"/>
          <a:ext cx="6583680" cy="384048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rompt" pitchFamily="2" charset="-34"/>
                          <a:ea typeface="Tahoma" pitchFamily="34" charset="-122"/>
                          <a:cs typeface="Prompt" pitchFamily="2" charset="-34"/>
                        </a:rPr>
                        <a:t>กลุ่ม</a:t>
                      </a:r>
                      <a:endParaRPr lang="en-US" sz="1200" dirty="0">
                        <a:latin typeface="Prompt" pitchFamily="2" charset="-34"/>
                        <a:ea typeface="Tahoma" charset="0"/>
                        <a:cs typeface="Prompt" pitchFamily="2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rompt" pitchFamily="2" charset="-34"/>
                          <a:ea typeface="Tahoma" pitchFamily="34" charset="-122"/>
                          <a:cs typeface="Prompt" pitchFamily="2" charset="-34"/>
                        </a:rPr>
                        <a:t>แคมเปญ</a:t>
                      </a:r>
                      <a:endParaRPr lang="en-US" sz="1200" dirty="0">
                        <a:latin typeface="Prompt" pitchFamily="2" charset="-34"/>
                        <a:ea typeface="Tahoma" charset="0"/>
                        <a:cs typeface="Prompt" pitchFamily="2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rompt" pitchFamily="2" charset="-34"/>
                          <a:ea typeface="Tahoma" pitchFamily="34" charset="-122"/>
                          <a:cs typeface="Prompt" pitchFamily="2" charset="-34"/>
                        </a:rPr>
                        <a:t>ข้อเสนอ / ช่องทาง</a:t>
                      </a:r>
                      <a:endParaRPr lang="en-US" sz="1200" dirty="0">
                        <a:latin typeface="Prompt" pitchFamily="2" charset="-34"/>
                        <a:ea typeface="Tahoma" charset="0"/>
                        <a:cs typeface="Prompt" pitchFamily="2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A24"/>
                          </a:solidFill>
                          <a:latin typeface="Prompt" pitchFamily="2" charset="-34"/>
                          <a:ea typeface="Tahoma" pitchFamily="34" charset="-122"/>
                          <a:cs typeface="Prompt" pitchFamily="2" charset="-34"/>
                        </a:rPr>
                        <a:t>Champions</a:t>
                      </a:r>
                      <a:endParaRPr lang="en-US" sz="1100" dirty="0">
                        <a:latin typeface="Prompt" pitchFamily="2" charset="-34"/>
                        <a:ea typeface="Tahoma" charset="0"/>
                        <a:cs typeface="Prompt" pitchFamily="2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A24"/>
                          </a:solidFill>
                          <a:latin typeface="Prompt" pitchFamily="2" charset="-34"/>
                          <a:ea typeface="Tahoma" pitchFamily="34" charset="-122"/>
                          <a:cs typeface="Prompt" pitchFamily="2" charset="-34"/>
                        </a:rPr>
                        <a:t>VIP Priority</a:t>
                      </a:r>
                      <a:endParaRPr lang="en-US" sz="1100" dirty="0">
                        <a:latin typeface="Prompt" pitchFamily="2" charset="-34"/>
                        <a:ea typeface="Tahoma" charset="0"/>
                        <a:cs typeface="Prompt" pitchFamily="2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A24"/>
                          </a:solidFill>
                          <a:latin typeface="Prompt" pitchFamily="2" charset="-34"/>
                          <a:ea typeface="Tahoma" pitchFamily="34" charset="-122"/>
                          <a:cs typeface="Prompt" pitchFamily="2" charset="-34"/>
                        </a:rPr>
                        <a:t>จองก่อนใคร + ของขวัญวันเกิด • LINE 1-on-1</a:t>
                      </a:r>
                      <a:endParaRPr lang="en-US" sz="1100" dirty="0">
                        <a:latin typeface="Prompt" pitchFamily="2" charset="-34"/>
                        <a:ea typeface="Tahoma" charset="0"/>
                        <a:cs typeface="Prompt" pitchFamily="2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A24"/>
                          </a:solidFill>
                          <a:latin typeface="Prompt" pitchFamily="2" charset="-34"/>
                          <a:ea typeface="Tahoma" pitchFamily="34" charset="-122"/>
                          <a:cs typeface="Prompt" pitchFamily="2" charset="-34"/>
                        </a:rPr>
                        <a:t>Loyal</a:t>
                      </a:r>
                      <a:endParaRPr lang="en-US" sz="1100" dirty="0">
                        <a:latin typeface="Prompt" pitchFamily="2" charset="-34"/>
                        <a:ea typeface="Tahoma" charset="0"/>
                        <a:cs typeface="Prompt" pitchFamily="2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A24"/>
                          </a:solidFill>
                          <a:latin typeface="Prompt" pitchFamily="2" charset="-34"/>
                          <a:ea typeface="Tahoma" pitchFamily="34" charset="-122"/>
                          <a:cs typeface="Prompt" pitchFamily="2" charset="-34"/>
                        </a:rPr>
                        <a:t>Referral</a:t>
                      </a:r>
                      <a:endParaRPr lang="en-US" sz="1100" dirty="0">
                        <a:latin typeface="Prompt" pitchFamily="2" charset="-34"/>
                        <a:ea typeface="Tahoma" charset="0"/>
                        <a:cs typeface="Prompt" pitchFamily="2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A24"/>
                          </a:solidFill>
                          <a:latin typeface="Prompt" pitchFamily="2" charset="-34"/>
                          <a:ea typeface="Tahoma" pitchFamily="34" charset="-122"/>
                          <a:cs typeface="Prompt" pitchFamily="2" charset="-34"/>
                        </a:rPr>
                        <a:t>ชวนเพื่อน รับคูปองทั้งสองฝ่าย • LINE OA</a:t>
                      </a:r>
                      <a:endParaRPr lang="en-US" sz="1100" dirty="0">
                        <a:latin typeface="Prompt" pitchFamily="2" charset="-34"/>
                        <a:ea typeface="Tahoma" charset="0"/>
                        <a:cs typeface="Prompt" pitchFamily="2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A24"/>
                          </a:solidFill>
                          <a:latin typeface="Prompt" pitchFamily="2" charset="-34"/>
                          <a:ea typeface="Tahoma" pitchFamily="34" charset="-122"/>
                          <a:cs typeface="Prompt" pitchFamily="2" charset="-34"/>
                        </a:rPr>
                        <a:t>Potential</a:t>
                      </a:r>
                      <a:endParaRPr lang="en-US" sz="1100" dirty="0">
                        <a:latin typeface="Prompt" pitchFamily="2" charset="-34"/>
                        <a:ea typeface="Tahoma" charset="0"/>
                        <a:cs typeface="Prompt" pitchFamily="2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A24"/>
                          </a:solidFill>
                          <a:latin typeface="Prompt" pitchFamily="2" charset="-34"/>
                          <a:ea typeface="Tahoma" pitchFamily="34" charset="-122"/>
                          <a:cs typeface="Prompt" pitchFamily="2" charset="-34"/>
                        </a:rPr>
                        <a:t>Bundle promo</a:t>
                      </a:r>
                      <a:endParaRPr lang="en-US" sz="1100" dirty="0">
                        <a:latin typeface="Prompt" pitchFamily="2" charset="-34"/>
                        <a:ea typeface="Tahoma" charset="0"/>
                        <a:cs typeface="Prompt" pitchFamily="2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A24"/>
                          </a:solidFill>
                          <a:latin typeface="Prompt" pitchFamily="2" charset="-34"/>
                          <a:ea typeface="Tahoma" pitchFamily="34" charset="-122"/>
                          <a:cs typeface="Prompt" pitchFamily="2" charset="-34"/>
                        </a:rPr>
                        <a:t>ส่วนลด bundle แรก + ส่งฟรี • Web / LINE</a:t>
                      </a:r>
                      <a:endParaRPr lang="en-US" sz="1100" dirty="0">
                        <a:latin typeface="Prompt" pitchFamily="2" charset="-34"/>
                        <a:ea typeface="Tahoma" charset="0"/>
                        <a:cs typeface="Prompt" pitchFamily="2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A24"/>
                          </a:solidFill>
                          <a:latin typeface="Prompt" pitchFamily="2" charset="-34"/>
                          <a:ea typeface="Tahoma" pitchFamily="34" charset="-122"/>
                          <a:cs typeface="Prompt" pitchFamily="2" charset="-34"/>
                        </a:rPr>
                        <a:t>At-Risk</a:t>
                      </a:r>
                      <a:endParaRPr lang="en-US" sz="1100" dirty="0">
                        <a:latin typeface="Prompt" pitchFamily="2" charset="-34"/>
                        <a:ea typeface="Tahoma" charset="0"/>
                        <a:cs typeface="Prompt" pitchFamily="2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A24"/>
                          </a:solidFill>
                          <a:latin typeface="Prompt" pitchFamily="2" charset="-34"/>
                          <a:ea typeface="Tahoma" pitchFamily="34" charset="-122"/>
                          <a:cs typeface="Prompt" pitchFamily="2" charset="-34"/>
                        </a:rPr>
                        <a:t>Winback 7 วัน</a:t>
                      </a:r>
                      <a:endParaRPr lang="en-US" sz="1100" dirty="0">
                        <a:latin typeface="Prompt" pitchFamily="2" charset="-34"/>
                        <a:ea typeface="Tahoma" charset="0"/>
                        <a:cs typeface="Prompt" pitchFamily="2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A24"/>
                          </a:solidFill>
                          <a:latin typeface="Prompt" pitchFamily="2" charset="-34"/>
                          <a:ea typeface="Tahoma" pitchFamily="34" charset="-122"/>
                          <a:cs typeface="Prompt" pitchFamily="2" charset="-34"/>
                        </a:rPr>
                        <a:t>ลด 15–20% จำกัดเวลา • SMS / LINE</a:t>
                      </a:r>
                      <a:endParaRPr lang="en-US" sz="1100" dirty="0">
                        <a:latin typeface="Prompt" pitchFamily="2" charset="-34"/>
                        <a:ea typeface="Tahoma" charset="0"/>
                        <a:cs typeface="Prompt" pitchFamily="2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A24"/>
                          </a:solidFill>
                          <a:latin typeface="Prompt" pitchFamily="2" charset="-34"/>
                          <a:ea typeface="Tahoma" pitchFamily="34" charset="-122"/>
                          <a:cs typeface="Prompt" pitchFamily="2" charset="-34"/>
                        </a:rPr>
                        <a:t>Lost</a:t>
                      </a:r>
                      <a:endParaRPr lang="en-US" sz="1100" dirty="0">
                        <a:latin typeface="Prompt" pitchFamily="2" charset="-34"/>
                        <a:ea typeface="Tahoma" charset="0"/>
                        <a:cs typeface="Prompt" pitchFamily="2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A24"/>
                          </a:solidFill>
                          <a:latin typeface="Prompt" pitchFamily="2" charset="-34"/>
                          <a:ea typeface="Tahoma" pitchFamily="34" charset="-122"/>
                          <a:cs typeface="Prompt" pitchFamily="2" charset="-34"/>
                        </a:rPr>
                        <a:t>Big offer</a:t>
                      </a:r>
                      <a:endParaRPr lang="en-US" sz="1100" dirty="0">
                        <a:latin typeface="Prompt" pitchFamily="2" charset="-34"/>
                        <a:ea typeface="Tahoma" charset="0"/>
                        <a:cs typeface="Prompt" pitchFamily="2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A24"/>
                          </a:solidFill>
                          <a:latin typeface="Prompt" pitchFamily="2" charset="-34"/>
                          <a:ea typeface="Tahoma" pitchFamily="34" charset="-122"/>
                          <a:cs typeface="Prompt" pitchFamily="2" charset="-34"/>
                        </a:rPr>
                        <a:t>ลด 30% + ของทดลองชิม • Facebook</a:t>
                      </a:r>
                      <a:endParaRPr lang="en-US" sz="1100" dirty="0">
                        <a:latin typeface="Prompt" pitchFamily="2" charset="-34"/>
                        <a:ea typeface="Tahoma" charset="0"/>
                        <a:cs typeface="Prompt" pitchFamily="2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406640" y="1600200"/>
            <a:ext cx="420624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DCE6DE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TH">
              <a:latin typeface="Prompt" pitchFamily="2" charset="-34"/>
              <a:cs typeface="Prompt" pitchFamily="2" charset="-34"/>
            </a:endParaRPr>
          </a:p>
        </p:txBody>
      </p:sp>
      <p:sp>
        <p:nvSpPr>
          <p:cNvPr id="6" name="Text 3"/>
          <p:cNvSpPr txBox="1"/>
          <p:nvPr/>
        </p:nvSpPr>
        <p:spPr>
          <a:xfrm>
            <a:off x="7680960" y="17830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B4332"/>
                </a:solidFill>
                <a:latin typeface="Prompt" pitchFamily="2" charset="-34"/>
                <a:ea typeface="Tahoma" pitchFamily="34" charset="-122"/>
                <a:cs typeface="Prompt" pitchFamily="2" charset="-34"/>
              </a:rPr>
              <a:t>Starter</a:t>
            </a:r>
            <a:endParaRPr lang="en-US" sz="1600" dirty="0">
              <a:latin typeface="Prompt" pitchFamily="2" charset="-34"/>
              <a:cs typeface="Prompt" pitchFamily="2" charset="-34"/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9326880" y="17830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E07A1F"/>
                </a:solidFill>
                <a:latin typeface="Prompt" pitchFamily="2" charset="-34"/>
                <a:ea typeface="Tahoma" pitchFamily="34" charset="-122"/>
                <a:cs typeface="Prompt" pitchFamily="2" charset="-34"/>
              </a:rPr>
              <a:t>99 ฿/สัปดาห์</a:t>
            </a:r>
            <a:endParaRPr lang="en-US" sz="1500" dirty="0">
              <a:latin typeface="Prompt" pitchFamily="2" charset="-34"/>
              <a:cs typeface="Prompt" pitchFamily="2" charset="-34"/>
            </a:endParaRPr>
          </a:p>
        </p:txBody>
      </p:sp>
      <p:sp>
        <p:nvSpPr>
          <p:cNvPr id="8" name="Text 5"/>
          <p:cNvSpPr txBox="1"/>
          <p:nvPr/>
        </p:nvSpPr>
        <p:spPr>
          <a:xfrm>
            <a:off x="7680960" y="2331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62"/>
                </a:solidFill>
                <a:latin typeface="Prompt" pitchFamily="2" charset="-34"/>
                <a:ea typeface="Tahoma" pitchFamily="34" charset="-122"/>
                <a:cs typeface="Prompt" pitchFamily="2" charset="-34"/>
              </a:rPr>
              <a:t>5 รายการ • ลูกค้าใหม่ / Potential</a:t>
            </a:r>
            <a:endParaRPr lang="en-US" sz="1200" dirty="0">
              <a:latin typeface="Prompt" pitchFamily="2" charset="-34"/>
              <a:cs typeface="Prompt" pitchFamily="2" charset="-34"/>
            </a:endParaRPr>
          </a:p>
        </p:txBody>
      </p:sp>
      <p:sp>
        <p:nvSpPr>
          <p:cNvPr id="9" name="Shape 6"/>
          <p:cNvSpPr/>
          <p:nvPr/>
        </p:nvSpPr>
        <p:spPr>
          <a:xfrm>
            <a:off x="7406640" y="2926080"/>
            <a:ext cx="4206240" cy="1188720"/>
          </a:xfrm>
          <a:prstGeom prst="roundRect">
            <a:avLst>
              <a:gd name="adj" fmla="val 9231"/>
            </a:avLst>
          </a:prstGeom>
          <a:solidFill>
            <a:srgbClr val="1B4332"/>
          </a:solidFill>
          <a:ln w="12700">
            <a:solidFill>
              <a:srgbClr val="DCE6DE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TH">
              <a:latin typeface="Prompt" pitchFamily="2" charset="-34"/>
              <a:cs typeface="Prompt" pitchFamily="2" charset="-34"/>
            </a:endParaRPr>
          </a:p>
        </p:txBody>
      </p:sp>
      <p:sp>
        <p:nvSpPr>
          <p:cNvPr id="10" name="Text 7"/>
          <p:cNvSpPr txBox="1"/>
          <p:nvPr/>
        </p:nvSpPr>
        <p:spPr>
          <a:xfrm>
            <a:off x="7680960" y="31089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Prompt" pitchFamily="2" charset="-34"/>
                <a:ea typeface="Tahoma" pitchFamily="34" charset="-122"/>
                <a:cs typeface="Prompt" pitchFamily="2" charset="-34"/>
              </a:rPr>
              <a:t>Family</a:t>
            </a:r>
            <a:endParaRPr lang="en-US" sz="1600" dirty="0">
              <a:latin typeface="Prompt" pitchFamily="2" charset="-34"/>
              <a:cs typeface="Prompt" pitchFamily="2" charset="-34"/>
            </a:endParaRPr>
          </a:p>
        </p:txBody>
      </p:sp>
      <p:sp>
        <p:nvSpPr>
          <p:cNvPr id="11" name="Text 8"/>
          <p:cNvSpPr txBox="1"/>
          <p:nvPr/>
        </p:nvSpPr>
        <p:spPr>
          <a:xfrm>
            <a:off x="9326880" y="31089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E07A1F"/>
                </a:solidFill>
                <a:latin typeface="Prompt" pitchFamily="2" charset="-34"/>
                <a:ea typeface="Tahoma" pitchFamily="34" charset="-122"/>
                <a:cs typeface="Prompt" pitchFamily="2" charset="-34"/>
              </a:rPr>
              <a:t>299 ฿/สัปดาห์</a:t>
            </a:r>
            <a:endParaRPr lang="en-US" sz="1500" dirty="0">
              <a:latin typeface="Prompt" pitchFamily="2" charset="-34"/>
              <a:cs typeface="Prompt" pitchFamily="2" charset="-34"/>
            </a:endParaRPr>
          </a:p>
        </p:txBody>
      </p:sp>
      <p:sp>
        <p:nvSpPr>
          <p:cNvPr id="12" name="Text 9"/>
          <p:cNvSpPr txBox="1"/>
          <p:nvPr/>
        </p:nvSpPr>
        <p:spPr>
          <a:xfrm>
            <a:off x="7680960" y="3657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D8E9DC"/>
                </a:solidFill>
                <a:latin typeface="Prompt" pitchFamily="2" charset="-34"/>
                <a:ea typeface="Tahoma" pitchFamily="34" charset="-122"/>
                <a:cs typeface="Prompt" pitchFamily="2" charset="-34"/>
              </a:rPr>
              <a:t>12 รายการ • Loyal</a:t>
            </a:r>
            <a:endParaRPr lang="en-US" sz="1200" dirty="0">
              <a:latin typeface="Prompt" pitchFamily="2" charset="-34"/>
              <a:cs typeface="Prompt" pitchFamily="2" charset="-34"/>
            </a:endParaRPr>
          </a:p>
        </p:txBody>
      </p:sp>
      <p:sp>
        <p:nvSpPr>
          <p:cNvPr id="4" name="Shape 10"/>
          <p:cNvSpPr/>
          <p:nvPr/>
        </p:nvSpPr>
        <p:spPr>
          <a:xfrm>
            <a:off x="7406640" y="4251960"/>
            <a:ext cx="420624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DCE6DE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TH">
              <a:latin typeface="Prompt" pitchFamily="2" charset="-34"/>
              <a:cs typeface="Prompt" pitchFamily="2" charset="-34"/>
            </a:endParaRPr>
          </a:p>
        </p:txBody>
      </p:sp>
      <p:sp>
        <p:nvSpPr>
          <p:cNvPr id="14" name="Text 11"/>
          <p:cNvSpPr txBox="1"/>
          <p:nvPr/>
        </p:nvSpPr>
        <p:spPr>
          <a:xfrm>
            <a:off x="7680960" y="44348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B4332"/>
                </a:solidFill>
                <a:latin typeface="Prompt" pitchFamily="2" charset="-34"/>
                <a:ea typeface="Tahoma" pitchFamily="34" charset="-122"/>
                <a:cs typeface="Prompt" pitchFamily="2" charset="-34"/>
              </a:rPr>
              <a:t>Premium</a:t>
            </a:r>
            <a:endParaRPr lang="en-US" sz="1600" dirty="0">
              <a:latin typeface="Prompt" pitchFamily="2" charset="-34"/>
              <a:cs typeface="Prompt" pitchFamily="2" charset="-34"/>
            </a:endParaRPr>
          </a:p>
        </p:txBody>
      </p:sp>
      <p:sp>
        <p:nvSpPr>
          <p:cNvPr id="15" name="Text 12"/>
          <p:cNvSpPr txBox="1"/>
          <p:nvPr/>
        </p:nvSpPr>
        <p:spPr>
          <a:xfrm>
            <a:off x="9326880" y="44348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E07A1F"/>
                </a:solidFill>
                <a:latin typeface="Prompt" pitchFamily="2" charset="-34"/>
                <a:ea typeface="Tahoma" pitchFamily="34" charset="-122"/>
                <a:cs typeface="Prompt" pitchFamily="2" charset="-34"/>
              </a:rPr>
              <a:t>599 ฿/สัปดาห์</a:t>
            </a:r>
            <a:endParaRPr lang="en-US" sz="1500" dirty="0">
              <a:latin typeface="Prompt" pitchFamily="2" charset="-34"/>
              <a:cs typeface="Prompt" pitchFamily="2" charset="-34"/>
            </a:endParaRPr>
          </a:p>
        </p:txBody>
      </p:sp>
      <p:sp>
        <p:nvSpPr>
          <p:cNvPr id="16" name="Text 13"/>
          <p:cNvSpPr txBox="1"/>
          <p:nvPr/>
        </p:nvSpPr>
        <p:spPr>
          <a:xfrm>
            <a:off x="7680960" y="4983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62"/>
                </a:solidFill>
                <a:latin typeface="Prompt" pitchFamily="2" charset="-34"/>
                <a:ea typeface="Tahoma" pitchFamily="34" charset="-122"/>
                <a:cs typeface="Prompt" pitchFamily="2" charset="-34"/>
              </a:rPr>
              <a:t>18 รายการ + ของพิเศษ • Champions</a:t>
            </a:r>
            <a:endParaRPr lang="en-US" sz="1200" dirty="0">
              <a:latin typeface="Prompt" pitchFamily="2" charset="-34"/>
              <a:cs typeface="Prompt" pitchFamily="2" charset="-34"/>
            </a:endParaRPr>
          </a:p>
        </p:txBody>
      </p:sp>
      <p:sp>
        <p:nvSpPr>
          <p:cNvPr id="17" name="Text 14"/>
          <p:cNvSpPr txBox="1"/>
          <p:nvPr/>
        </p:nvSpPr>
        <p:spPr>
          <a:xfrm>
            <a:off x="548640" y="5943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62"/>
                </a:solidFill>
                <a:latin typeface="Prompt" pitchFamily="2" charset="-34"/>
                <a:ea typeface="Tahoma" pitchFamily="34" charset="-122"/>
                <a:cs typeface="Prompt" pitchFamily="2" charset="-34"/>
              </a:rPr>
              <a:t>กติกา: ข้ามรอบได้ • สลับสินค้า • ส่งฟรี • Uptake Family ~12% (~120 คน) เป็นสมมติฐาน ต้องทดสอบจริง</a:t>
            </a:r>
            <a:endParaRPr lang="en-US" sz="1200" dirty="0">
              <a:latin typeface="Prompt" pitchFamily="2" charset="-34"/>
              <a:cs typeface="Prompt" pitchFamily="2" charset="-34"/>
            </a:endParaRPr>
          </a:p>
        </p:txBody>
      </p:sp>
      <p:sp>
        <p:nvSpPr>
          <p:cNvPr id="18" name="Google Shape;276;p22">
            <a:extLst>
              <a:ext uri="{FF2B5EF4-FFF2-40B4-BE49-F238E27FC236}">
                <a16:creationId xmlns:a16="http://schemas.microsoft.com/office/drawing/2014/main" id="{8E832EB8-3B52-1FD9-4913-43A9631535D3}"/>
              </a:ext>
            </a:extLst>
          </p:cNvPr>
          <p:cNvSpPr txBox="1"/>
          <p:nvPr/>
        </p:nvSpPr>
        <p:spPr>
          <a:xfrm>
            <a:off x="609600" y="609600"/>
            <a:ext cx="1106805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0F172A"/>
                </a:solidFill>
                <a:latin typeface="Prompt"/>
                <a:ea typeface="Prompt"/>
                <a:cs typeface="Prompt"/>
                <a:sym typeface="Prompt"/>
              </a:rPr>
              <a:t>PHASE 4 • PRESCRIPTIVE</a:t>
            </a:r>
            <a:endParaRPr/>
          </a:p>
        </p:txBody>
      </p:sp>
      <p:sp>
        <p:nvSpPr>
          <p:cNvPr id="19" name="Google Shape;277;p22">
            <a:extLst>
              <a:ext uri="{FF2B5EF4-FFF2-40B4-BE49-F238E27FC236}">
                <a16:creationId xmlns:a16="http://schemas.microsoft.com/office/drawing/2014/main" id="{C593A271-1801-045B-813F-C8383D5B5939}"/>
              </a:ext>
            </a:extLst>
          </p:cNvPr>
          <p:cNvSpPr txBox="1"/>
          <p:nvPr/>
        </p:nvSpPr>
        <p:spPr>
          <a:xfrm>
            <a:off x="609600" y="962025"/>
            <a:ext cx="11582400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 dirty="0" err="1">
                <a:solidFill>
                  <a:srgbClr val="1B3B2B"/>
                </a:solidFill>
                <a:latin typeface="Prompt"/>
                <a:ea typeface="Prompt"/>
                <a:cs typeface="Prompt"/>
                <a:sym typeface="Prompt"/>
              </a:rPr>
              <a:t>ระบบกล่องสมาชิก</a:t>
            </a:r>
            <a:r>
              <a:rPr lang="en-US" sz="3000" b="1" i="0" u="none" strike="noStrike" cap="none" dirty="0">
                <a:solidFill>
                  <a:srgbClr val="1B3B2B"/>
                </a:solidFill>
                <a:latin typeface="Prompt"/>
                <a:ea typeface="Prompt"/>
                <a:cs typeface="Prompt"/>
                <a:sym typeface="Prompt"/>
              </a:rPr>
              <a:t> 3 </a:t>
            </a:r>
            <a:r>
              <a:rPr lang="en-US" sz="3000" b="1" i="0" u="none" strike="noStrike" cap="none" dirty="0" err="1">
                <a:solidFill>
                  <a:srgbClr val="1B3B2B"/>
                </a:solidFill>
                <a:latin typeface="Prompt"/>
                <a:ea typeface="Prompt"/>
                <a:cs typeface="Prompt"/>
                <a:sym typeface="Prompt"/>
              </a:rPr>
              <a:t>ระดับ</a:t>
            </a:r>
            <a:endParaRPr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23"/>
          <p:cNvSpPr txBox="1"/>
          <p:nvPr/>
        </p:nvSpPr>
        <p:spPr>
          <a:xfrm>
            <a:off x="609600" y="609600"/>
            <a:ext cx="1106805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0F172A"/>
                </a:solidFill>
                <a:latin typeface="Prompt"/>
                <a:ea typeface="Prompt"/>
                <a:cs typeface="Prompt"/>
                <a:sym typeface="Prompt"/>
              </a:rPr>
              <a:t>PHASE 4 • PRESCRIPTIVE</a:t>
            </a:r>
            <a:endParaRPr/>
          </a:p>
        </p:txBody>
      </p:sp>
      <p:sp>
        <p:nvSpPr>
          <p:cNvPr id="306" name="Google Shape;306;p23"/>
          <p:cNvSpPr txBox="1"/>
          <p:nvPr/>
        </p:nvSpPr>
        <p:spPr>
          <a:xfrm>
            <a:off x="609600" y="962025"/>
            <a:ext cx="11582400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B3B2B"/>
                </a:solidFill>
                <a:latin typeface="Prompt"/>
                <a:ea typeface="Prompt"/>
                <a:cs typeface="Prompt"/>
                <a:sym typeface="Prompt"/>
              </a:rPr>
              <a:t>ปรับโมเดลค่าจัดส่งตามโซนพื้นที่</a:t>
            </a:r>
            <a:endParaRPr/>
          </a:p>
        </p:txBody>
      </p:sp>
      <p:sp>
        <p:nvSpPr>
          <p:cNvPr id="2" name="Shape 2">
            <a:extLst>
              <a:ext uri="{FF2B5EF4-FFF2-40B4-BE49-F238E27FC236}">
                <a16:creationId xmlns:a16="http://schemas.microsoft.com/office/drawing/2014/main" id="{6F702E33-A573-F469-4C2A-903F1C8A92DC}"/>
              </a:ext>
            </a:extLst>
          </p:cNvPr>
          <p:cNvSpPr/>
          <p:nvPr/>
        </p:nvSpPr>
        <p:spPr>
          <a:xfrm>
            <a:off x="548640" y="1554480"/>
            <a:ext cx="2651760" cy="31089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CE6DE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TH">
              <a:latin typeface="Prompt" pitchFamily="2" charset="-34"/>
              <a:cs typeface="Prompt" pitchFamily="2" charset="-34"/>
            </a:endParaRPr>
          </a:p>
        </p:txBody>
      </p:sp>
      <p:sp>
        <p:nvSpPr>
          <p:cNvPr id="3" name="Shape 3">
            <a:extLst>
              <a:ext uri="{FF2B5EF4-FFF2-40B4-BE49-F238E27FC236}">
                <a16:creationId xmlns:a16="http://schemas.microsoft.com/office/drawing/2014/main" id="{45A67E3D-3EE4-EED9-EC2F-E02F60488797}"/>
              </a:ext>
            </a:extLst>
          </p:cNvPr>
          <p:cNvSpPr/>
          <p:nvPr/>
        </p:nvSpPr>
        <p:spPr>
          <a:xfrm>
            <a:off x="822960" y="1783080"/>
            <a:ext cx="640080" cy="640080"/>
          </a:xfrm>
          <a:prstGeom prst="ellipse">
            <a:avLst/>
          </a:prstGeom>
          <a:solidFill>
            <a:srgbClr val="2D6A4F"/>
          </a:solidFill>
          <a:ln/>
        </p:spPr>
        <p:txBody>
          <a:bodyPr/>
          <a:lstStyle/>
          <a:p>
            <a:endParaRPr lang="en-TH">
              <a:latin typeface="Prompt" pitchFamily="2" charset="-34"/>
              <a:cs typeface="Prompt" pitchFamily="2" charset="-34"/>
            </a:endParaRPr>
          </a:p>
        </p:txBody>
      </p:sp>
      <p:sp>
        <p:nvSpPr>
          <p:cNvPr id="4" name="Text 4">
            <a:extLst>
              <a:ext uri="{FF2B5EF4-FFF2-40B4-BE49-F238E27FC236}">
                <a16:creationId xmlns:a16="http://schemas.microsoft.com/office/drawing/2014/main" id="{92A4341A-0612-3AA2-9A6F-92B9AB87D494}"/>
              </a:ext>
            </a:extLst>
          </p:cNvPr>
          <p:cNvSpPr txBox="1"/>
          <p:nvPr/>
        </p:nvSpPr>
        <p:spPr>
          <a:xfrm>
            <a:off x="822960" y="1783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Prompt" pitchFamily="2" charset="-34"/>
                <a:ea typeface="Tahoma" pitchFamily="34" charset="-122"/>
                <a:cs typeface="Prompt" pitchFamily="2" charset="-34"/>
              </a:rPr>
              <a:t>A</a:t>
            </a:r>
            <a:endParaRPr lang="en-US" sz="2200" dirty="0">
              <a:latin typeface="Prompt" pitchFamily="2" charset="-34"/>
              <a:cs typeface="Prompt" pitchFamily="2" charset="-34"/>
            </a:endParaRPr>
          </a:p>
        </p:txBody>
      </p:sp>
      <p:sp>
        <p:nvSpPr>
          <p:cNvPr id="5" name="Text 5">
            <a:extLst>
              <a:ext uri="{FF2B5EF4-FFF2-40B4-BE49-F238E27FC236}">
                <a16:creationId xmlns:a16="http://schemas.microsoft.com/office/drawing/2014/main" id="{69094CB7-F93A-7E99-ECFB-1606CFCED1E9}"/>
              </a:ext>
            </a:extLst>
          </p:cNvPr>
          <p:cNvSpPr txBox="1"/>
          <p:nvPr/>
        </p:nvSpPr>
        <p:spPr>
          <a:xfrm>
            <a:off x="822960" y="26060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B4332"/>
                </a:solidFill>
                <a:latin typeface="Prompt" pitchFamily="2" charset="-34"/>
                <a:ea typeface="Tahoma" pitchFamily="34" charset="-122"/>
                <a:cs typeface="Prompt" pitchFamily="2" charset="-34"/>
              </a:rPr>
              <a:t>ใกล้ • กำไรดี</a:t>
            </a:r>
            <a:endParaRPr lang="en-US" sz="1500" dirty="0">
              <a:latin typeface="Prompt" pitchFamily="2" charset="-34"/>
              <a:cs typeface="Prompt" pitchFamily="2" charset="-34"/>
            </a:endParaRPr>
          </a:p>
        </p:txBody>
      </p:sp>
      <p:sp>
        <p:nvSpPr>
          <p:cNvPr id="6" name="Text 6">
            <a:extLst>
              <a:ext uri="{FF2B5EF4-FFF2-40B4-BE49-F238E27FC236}">
                <a16:creationId xmlns:a16="http://schemas.microsoft.com/office/drawing/2014/main" id="{4983F83C-DFD0-C30C-2969-DE81C1E48F94}"/>
              </a:ext>
            </a:extLst>
          </p:cNvPr>
          <p:cNvSpPr txBox="1"/>
          <p:nvPr/>
        </p:nvSpPr>
        <p:spPr>
          <a:xfrm>
            <a:off x="822960" y="30632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62"/>
                </a:solidFill>
                <a:latin typeface="Prompt" pitchFamily="2" charset="-34"/>
                <a:ea typeface="Tahoma" pitchFamily="34" charset="-122"/>
                <a:cs typeface="Prompt" pitchFamily="2" charset="-34"/>
              </a:rPr>
              <a:t>สาทร อโศก ทองหล่อ เอกมัย สามย่าน อารีย์</a:t>
            </a:r>
            <a:endParaRPr lang="en-US" sz="1200" dirty="0">
              <a:latin typeface="Prompt" pitchFamily="2" charset="-34"/>
              <a:cs typeface="Prompt" pitchFamily="2" charset="-34"/>
            </a:endParaRPr>
          </a:p>
        </p:txBody>
      </p:sp>
      <p:sp>
        <p:nvSpPr>
          <p:cNvPr id="7" name="Text 7">
            <a:extLst>
              <a:ext uri="{FF2B5EF4-FFF2-40B4-BE49-F238E27FC236}">
                <a16:creationId xmlns:a16="http://schemas.microsoft.com/office/drawing/2014/main" id="{362C4340-0919-D192-60A8-204B19E0E19D}"/>
              </a:ext>
            </a:extLst>
          </p:cNvPr>
          <p:cNvSpPr txBox="1"/>
          <p:nvPr/>
        </p:nvSpPr>
        <p:spPr>
          <a:xfrm>
            <a:off x="822960" y="38862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D6A4F"/>
                </a:solidFill>
                <a:latin typeface="Prompt" pitchFamily="2" charset="-34"/>
                <a:ea typeface="Tahoma" pitchFamily="34" charset="-122"/>
                <a:cs typeface="Prompt" pitchFamily="2" charset="-34"/>
              </a:rPr>
              <a:t>คงราคาเดิม</a:t>
            </a:r>
            <a:endParaRPr lang="en-US" sz="1300" dirty="0">
              <a:latin typeface="Prompt" pitchFamily="2" charset="-34"/>
              <a:cs typeface="Prompt" pitchFamily="2" charset="-34"/>
            </a:endParaRP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4EFB6F86-6F4D-197F-B858-BDE96E584890}"/>
              </a:ext>
            </a:extLst>
          </p:cNvPr>
          <p:cNvSpPr/>
          <p:nvPr/>
        </p:nvSpPr>
        <p:spPr>
          <a:xfrm>
            <a:off x="3355848" y="1554480"/>
            <a:ext cx="2651760" cy="31089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CE6DE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TH">
              <a:latin typeface="Prompt" pitchFamily="2" charset="-34"/>
              <a:cs typeface="Prompt" pitchFamily="2" charset="-34"/>
            </a:endParaRP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04139872-484C-EA1D-6DBF-65CAB1DA4662}"/>
              </a:ext>
            </a:extLst>
          </p:cNvPr>
          <p:cNvSpPr/>
          <p:nvPr/>
        </p:nvSpPr>
        <p:spPr>
          <a:xfrm>
            <a:off x="3630168" y="1783080"/>
            <a:ext cx="640080" cy="640080"/>
          </a:xfrm>
          <a:prstGeom prst="ellipse">
            <a:avLst/>
          </a:prstGeom>
          <a:solidFill>
            <a:srgbClr val="52B788"/>
          </a:solidFill>
          <a:ln/>
        </p:spPr>
        <p:txBody>
          <a:bodyPr/>
          <a:lstStyle/>
          <a:p>
            <a:endParaRPr lang="en-TH">
              <a:latin typeface="Prompt" pitchFamily="2" charset="-34"/>
              <a:cs typeface="Prompt" pitchFamily="2" charset="-34"/>
            </a:endParaRPr>
          </a:p>
        </p:txBody>
      </p:sp>
      <p:sp>
        <p:nvSpPr>
          <p:cNvPr id="10" name="Text 10">
            <a:extLst>
              <a:ext uri="{FF2B5EF4-FFF2-40B4-BE49-F238E27FC236}">
                <a16:creationId xmlns:a16="http://schemas.microsoft.com/office/drawing/2014/main" id="{04FF05C5-BC96-E695-CF21-62A6C2E4FF0F}"/>
              </a:ext>
            </a:extLst>
          </p:cNvPr>
          <p:cNvSpPr txBox="1"/>
          <p:nvPr/>
        </p:nvSpPr>
        <p:spPr>
          <a:xfrm>
            <a:off x="3630168" y="1783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Prompt" pitchFamily="2" charset="-34"/>
                <a:ea typeface="Tahoma" pitchFamily="34" charset="-122"/>
                <a:cs typeface="Prompt" pitchFamily="2" charset="-34"/>
              </a:rPr>
              <a:t>B</a:t>
            </a:r>
            <a:endParaRPr lang="en-US" sz="2200" dirty="0">
              <a:latin typeface="Prompt" pitchFamily="2" charset="-34"/>
              <a:cs typeface="Prompt" pitchFamily="2" charset="-34"/>
            </a:endParaRPr>
          </a:p>
        </p:txBody>
      </p:sp>
      <p:sp>
        <p:nvSpPr>
          <p:cNvPr id="11" name="Text 11">
            <a:extLst>
              <a:ext uri="{FF2B5EF4-FFF2-40B4-BE49-F238E27FC236}">
                <a16:creationId xmlns:a16="http://schemas.microsoft.com/office/drawing/2014/main" id="{44B58FEB-DA64-ACE7-7B81-C3F0D66327C4}"/>
              </a:ext>
            </a:extLst>
          </p:cNvPr>
          <p:cNvSpPr txBox="1"/>
          <p:nvPr/>
        </p:nvSpPr>
        <p:spPr>
          <a:xfrm>
            <a:off x="3630168" y="26060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B4332"/>
                </a:solidFill>
                <a:latin typeface="Prompt" pitchFamily="2" charset="-34"/>
                <a:ea typeface="Tahoma" pitchFamily="34" charset="-122"/>
                <a:cs typeface="Prompt" pitchFamily="2" charset="-34"/>
              </a:rPr>
              <a:t>ปานกลาง</a:t>
            </a:r>
            <a:endParaRPr lang="en-US" sz="1500" dirty="0">
              <a:latin typeface="Prompt" pitchFamily="2" charset="-34"/>
              <a:cs typeface="Prompt" pitchFamily="2" charset="-34"/>
            </a:endParaRPr>
          </a:p>
        </p:txBody>
      </p:sp>
      <p:sp>
        <p:nvSpPr>
          <p:cNvPr id="12" name="Text 12">
            <a:extLst>
              <a:ext uri="{FF2B5EF4-FFF2-40B4-BE49-F238E27FC236}">
                <a16:creationId xmlns:a16="http://schemas.microsoft.com/office/drawing/2014/main" id="{94D8C275-25C2-4946-B497-DF68A1E1BD48}"/>
              </a:ext>
            </a:extLst>
          </p:cNvPr>
          <p:cNvSpPr txBox="1"/>
          <p:nvPr/>
        </p:nvSpPr>
        <p:spPr>
          <a:xfrm>
            <a:off x="3630168" y="30632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62"/>
                </a:solidFill>
                <a:latin typeface="Prompt" pitchFamily="2" charset="-34"/>
                <a:ea typeface="Tahoma" pitchFamily="34" charset="-122"/>
                <a:cs typeface="Prompt" pitchFamily="2" charset="-34"/>
              </a:rPr>
              <a:t>บางนา ตากสิน</a:t>
            </a:r>
            <a:endParaRPr lang="en-US" sz="1200" dirty="0">
              <a:latin typeface="Prompt" pitchFamily="2" charset="-34"/>
              <a:cs typeface="Prompt" pitchFamily="2" charset="-34"/>
            </a:endParaRPr>
          </a:p>
        </p:txBody>
      </p:sp>
      <p:sp>
        <p:nvSpPr>
          <p:cNvPr id="13" name="Text 13">
            <a:extLst>
              <a:ext uri="{FF2B5EF4-FFF2-40B4-BE49-F238E27FC236}">
                <a16:creationId xmlns:a16="http://schemas.microsoft.com/office/drawing/2014/main" id="{D0510C06-6A92-DA7C-E830-CE78A62E27EB}"/>
              </a:ext>
            </a:extLst>
          </p:cNvPr>
          <p:cNvSpPr txBox="1"/>
          <p:nvPr/>
        </p:nvSpPr>
        <p:spPr>
          <a:xfrm>
            <a:off x="3630168" y="38862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D6A4F"/>
                </a:solidFill>
                <a:latin typeface="Prompt" pitchFamily="2" charset="-34"/>
                <a:ea typeface="Tahoma" pitchFamily="34" charset="-122"/>
                <a:cs typeface="Prompt" pitchFamily="2" charset="-34"/>
              </a:rPr>
              <a:t>เพิ่มค่าส่ง 30 ฿</a:t>
            </a:r>
            <a:endParaRPr lang="en-US" sz="1300" dirty="0">
              <a:latin typeface="Prompt" pitchFamily="2" charset="-34"/>
              <a:cs typeface="Prompt" pitchFamily="2" charset="-34"/>
            </a:endParaRPr>
          </a:p>
        </p:txBody>
      </p:sp>
      <p:sp>
        <p:nvSpPr>
          <p:cNvPr id="14" name="Shape 14">
            <a:extLst>
              <a:ext uri="{FF2B5EF4-FFF2-40B4-BE49-F238E27FC236}">
                <a16:creationId xmlns:a16="http://schemas.microsoft.com/office/drawing/2014/main" id="{8826944B-1A34-9642-CC22-156E16F0A653}"/>
              </a:ext>
            </a:extLst>
          </p:cNvPr>
          <p:cNvSpPr/>
          <p:nvPr/>
        </p:nvSpPr>
        <p:spPr>
          <a:xfrm>
            <a:off x="6163056" y="1554480"/>
            <a:ext cx="2651760" cy="31089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CE6DE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TH">
              <a:latin typeface="Prompt" pitchFamily="2" charset="-34"/>
              <a:cs typeface="Prompt" pitchFamily="2" charset="-34"/>
            </a:endParaRPr>
          </a:p>
        </p:txBody>
      </p:sp>
      <p:sp>
        <p:nvSpPr>
          <p:cNvPr id="15" name="Shape 15">
            <a:extLst>
              <a:ext uri="{FF2B5EF4-FFF2-40B4-BE49-F238E27FC236}">
                <a16:creationId xmlns:a16="http://schemas.microsoft.com/office/drawing/2014/main" id="{5E0CFE05-90EC-6F5F-5113-D88212F1C729}"/>
              </a:ext>
            </a:extLst>
          </p:cNvPr>
          <p:cNvSpPr/>
          <p:nvPr/>
        </p:nvSpPr>
        <p:spPr>
          <a:xfrm>
            <a:off x="6437376" y="1783080"/>
            <a:ext cx="640080" cy="640080"/>
          </a:xfrm>
          <a:prstGeom prst="ellipse">
            <a:avLst/>
          </a:prstGeom>
          <a:solidFill>
            <a:srgbClr val="E07A1F"/>
          </a:solidFill>
          <a:ln/>
        </p:spPr>
        <p:txBody>
          <a:bodyPr/>
          <a:lstStyle/>
          <a:p>
            <a:endParaRPr lang="en-TH">
              <a:latin typeface="Prompt" pitchFamily="2" charset="-34"/>
              <a:cs typeface="Prompt" pitchFamily="2" charset="-34"/>
            </a:endParaRPr>
          </a:p>
        </p:txBody>
      </p:sp>
      <p:sp>
        <p:nvSpPr>
          <p:cNvPr id="16" name="Text 16">
            <a:extLst>
              <a:ext uri="{FF2B5EF4-FFF2-40B4-BE49-F238E27FC236}">
                <a16:creationId xmlns:a16="http://schemas.microsoft.com/office/drawing/2014/main" id="{2D086D2B-EE34-CC86-4B06-87FB12D050CC}"/>
              </a:ext>
            </a:extLst>
          </p:cNvPr>
          <p:cNvSpPr txBox="1"/>
          <p:nvPr/>
        </p:nvSpPr>
        <p:spPr>
          <a:xfrm>
            <a:off x="6437376" y="1783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Prompt" pitchFamily="2" charset="-34"/>
                <a:ea typeface="Tahoma" pitchFamily="34" charset="-122"/>
                <a:cs typeface="Prompt" pitchFamily="2" charset="-34"/>
              </a:rPr>
              <a:t>C</a:t>
            </a:r>
            <a:endParaRPr lang="en-US" sz="2200" dirty="0">
              <a:latin typeface="Prompt" pitchFamily="2" charset="-34"/>
              <a:cs typeface="Prompt" pitchFamily="2" charset="-34"/>
            </a:endParaRPr>
          </a:p>
        </p:txBody>
      </p:sp>
      <p:sp>
        <p:nvSpPr>
          <p:cNvPr id="17" name="Text 17">
            <a:extLst>
              <a:ext uri="{FF2B5EF4-FFF2-40B4-BE49-F238E27FC236}">
                <a16:creationId xmlns:a16="http://schemas.microsoft.com/office/drawing/2014/main" id="{E411EC52-77A9-24B1-24EF-5A80F1420921}"/>
              </a:ext>
            </a:extLst>
          </p:cNvPr>
          <p:cNvSpPr txBox="1"/>
          <p:nvPr/>
        </p:nvSpPr>
        <p:spPr>
          <a:xfrm>
            <a:off x="6437376" y="26060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B4332"/>
                </a:solidFill>
                <a:latin typeface="Prompt" pitchFamily="2" charset="-34"/>
                <a:ea typeface="Tahoma" pitchFamily="34" charset="-122"/>
                <a:cs typeface="Prompt" pitchFamily="2" charset="-34"/>
              </a:rPr>
              <a:t>ไกล • margin บาง</a:t>
            </a:r>
            <a:endParaRPr lang="en-US" sz="1500" dirty="0">
              <a:latin typeface="Prompt" pitchFamily="2" charset="-34"/>
              <a:cs typeface="Prompt" pitchFamily="2" charset="-34"/>
            </a:endParaRPr>
          </a:p>
        </p:txBody>
      </p:sp>
      <p:sp>
        <p:nvSpPr>
          <p:cNvPr id="18" name="Text 18">
            <a:extLst>
              <a:ext uri="{FF2B5EF4-FFF2-40B4-BE49-F238E27FC236}">
                <a16:creationId xmlns:a16="http://schemas.microsoft.com/office/drawing/2014/main" id="{71BEDBA1-A923-7D2B-C634-04B5ECE66837}"/>
              </a:ext>
            </a:extLst>
          </p:cNvPr>
          <p:cNvSpPr txBox="1"/>
          <p:nvPr/>
        </p:nvSpPr>
        <p:spPr>
          <a:xfrm>
            <a:off x="6437376" y="30632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62"/>
                </a:solidFill>
                <a:latin typeface="Prompt" pitchFamily="2" charset="-34"/>
                <a:ea typeface="Tahoma" pitchFamily="34" charset="-122"/>
                <a:cs typeface="Prompt" pitchFamily="2" charset="-34"/>
              </a:rPr>
              <a:t>พระราม 9 รัชดา พหลโยธิน</a:t>
            </a:r>
            <a:endParaRPr lang="en-US" sz="1200" dirty="0">
              <a:latin typeface="Prompt" pitchFamily="2" charset="-34"/>
              <a:cs typeface="Prompt" pitchFamily="2" charset="-34"/>
            </a:endParaRPr>
          </a:p>
        </p:txBody>
      </p:sp>
      <p:sp>
        <p:nvSpPr>
          <p:cNvPr id="19" name="Text 19">
            <a:extLst>
              <a:ext uri="{FF2B5EF4-FFF2-40B4-BE49-F238E27FC236}">
                <a16:creationId xmlns:a16="http://schemas.microsoft.com/office/drawing/2014/main" id="{C0A51194-317F-08C9-B10D-BA92757A3E0A}"/>
              </a:ext>
            </a:extLst>
          </p:cNvPr>
          <p:cNvSpPr txBox="1"/>
          <p:nvPr/>
        </p:nvSpPr>
        <p:spPr>
          <a:xfrm>
            <a:off x="6437376" y="38862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E07A1F"/>
                </a:solidFill>
                <a:latin typeface="Prompt" pitchFamily="2" charset="-34"/>
                <a:ea typeface="Tahoma" pitchFamily="34" charset="-122"/>
                <a:cs typeface="Prompt" pitchFamily="2" charset="-34"/>
              </a:rPr>
              <a:t>ค่าส่ง 60 ฿ หรือขั้นต่ำ 500 ฿</a:t>
            </a:r>
            <a:endParaRPr lang="en-US" sz="1300" dirty="0">
              <a:latin typeface="Prompt" pitchFamily="2" charset="-34"/>
              <a:cs typeface="Prompt" pitchFamily="2" charset="-34"/>
            </a:endParaRPr>
          </a:p>
        </p:txBody>
      </p:sp>
      <p:sp>
        <p:nvSpPr>
          <p:cNvPr id="20" name="Shape 20">
            <a:extLst>
              <a:ext uri="{FF2B5EF4-FFF2-40B4-BE49-F238E27FC236}">
                <a16:creationId xmlns:a16="http://schemas.microsoft.com/office/drawing/2014/main" id="{C7489346-ACB0-2573-7BC2-0A8FE22ADDE2}"/>
              </a:ext>
            </a:extLst>
          </p:cNvPr>
          <p:cNvSpPr/>
          <p:nvPr/>
        </p:nvSpPr>
        <p:spPr>
          <a:xfrm>
            <a:off x="8970264" y="1554480"/>
            <a:ext cx="2651760" cy="31089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CE6DE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TH">
              <a:latin typeface="Prompt" pitchFamily="2" charset="-34"/>
              <a:cs typeface="Prompt" pitchFamily="2" charset="-34"/>
            </a:endParaRPr>
          </a:p>
        </p:txBody>
      </p:sp>
      <p:sp>
        <p:nvSpPr>
          <p:cNvPr id="21" name="Shape 21">
            <a:extLst>
              <a:ext uri="{FF2B5EF4-FFF2-40B4-BE49-F238E27FC236}">
                <a16:creationId xmlns:a16="http://schemas.microsoft.com/office/drawing/2014/main" id="{08E4C94F-CA71-51DF-0FEC-C662B407D37F}"/>
              </a:ext>
            </a:extLst>
          </p:cNvPr>
          <p:cNvSpPr/>
          <p:nvPr/>
        </p:nvSpPr>
        <p:spPr>
          <a:xfrm>
            <a:off x="9244584" y="1783080"/>
            <a:ext cx="640080" cy="640080"/>
          </a:xfrm>
          <a:prstGeom prst="ellipse">
            <a:avLst/>
          </a:prstGeom>
          <a:solidFill>
            <a:srgbClr val="B23A48"/>
          </a:solidFill>
          <a:ln/>
        </p:spPr>
        <p:txBody>
          <a:bodyPr/>
          <a:lstStyle/>
          <a:p>
            <a:endParaRPr lang="en-TH">
              <a:latin typeface="Prompt" pitchFamily="2" charset="-34"/>
              <a:cs typeface="Prompt" pitchFamily="2" charset="-34"/>
            </a:endParaRPr>
          </a:p>
        </p:txBody>
      </p:sp>
      <p:sp>
        <p:nvSpPr>
          <p:cNvPr id="22" name="Text 22">
            <a:extLst>
              <a:ext uri="{FF2B5EF4-FFF2-40B4-BE49-F238E27FC236}">
                <a16:creationId xmlns:a16="http://schemas.microsoft.com/office/drawing/2014/main" id="{8DE06B64-4948-BCF8-9B23-F56AC8F63930}"/>
              </a:ext>
            </a:extLst>
          </p:cNvPr>
          <p:cNvSpPr txBox="1"/>
          <p:nvPr/>
        </p:nvSpPr>
        <p:spPr>
          <a:xfrm>
            <a:off x="9244584" y="1783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Prompt" pitchFamily="2" charset="-34"/>
                <a:ea typeface="Tahoma" pitchFamily="34" charset="-122"/>
                <a:cs typeface="Prompt" pitchFamily="2" charset="-34"/>
              </a:rPr>
              <a:t>D</a:t>
            </a:r>
            <a:endParaRPr lang="en-US" sz="2200" dirty="0">
              <a:latin typeface="Prompt" pitchFamily="2" charset="-34"/>
              <a:cs typeface="Prompt" pitchFamily="2" charset="-34"/>
            </a:endParaRPr>
          </a:p>
        </p:txBody>
      </p:sp>
      <p:sp>
        <p:nvSpPr>
          <p:cNvPr id="23" name="Text 23">
            <a:extLst>
              <a:ext uri="{FF2B5EF4-FFF2-40B4-BE49-F238E27FC236}">
                <a16:creationId xmlns:a16="http://schemas.microsoft.com/office/drawing/2014/main" id="{2758AD3C-39F8-7EE6-4EB2-DB234F7524A7}"/>
              </a:ext>
            </a:extLst>
          </p:cNvPr>
          <p:cNvSpPr txBox="1"/>
          <p:nvPr/>
        </p:nvSpPr>
        <p:spPr>
          <a:xfrm>
            <a:off x="9244584" y="26060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B4332"/>
                </a:solidFill>
                <a:latin typeface="Prompt" pitchFamily="2" charset="-34"/>
                <a:ea typeface="Tahoma" pitchFamily="34" charset="-122"/>
                <a:cs typeface="Prompt" pitchFamily="2" charset="-34"/>
              </a:rPr>
              <a:t>ขาดทุน</a:t>
            </a:r>
            <a:endParaRPr lang="en-US" sz="1500" dirty="0">
              <a:latin typeface="Prompt" pitchFamily="2" charset="-34"/>
              <a:cs typeface="Prompt" pitchFamily="2" charset="-34"/>
            </a:endParaRPr>
          </a:p>
        </p:txBody>
      </p:sp>
      <p:sp>
        <p:nvSpPr>
          <p:cNvPr id="24" name="Text 24">
            <a:extLst>
              <a:ext uri="{FF2B5EF4-FFF2-40B4-BE49-F238E27FC236}">
                <a16:creationId xmlns:a16="http://schemas.microsoft.com/office/drawing/2014/main" id="{0C243923-AA08-E293-71BC-4DBC0F0A0373}"/>
              </a:ext>
            </a:extLst>
          </p:cNvPr>
          <p:cNvSpPr txBox="1"/>
          <p:nvPr/>
        </p:nvSpPr>
        <p:spPr>
          <a:xfrm>
            <a:off x="9244584" y="30632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62"/>
                </a:solidFill>
                <a:latin typeface="Prompt" pitchFamily="2" charset="-34"/>
                <a:ea typeface="Tahoma" pitchFamily="34" charset="-122"/>
                <a:cs typeface="Prompt" pitchFamily="2" charset="-34"/>
              </a:rPr>
              <a:t>ลาดพร้าว</a:t>
            </a:r>
            <a:endParaRPr lang="en-US" sz="1200" dirty="0">
              <a:latin typeface="Prompt" pitchFamily="2" charset="-34"/>
              <a:cs typeface="Prompt" pitchFamily="2" charset="-34"/>
            </a:endParaRPr>
          </a:p>
        </p:txBody>
      </p:sp>
      <p:sp>
        <p:nvSpPr>
          <p:cNvPr id="25" name="Text 25">
            <a:extLst>
              <a:ext uri="{FF2B5EF4-FFF2-40B4-BE49-F238E27FC236}">
                <a16:creationId xmlns:a16="http://schemas.microsoft.com/office/drawing/2014/main" id="{3EAFC0BB-C338-EA29-7065-2AA85B1E83F0}"/>
              </a:ext>
            </a:extLst>
          </p:cNvPr>
          <p:cNvSpPr txBox="1"/>
          <p:nvPr/>
        </p:nvSpPr>
        <p:spPr>
          <a:xfrm>
            <a:off x="9244584" y="38862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B23A48"/>
                </a:solidFill>
                <a:latin typeface="Prompt" pitchFamily="2" charset="-34"/>
                <a:ea typeface="Tahoma" pitchFamily="34" charset="-122"/>
                <a:cs typeface="Prompt" pitchFamily="2" charset="-34"/>
              </a:rPr>
              <a:t>ขั้นต่ำสูงขึ้น + จัดรอบส่งรวม (ไม่ตัดทิ้งทันที)</a:t>
            </a:r>
            <a:endParaRPr lang="en-US" sz="1300" dirty="0">
              <a:latin typeface="Prompt" pitchFamily="2" charset="-34"/>
              <a:cs typeface="Prompt" pitchFamily="2" charset="-34"/>
            </a:endParaRPr>
          </a:p>
        </p:txBody>
      </p:sp>
      <p:sp>
        <p:nvSpPr>
          <p:cNvPr id="26" name="Shape 26">
            <a:extLst>
              <a:ext uri="{FF2B5EF4-FFF2-40B4-BE49-F238E27FC236}">
                <a16:creationId xmlns:a16="http://schemas.microsoft.com/office/drawing/2014/main" id="{6E4C2213-72C7-7F7C-1309-F15C6E3C2102}"/>
              </a:ext>
            </a:extLst>
          </p:cNvPr>
          <p:cNvSpPr/>
          <p:nvPr/>
        </p:nvSpPr>
        <p:spPr>
          <a:xfrm>
            <a:off x="548640" y="4937760"/>
            <a:ext cx="11064240" cy="1280160"/>
          </a:xfrm>
          <a:prstGeom prst="roundRect">
            <a:avLst>
              <a:gd name="adj" fmla="val 8571"/>
            </a:avLst>
          </a:prstGeom>
          <a:solidFill>
            <a:srgbClr val="1B4332"/>
          </a:solidFill>
          <a:ln w="12700">
            <a:solidFill>
              <a:srgbClr val="DCE6DE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TH">
              <a:latin typeface="Prompt" pitchFamily="2" charset="-34"/>
              <a:cs typeface="Prompt" pitchFamily="2" charset="-34"/>
            </a:endParaRPr>
          </a:p>
        </p:txBody>
      </p:sp>
      <p:sp>
        <p:nvSpPr>
          <p:cNvPr id="27" name="Text 27">
            <a:extLst>
              <a:ext uri="{FF2B5EF4-FFF2-40B4-BE49-F238E27FC236}">
                <a16:creationId xmlns:a16="http://schemas.microsoft.com/office/drawing/2014/main" id="{DBE4099D-EDEC-CC7A-E1A5-DB0161C516A3}"/>
              </a:ext>
            </a:extLst>
          </p:cNvPr>
          <p:cNvSpPr txBox="1"/>
          <p:nvPr/>
        </p:nvSpPr>
        <p:spPr>
          <a:xfrm>
            <a:off x="822960" y="51206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Prompt" pitchFamily="2" charset="-34"/>
                <a:ea typeface="Tahoma" pitchFamily="34" charset="-122"/>
                <a:cs typeface="Prompt" pitchFamily="2" charset="-34"/>
              </a:rPr>
              <a:t>แผน Q3: 8 แคมเปญ • งบ 113,000 ฿</a:t>
            </a:r>
            <a:endParaRPr lang="en-US" sz="2000" dirty="0">
              <a:latin typeface="Prompt" pitchFamily="2" charset="-34"/>
              <a:cs typeface="Prompt" pitchFamily="2" charset="-34"/>
            </a:endParaRPr>
          </a:p>
        </p:txBody>
      </p:sp>
      <p:sp>
        <p:nvSpPr>
          <p:cNvPr id="28" name="Text 28">
            <a:extLst>
              <a:ext uri="{FF2B5EF4-FFF2-40B4-BE49-F238E27FC236}">
                <a16:creationId xmlns:a16="http://schemas.microsoft.com/office/drawing/2014/main" id="{A5C6FB40-5E0E-C128-D1D2-11F5F24F3727}"/>
              </a:ext>
            </a:extLst>
          </p:cNvPr>
          <p:cNvSpPr txBox="1"/>
          <p:nvPr/>
        </p:nvSpPr>
        <p:spPr>
          <a:xfrm>
            <a:off x="822960" y="56235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D8E9DC"/>
                </a:solidFill>
                <a:latin typeface="Prompt" pitchFamily="2" charset="-34"/>
                <a:ea typeface="Tahoma" pitchFamily="34" charset="-122"/>
                <a:cs typeface="Prompt" pitchFamily="2" charset="-34"/>
              </a:rPr>
              <a:t>ก.ค. เปิด bundle → ส.ค. เปิด subscription → ก.ย. กระตุ้นยอดปิดไตรมาส • ค่าส่งที่เพิ่มคาดหลักหมื่นบาท/6 เดือน (ยังไม่รวม volume ที่อาจลด)</a:t>
            </a:r>
            <a:endParaRPr lang="en-US" sz="1200" dirty="0">
              <a:latin typeface="Prompt" pitchFamily="2" charset="-34"/>
              <a:cs typeface="Prompt" pitchFamily="2" charset="-34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3B2B"/>
        </a:solidFill>
        <a:effectLst/>
      </p:bgPr>
    </p:bg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24"/>
          <p:cNvSpPr/>
          <p:nvPr/>
        </p:nvSpPr>
        <p:spPr>
          <a:xfrm>
            <a:off x="609600" y="2890837"/>
            <a:ext cx="3454449" cy="2371725"/>
          </a:xfrm>
          <a:prstGeom prst="roundRect">
            <a:avLst>
              <a:gd name="adj" fmla="val 3212"/>
            </a:avLst>
          </a:prstGeom>
          <a:solidFill>
            <a:srgbClr val="2D6A4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24"/>
          <p:cNvSpPr/>
          <p:nvPr/>
        </p:nvSpPr>
        <p:spPr>
          <a:xfrm>
            <a:off x="4368849" y="2890837"/>
            <a:ext cx="3454449" cy="2371725"/>
          </a:xfrm>
          <a:prstGeom prst="roundRect">
            <a:avLst>
              <a:gd name="adj" fmla="val 3212"/>
            </a:avLst>
          </a:prstGeom>
          <a:solidFill>
            <a:srgbClr val="2D6A4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24"/>
          <p:cNvSpPr/>
          <p:nvPr/>
        </p:nvSpPr>
        <p:spPr>
          <a:xfrm>
            <a:off x="8128099" y="2890837"/>
            <a:ext cx="3454449" cy="2371725"/>
          </a:xfrm>
          <a:prstGeom prst="roundRect">
            <a:avLst>
              <a:gd name="adj" fmla="val 3212"/>
            </a:avLst>
          </a:prstGeom>
          <a:solidFill>
            <a:srgbClr val="2D6A4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6" name="Google Shape;326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90600" y="3890962"/>
            <a:ext cx="76200" cy="7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" name="Google Shape;327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90600" y="4500562"/>
            <a:ext cx="76200" cy="7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" name="Google Shape;328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49849" y="3890962"/>
            <a:ext cx="76200" cy="7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9" name="Google Shape;329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49849" y="4500562"/>
            <a:ext cx="76200" cy="7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0" name="Google Shape;330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09099" y="3890962"/>
            <a:ext cx="76200" cy="7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09099" y="4500562"/>
            <a:ext cx="76200" cy="76200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24"/>
          <p:cNvSpPr txBox="1"/>
          <p:nvPr/>
        </p:nvSpPr>
        <p:spPr>
          <a:xfrm>
            <a:off x="-381000" y="1595437"/>
            <a:ext cx="129540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FFFF"/>
                </a:solidFill>
                <a:latin typeface="Prompt"/>
                <a:ea typeface="Prompt"/>
                <a:cs typeface="Prompt"/>
                <a:sym typeface="Prompt"/>
              </a:rPr>
              <a:t>สรุปและการดำเนินงานขั้นต่อไป</a:t>
            </a:r>
            <a:endParaRPr/>
          </a:p>
        </p:txBody>
      </p:sp>
      <p:sp>
        <p:nvSpPr>
          <p:cNvPr id="333" name="Google Shape;333;p24"/>
          <p:cNvSpPr txBox="1"/>
          <p:nvPr/>
        </p:nvSpPr>
        <p:spPr>
          <a:xfrm>
            <a:off x="990600" y="3271837"/>
            <a:ext cx="2927084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8FAFC"/>
                </a:solidFill>
                <a:latin typeface="Prompt"/>
                <a:ea typeface="Prompt"/>
                <a:cs typeface="Prompt"/>
                <a:sym typeface="Prompt"/>
              </a:rPr>
              <a:t>1. ประเมินเป้าหมาย</a:t>
            </a:r>
            <a:endParaRPr/>
          </a:p>
        </p:txBody>
      </p:sp>
      <p:sp>
        <p:nvSpPr>
          <p:cNvPr id="334" name="Google Shape;334;p24"/>
          <p:cNvSpPr txBox="1"/>
          <p:nvPr/>
        </p:nvSpPr>
        <p:spPr>
          <a:xfrm>
            <a:off x="4749849" y="3271837"/>
            <a:ext cx="2927084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8FAFC"/>
                </a:solidFill>
                <a:latin typeface="Prompt"/>
                <a:ea typeface="Prompt"/>
                <a:cs typeface="Prompt"/>
                <a:sym typeface="Prompt"/>
              </a:rPr>
              <a:t>2. สิ่งที่ต้องทำทันที</a:t>
            </a:r>
            <a:endParaRPr/>
          </a:p>
        </p:txBody>
      </p:sp>
      <p:sp>
        <p:nvSpPr>
          <p:cNvPr id="335" name="Google Shape;335;p24"/>
          <p:cNvSpPr txBox="1"/>
          <p:nvPr/>
        </p:nvSpPr>
        <p:spPr>
          <a:xfrm>
            <a:off x="8509099" y="3271837"/>
            <a:ext cx="2927084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8FAFC"/>
                </a:solidFill>
                <a:latin typeface="Prompt"/>
                <a:ea typeface="Prompt"/>
                <a:cs typeface="Prompt"/>
                <a:sym typeface="Prompt"/>
              </a:rPr>
              <a:t>3. ข้อจำกัดของข้อมูล</a:t>
            </a:r>
            <a:endParaRPr/>
          </a:p>
        </p:txBody>
      </p:sp>
      <p:sp>
        <p:nvSpPr>
          <p:cNvPr id="336" name="Google Shape;336;p24"/>
          <p:cNvSpPr txBox="1"/>
          <p:nvPr/>
        </p:nvSpPr>
        <p:spPr>
          <a:xfrm>
            <a:off x="1181100" y="3814762"/>
            <a:ext cx="2597199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Prompt"/>
                <a:ea typeface="Prompt"/>
                <a:cs typeface="Prompt"/>
                <a:sym typeface="Prompt"/>
              </a:rPr>
              <a:t>เป้าหมายยอดต่อบิล +25% ทำได้จริงผ่านระบบเซ็ตสินค้า</a:t>
            </a:r>
            <a:endParaRPr sz="3200"/>
          </a:p>
        </p:txBody>
      </p:sp>
      <p:sp>
        <p:nvSpPr>
          <p:cNvPr id="337" name="Google Shape;337;p24"/>
          <p:cNvSpPr txBox="1"/>
          <p:nvPr/>
        </p:nvSpPr>
        <p:spPr>
          <a:xfrm>
            <a:off x="1181100" y="4424362"/>
            <a:ext cx="2597199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Prompt"/>
                <a:ea typeface="Prompt"/>
                <a:cs typeface="Prompt"/>
                <a:sym typeface="Prompt"/>
              </a:rPr>
              <a:t>การซื้อซ้ำจริงอยู่ที่ 78.1% ทะลุเป้าหมายไปแล้ว</a:t>
            </a:r>
            <a:endParaRPr sz="3200"/>
          </a:p>
        </p:txBody>
      </p:sp>
      <p:sp>
        <p:nvSpPr>
          <p:cNvPr id="338" name="Google Shape;338;p24"/>
          <p:cNvSpPr txBox="1"/>
          <p:nvPr/>
        </p:nvSpPr>
        <p:spPr>
          <a:xfrm>
            <a:off x="4940349" y="3814762"/>
            <a:ext cx="2597199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 dirty="0" err="1">
                <a:solidFill>
                  <a:srgbClr val="FFFFFF"/>
                </a:solidFill>
                <a:latin typeface="Prompt"/>
                <a:ea typeface="Prompt"/>
                <a:cs typeface="Prompt"/>
                <a:sym typeface="Prompt"/>
              </a:rPr>
              <a:t>ทดลองย้ายงบโฆษณาไป</a:t>
            </a:r>
            <a:r>
              <a:rPr lang="en-US" sz="1100" b="1" i="0" u="none" strike="noStrike" cap="none" dirty="0">
                <a:solidFill>
                  <a:srgbClr val="FFFFFF"/>
                </a:solidFill>
                <a:latin typeface="Prompt"/>
                <a:ea typeface="Prompt"/>
                <a:cs typeface="Prompt"/>
                <a:sym typeface="Prompt"/>
              </a:rPr>
              <a:t> LINE </a:t>
            </a:r>
            <a:br>
              <a:rPr lang="en-US" sz="1100" b="1" i="0" u="none" strike="noStrike" cap="none" dirty="0">
                <a:solidFill>
                  <a:srgbClr val="FFFFFF"/>
                </a:solidFill>
                <a:latin typeface="Prompt"/>
                <a:ea typeface="Prompt"/>
                <a:cs typeface="Prompt"/>
                <a:sym typeface="Prompt"/>
              </a:rPr>
            </a:br>
            <a:r>
              <a:rPr lang="en-US" sz="1100" b="1" i="0" u="none" strike="noStrike" cap="none" dirty="0">
                <a:solidFill>
                  <a:srgbClr val="FFFFFF"/>
                </a:solidFill>
                <a:latin typeface="Prompt"/>
                <a:ea typeface="Prompt"/>
                <a:cs typeface="Prompt"/>
                <a:sym typeface="Prompt"/>
              </a:rPr>
              <a:t>(</a:t>
            </a:r>
            <a:r>
              <a:rPr lang="en-US" sz="1100" b="1" i="0" u="none" strike="noStrike" cap="none" dirty="0" err="1">
                <a:solidFill>
                  <a:srgbClr val="FFFFFF"/>
                </a:solidFill>
                <a:latin typeface="Prompt"/>
                <a:ea typeface="Prompt"/>
                <a:cs typeface="Prompt"/>
                <a:sym typeface="Prompt"/>
              </a:rPr>
              <a:t>ระยะเวลา</a:t>
            </a:r>
            <a:r>
              <a:rPr lang="en-US" sz="1100" b="1" i="0" u="none" strike="noStrike" cap="none" dirty="0">
                <a:solidFill>
                  <a:srgbClr val="FFFFFF"/>
                </a:solidFill>
                <a:latin typeface="Prompt"/>
                <a:ea typeface="Prompt"/>
                <a:cs typeface="Prompt"/>
                <a:sym typeface="Prompt"/>
              </a:rPr>
              <a:t> 4–6 </a:t>
            </a:r>
            <a:r>
              <a:rPr lang="en-US" sz="1100" b="1" i="0" u="none" strike="noStrike" cap="none" dirty="0" err="1">
                <a:solidFill>
                  <a:srgbClr val="FFFFFF"/>
                </a:solidFill>
                <a:latin typeface="Prompt"/>
                <a:ea typeface="Prompt"/>
                <a:cs typeface="Prompt"/>
                <a:sym typeface="Prompt"/>
              </a:rPr>
              <a:t>สัปดาห์</a:t>
            </a:r>
            <a:r>
              <a:rPr lang="en-US" sz="1100" b="1" i="0" u="none" strike="noStrike" cap="none" dirty="0">
                <a:solidFill>
                  <a:srgbClr val="FFFFFF"/>
                </a:solidFill>
                <a:latin typeface="Prompt"/>
                <a:ea typeface="Prompt"/>
                <a:cs typeface="Prompt"/>
                <a:sym typeface="Prompt"/>
              </a:rPr>
              <a:t>)</a:t>
            </a:r>
            <a:endParaRPr sz="3200" dirty="0"/>
          </a:p>
        </p:txBody>
      </p:sp>
      <p:sp>
        <p:nvSpPr>
          <p:cNvPr id="339" name="Google Shape;339;p24"/>
          <p:cNvSpPr txBox="1"/>
          <p:nvPr/>
        </p:nvSpPr>
        <p:spPr>
          <a:xfrm>
            <a:off x="4940349" y="4424362"/>
            <a:ext cx="2597199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Prompt"/>
                <a:ea typeface="Prompt"/>
                <a:cs typeface="Prompt"/>
                <a:sym typeface="Prompt"/>
              </a:rPr>
              <a:t>เปิดตัวเซ็ตสินค้าและทดสอบปรับค่าจัดส่งแยกโซน</a:t>
            </a:r>
            <a:endParaRPr sz="3200"/>
          </a:p>
        </p:txBody>
      </p:sp>
      <p:sp>
        <p:nvSpPr>
          <p:cNvPr id="340" name="Google Shape;340;p24"/>
          <p:cNvSpPr txBox="1"/>
          <p:nvPr/>
        </p:nvSpPr>
        <p:spPr>
          <a:xfrm>
            <a:off x="8699599" y="3814762"/>
            <a:ext cx="2597199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Prompt"/>
                <a:ea typeface="Prompt"/>
                <a:cs typeface="Prompt"/>
                <a:sym typeface="Prompt"/>
              </a:rPr>
              <a:t>ต้นทุนสินค้าอ้างอิงจากตัวเลขสมมติฐานที่ 55%</a:t>
            </a:r>
            <a:endParaRPr sz="3200"/>
          </a:p>
        </p:txBody>
      </p:sp>
      <p:sp>
        <p:nvSpPr>
          <p:cNvPr id="341" name="Google Shape;341;p24"/>
          <p:cNvSpPr txBox="1"/>
          <p:nvPr/>
        </p:nvSpPr>
        <p:spPr>
          <a:xfrm>
            <a:off x="8699599" y="4424362"/>
            <a:ext cx="2597199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Prompt"/>
                <a:ea typeface="Prompt"/>
                <a:cs typeface="Prompt"/>
                <a:sym typeface="Prompt"/>
              </a:rPr>
              <a:t>ผลประเมินช่องทางโฆษณาใช้การจับคู่รายได้แบบประมาณการ</a:t>
            </a:r>
            <a:endParaRPr sz="3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3064</Words>
  <Application>Microsoft Macintosh PowerPoint</Application>
  <PresentationFormat>Widescreen</PresentationFormat>
  <Paragraphs>342</Paragraphs>
  <Slides>23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Kanit</vt:lpstr>
      <vt:lpstr>Prompt</vt:lpstr>
      <vt:lpstr>Arial</vt:lpstr>
      <vt:lpstr>Inter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Aito C. Proxinity</cp:lastModifiedBy>
  <cp:revision>3</cp:revision>
  <dcterms:modified xsi:type="dcterms:W3CDTF">2026-09-24T17:24:57Z</dcterms:modified>
</cp:coreProperties>
</file>