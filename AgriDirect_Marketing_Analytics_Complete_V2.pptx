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8" r:id="rId6"/>
    <p:sldId id="260" r:id="rId7"/>
    <p:sldId id="269" r:id="rId8"/>
    <p:sldId id="261" r:id="rId9"/>
    <p:sldId id="262" r:id="rId10"/>
    <p:sldId id="270" r:id="rId11"/>
    <p:sldId id="271" r:id="rId12"/>
    <p:sldId id="263" r:id="rId13"/>
    <p:sldId id="272" r:id="rId14"/>
    <p:sldId id="264" r:id="rId15"/>
    <p:sldId id="273" r:id="rId16"/>
    <p:sldId id="265" r:id="rId17"/>
    <p:sldId id="274" r:id="rId18"/>
    <p:sldId id="266" r:id="rId19"/>
    <p:sldId id="267" r:id="rId20"/>
    <p:sldId id="275" r:id="rId38"/>
    <p:sldId id="276" r:id="rId39"/>
    <p:sldId id="277" r:id="rId40"/>
    <p:sldId id="278" r:id="rId41"/>
  </p:sldIdLst>
  <p:sldSz cx="12192000" cy="6858000"/>
  <p:notesSz cx="6858000" cy="9144000"/>
  <p:embeddedFontLst>
    <p:embeddedFont>
      <p:font typeface="Inter" panose="02000503000000020004" pitchFamily="2" charset="0"/>
      <p:regular r:id="rId22"/>
      <p:bold r:id="rId23"/>
      <p:italic r:id="rId24"/>
      <p:boldItalic r:id="rId25"/>
    </p:embeddedFont>
    <p:embeddedFont>
      <p:font typeface="Kanit" pitchFamily="2" charset="-34"/>
      <p:regular r:id="rId26"/>
      <p:bold r:id="rId27"/>
      <p:italic r:id="rId28"/>
      <p:boldItalic r:id="rId29"/>
    </p:embeddedFont>
    <p:embeddedFont>
      <p:font typeface="Prompt" pitchFamily="2" charset="-34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A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65"/>
    <p:restoredTop sz="94659"/>
  </p:normalViewPr>
  <p:slideViewPr>
    <p:cSldViewPr snapToGrid="0">
      <p:cViewPr>
        <p:scale>
          <a:sx n="43" d="100"/>
          <a:sy n="43" d="100"/>
        </p:scale>
        <p:origin x="1680" y="16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Relationship Id="rId27" Type="http://schemas.openxmlformats.org/officeDocument/2006/relationships/font" Target="fonts/font6.fntdata"/><Relationship Id="rId28" Type="http://schemas.openxmlformats.org/officeDocument/2006/relationships/font" Target="fonts/font7.fntdata"/><Relationship Id="rId29" Type="http://schemas.openxmlformats.org/officeDocument/2006/relationships/font" Target="fonts/font8.fntdata"/><Relationship Id="rId30" Type="http://schemas.openxmlformats.org/officeDocument/2006/relationships/font" Target="fonts/font9.fntdata"/><Relationship Id="rId31" Type="http://schemas.openxmlformats.org/officeDocument/2006/relationships/font" Target="fonts/font10.fntdata"/><Relationship Id="rId32" Type="http://schemas.openxmlformats.org/officeDocument/2006/relationships/font" Target="fonts/font11.fntdata"/><Relationship Id="rId33" Type="http://schemas.openxmlformats.org/officeDocument/2006/relationships/font" Target="fonts/font12.fntdata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Relationship Id="rId38" Type="http://schemas.openxmlformats.org/officeDocument/2006/relationships/slide" Target="slides/slide20.xml"/><Relationship Id="rId39" Type="http://schemas.openxmlformats.org/officeDocument/2006/relationships/slide" Target="slides/slide21.xml"/><Relationship Id="rId40" Type="http://schemas.openxmlformats.org/officeDocument/2006/relationships/slide" Target="slides/slide22.xml"/><Relationship Id="rId41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th-TH"/>
              <a:t>รายได้ตามหมวดสินค้า (บาท)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รายได้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52CE-2247-958B-BC430F973D38}"/>
              </c:ext>
            </c:extLst>
          </c:dPt>
          <c:dPt>
            <c:idx val="1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52CE-2247-958B-BC430F973D38}"/>
              </c:ext>
            </c:extLst>
          </c:dPt>
          <c:dPt>
            <c:idx val="2"/>
            <c:invertIfNegative val="0"/>
            <c:bubble3D val="0"/>
            <c:spPr>
              <a:solidFill>
                <a:srgbClr val="95D5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52CE-2247-958B-BC430F973D38}"/>
              </c:ext>
            </c:extLst>
          </c:dPt>
          <c:dPt>
            <c:idx val="3"/>
            <c:invertIfNegative val="0"/>
            <c:bubble3D val="0"/>
            <c:spPr>
              <a:solidFill>
                <a:srgbClr val="E07A1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6-52CE-2247-958B-BC430F973D3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ผลไม้</c:v>
                </c:pt>
                <c:pt idx="1">
                  <c:v>ผัก</c:v>
                </c:pt>
                <c:pt idx="2">
                  <c:v>นม</c:v>
                </c:pt>
                <c:pt idx="3">
                  <c:v>สมุนไพร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436975</c:v>
                </c:pt>
                <c:pt idx="1">
                  <c:v>302690</c:v>
                </c:pt>
                <c:pt idx="2">
                  <c:v>249972</c:v>
                </c:pt>
                <c:pt idx="3">
                  <c:v>74397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52CE-2247-958B-BC430F973D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Kanit" pitchFamily="2" charset="-34"/>
          <a:cs typeface="Kanit" pitchFamily="2" charset="-34"/>
        </a:defRPr>
      </a:pPr>
      <a:endParaRPr lang="en-TH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th-TH"/>
              <a:t>รายได้ตามช่องทาง (บาท)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รายได้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DE1D-1E4C-A9EB-617BF932BEFE}"/>
              </c:ext>
            </c:extLst>
          </c:dPt>
          <c:dPt>
            <c:idx val="1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DE1D-1E4C-A9EB-617BF932BEFE}"/>
              </c:ext>
            </c:extLst>
          </c:dPt>
          <c:dPt>
            <c:idx val="2"/>
            <c:invertIfNegative val="0"/>
            <c:bubble3D val="0"/>
            <c:spPr>
              <a:solidFill>
                <a:srgbClr val="95D5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DE1D-1E4C-A9EB-617BF932BEF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 OA</c:v>
                </c:pt>
                <c:pt idx="1">
                  <c:v>เว็บไซต์</c:v>
                </c:pt>
                <c:pt idx="2">
                  <c:v>Facebook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442720</c:v>
                </c:pt>
                <c:pt idx="1">
                  <c:v>353637</c:v>
                </c:pt>
                <c:pt idx="2">
                  <c:v>267677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E1D-1E4C-A9EB-617BF932BEF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Kanit" pitchFamily="2" charset="-34"/>
          <a:cs typeface="Kanit" pitchFamily="2" charset="-34"/>
        </a:defRPr>
      </a:pPr>
      <a:endParaRPr lang="en-TH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/>
              <a:t>CAC: </a:t>
            </a:r>
            <a:r>
              <a:rPr lang="th-TH"/>
              <a:t>ต้นทุนต่อลูกค้าใหม่ 1 คน (บาท)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CAC</c:v>
                </c:pt>
              </c:strCache>
            </c:strRef>
          </c:tx>
          <c:spPr>
            <a:solidFill>
              <a:srgbClr val="E07A1F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14C8-D24F-A8F3-BD9402B603D5}"/>
              </c:ext>
            </c:extLst>
          </c:dPt>
          <c:dPt>
            <c:idx val="1"/>
            <c:invertIfNegative val="0"/>
            <c:bubble3D val="0"/>
            <c:spPr>
              <a:solidFill>
                <a:srgbClr val="9DB5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2-14C8-D24F-A8F3-BD9402B603D5}"/>
              </c:ext>
            </c:extLst>
          </c:dPt>
          <c:dPt>
            <c:idx val="2"/>
            <c:invertIfNegative val="0"/>
            <c:bubble3D val="0"/>
            <c:spPr>
              <a:solidFill>
                <a:srgbClr val="9DB5A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4-14C8-D24F-A8F3-BD9402B603D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</c:v>
                </c:pt>
                <c:pt idx="1">
                  <c:v>Facebook</c:v>
                </c:pt>
                <c:pt idx="2">
                  <c:v>Google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262</c:v>
                </c:pt>
                <c:pt idx="1">
                  <c:v>896</c:v>
                </c:pt>
                <c:pt idx="2">
                  <c:v>987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14C8-D24F-A8F3-BD9402B603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Prompt" pitchFamily="2" charset="-34"/>
          <a:cs typeface="Prompt" pitchFamily="2" charset="-34"/>
        </a:defRPr>
      </a:pPr>
      <a:endParaRPr lang="en-TH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/>
              <a:t>Repeat rate </a:t>
            </a:r>
            <a:r>
              <a:rPr lang="th-TH"/>
              <a:t>ตามช่องทางสมัคร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Repeat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D6A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B40-C343-A760-5885FBFBA202}"/>
              </c:ext>
            </c:extLst>
          </c:dPt>
          <c:dPt>
            <c:idx val="1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B40-C343-A760-5885FBFBA202}"/>
              </c:ext>
            </c:extLst>
          </c:dPt>
          <c:dPt>
            <c:idx val="2"/>
            <c:invertIfNegative val="0"/>
            <c:bubble3D val="0"/>
            <c:spPr>
              <a:solidFill>
                <a:srgbClr val="95D5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B40-C343-A760-5885FBFBA202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Web</c:v>
                </c:pt>
                <c:pt idx="1">
                  <c:v>LINE OA</c:v>
                </c:pt>
                <c:pt idx="2">
                  <c:v>Facebook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69.599999999999994</c:v>
                </c:pt>
                <c:pt idx="1">
                  <c:v>68.099999999999994</c:v>
                </c:pt>
                <c:pt idx="2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B40-C343-A760-5885FBFBA20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Kanit" pitchFamily="2" charset="-34"/>
          <a:cs typeface="Kanit" pitchFamily="2" charset="-34"/>
        </a:defRPr>
      </a:pPr>
      <a:endParaRPr lang="en-TH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/>
              <a:t>Contribution margin % </a:t>
            </a:r>
            <a:r>
              <a:rPr lang="th-TH"/>
              <a:t>ตามพื้นที่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%</c:v>
                </c:pt>
              </c:strCache>
            </c:strRef>
          </c:tx>
          <c:spPr>
            <a:solidFill>
              <a:srgbClr val="B23A4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B23A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0F3-DB45-A77F-7BCA590F5668}"/>
              </c:ext>
            </c:extLst>
          </c:dPt>
          <c:dPt>
            <c:idx val="1"/>
            <c:invertIfNegative val="0"/>
            <c:bubble3D val="0"/>
            <c:spPr>
              <a:solidFill>
                <a:srgbClr val="B23A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0F3-DB45-A77F-7BCA590F5668}"/>
              </c:ext>
            </c:extLst>
          </c:dPt>
          <c:dPt>
            <c:idx val="2"/>
            <c:invertIfNegative val="0"/>
            <c:bubble3D val="0"/>
            <c:spPr>
              <a:solidFill>
                <a:srgbClr val="B23A4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0F3-DB45-A77F-7BCA590F5668}"/>
              </c:ext>
            </c:extLst>
          </c:dPt>
          <c:dPt>
            <c:idx val="3"/>
            <c:invertIfNegative val="0"/>
            <c:bubble3D val="0"/>
            <c:spPr>
              <a:solidFill>
                <a:srgbClr val="E07A1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0F3-DB45-A77F-7BCA590F5668}"/>
              </c:ext>
            </c:extLst>
          </c:dPt>
          <c:dPt>
            <c:idx val="4"/>
            <c:invertIfNegative val="0"/>
            <c:bubble3D val="0"/>
            <c:spPr>
              <a:solidFill>
                <a:srgbClr val="E07A1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0F3-DB45-A77F-7BCA590F5668}"/>
              </c:ext>
            </c:extLst>
          </c:dPt>
          <c:dPt>
            <c:idx val="5"/>
            <c:invertIfNegative val="0"/>
            <c:bubble3D val="0"/>
            <c:spPr>
              <a:solidFill>
                <a:srgbClr val="E07A1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0F3-DB45-A77F-7BCA590F5668}"/>
              </c:ext>
            </c:extLst>
          </c:dPt>
          <c:dPt>
            <c:idx val="6"/>
            <c:invertIfNegative val="0"/>
            <c:bubble3D val="0"/>
            <c:spPr>
              <a:solidFill>
                <a:srgbClr val="2D6A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80F3-DB45-A77F-7BCA590F5668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ลาดพร้าว</c:v>
                </c:pt>
                <c:pt idx="1">
                  <c:v>พระราม 9</c:v>
                </c:pt>
                <c:pt idx="2">
                  <c:v>รัชดา</c:v>
                </c:pt>
                <c:pt idx="3">
                  <c:v>พหลโยธิน</c:v>
                </c:pt>
                <c:pt idx="4">
                  <c:v>บางนา</c:v>
                </c:pt>
                <c:pt idx="5">
                  <c:v>ตากสิน</c:v>
                </c:pt>
                <c:pt idx="6">
                  <c:v>โซนใกล้ (เฉลี่ย)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0.11</c:v>
                </c:pt>
                <c:pt idx="1">
                  <c:v>1.24</c:v>
                </c:pt>
                <c:pt idx="2">
                  <c:v>1.42</c:v>
                </c:pt>
                <c:pt idx="3">
                  <c:v>2.27</c:v>
                </c:pt>
                <c:pt idx="4">
                  <c:v>2.41</c:v>
                </c:pt>
                <c:pt idx="5">
                  <c:v>3.11</c:v>
                </c:pt>
                <c:pt idx="6">
                  <c:v>16.5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80F3-DB45-A77F-7BCA590F566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Prompt" pitchFamily="2" charset="-34"/>
          <a:cs typeface="Prompt" pitchFamily="2" charset="-34"/>
        </a:defRPr>
      </a:pPr>
      <a:endParaRPr lang="en-TH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th-TH"/>
              <a:t>สัดส่วนลูกค้า </a:t>
            </a:r>
            <a:r>
              <a:rPr lang="en-US"/>
              <a:t>vs </a:t>
            </a:r>
            <a:r>
              <a:rPr lang="th-TH"/>
              <a:t>รายได้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ลูกค้า</c:v>
                </c:pt>
              </c:strCache>
            </c:strRef>
          </c:tx>
          <c:spPr>
            <a:solidFill>
              <a:srgbClr val="95B8A3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Champions</c:v>
                </c:pt>
                <c:pt idx="1">
                  <c:v>Loyal</c:v>
                </c:pt>
                <c:pt idx="2">
                  <c:v>At-Risk</c:v>
                </c:pt>
                <c:pt idx="3">
                  <c:v>Potential</c:v>
                </c:pt>
                <c:pt idx="4">
                  <c:v>Lost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21.4</c:v>
                </c:pt>
                <c:pt idx="1">
                  <c:v>18.600000000000001</c:v>
                </c:pt>
                <c:pt idx="2">
                  <c:v>17.100000000000001</c:v>
                </c:pt>
                <c:pt idx="3">
                  <c:v>14.2</c:v>
                </c:pt>
                <c:pt idx="4">
                  <c:v>28.7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AD-6340-9063-BFF39F03372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% รายได้</c:v>
                </c:pt>
              </c:strCache>
            </c:strRef>
          </c:tx>
          <c:spPr>
            <a:solidFill>
              <a:srgbClr val="E07A1F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Champions</c:v>
                </c:pt>
                <c:pt idx="1">
                  <c:v>Loyal</c:v>
                </c:pt>
                <c:pt idx="2">
                  <c:v>At-Risk</c:v>
                </c:pt>
                <c:pt idx="3">
                  <c:v>Potential</c:v>
                </c:pt>
                <c:pt idx="4">
                  <c:v>Lost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45.5</c:v>
                </c:pt>
                <c:pt idx="1">
                  <c:v>26.5</c:v>
                </c:pt>
                <c:pt idx="2">
                  <c:v>11.7</c:v>
                </c:pt>
                <c:pt idx="3">
                  <c:v>9.3000000000000007</c:v>
                </c:pt>
                <c:pt idx="4">
                  <c:v>7.1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AD-6340-9063-BFF39F03372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txPr>
    <a:bodyPr/>
    <a:lstStyle/>
    <a:p>
      <a:pPr>
        <a:defRPr>
          <a:latin typeface="Prompt" pitchFamily="2" charset="-34"/>
          <a:cs typeface="Prompt" pitchFamily="2" charset="-34"/>
        </a:defRPr>
      </a:pPr>
      <a:endParaRPr lang="en-TH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74659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B2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10137" y="46482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62612" y="464820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67562" y="464820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2786062" y="2019300"/>
            <a:ext cx="66198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E07A5F"/>
                </a:solidFill>
                <a:latin typeface="Prompt"/>
                <a:ea typeface="Prompt"/>
                <a:cs typeface="Prompt"/>
                <a:sym typeface="Prompt"/>
              </a:rPr>
              <a:t>MARKETING DATA ANALYTICS • PROJECT GROUP 3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526928" y="2476500"/>
            <a:ext cx="5138142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AgriDirect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333500" y="34671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A7C4B5"/>
                </a:solidFill>
                <a:latin typeface="Prompt"/>
                <a:ea typeface="Prompt"/>
                <a:cs typeface="Prompt"/>
                <a:sym typeface="Prompt"/>
              </a:rPr>
              <a:t>วิเคราะห์ช่องทางโฆษณาและแบ่งกลุ่มลูกค้า (RFM) สำหรับธุรกิจผักผลไม้ออร์แกนิกออนไลน์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890962" y="4610100"/>
            <a:ext cx="10096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เกิดอะไรขึ้น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053012" y="4610100"/>
            <a:ext cx="6000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ทำไม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805487" y="4610100"/>
            <a:ext cx="13525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จะเป็นอย่างไรต่อ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310437" y="4610100"/>
            <a:ext cx="9906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ควรทำอะไร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5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609600" y="2524125"/>
            <a:ext cx="5372100" cy="148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6210300" y="2524125"/>
            <a:ext cx="5372100" cy="148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609600" y="4238625"/>
            <a:ext cx="5372100" cy="148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6210300" y="4238625"/>
            <a:ext cx="5372100" cy="148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609600" y="6096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BUSINESS CONTEXT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609600" y="962025"/>
            <a:ext cx="11582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4 ความกังวลหลักจาก CMO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90600" y="2905125"/>
            <a:ext cx="494061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6A4F"/>
                </a:solidFill>
                <a:latin typeface="Prompt"/>
                <a:ea typeface="Prompt"/>
                <a:cs typeface="Prompt"/>
                <a:sym typeface="Prompt"/>
              </a:rPr>
              <a:t>ค่าโฆษณาสูง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990600" y="3362325"/>
            <a:ext cx="47053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ช่องทางได้ผลไม่เท่ากันและอาจจ่ายเกินความจำเป็น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591300" y="2905125"/>
            <a:ext cx="494061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6A4F"/>
                </a:solidFill>
                <a:latin typeface="Prompt"/>
                <a:ea typeface="Prompt"/>
                <a:cs typeface="Prompt"/>
                <a:sym typeface="Prompt"/>
              </a:rPr>
              <a:t>ลูกค้าซื้อซ้ำน้อย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591300" y="3362325"/>
            <a:ext cx="47053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ตัวเลขตั้งต้นเพียง 32% ต่ำเกินไปสำหรับสินค้าของสด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90600" y="4619625"/>
            <a:ext cx="494061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6A4F"/>
                </a:solidFill>
                <a:latin typeface="Prompt"/>
                <a:ea typeface="Prompt"/>
                <a:cs typeface="Prompt"/>
                <a:sym typeface="Prompt"/>
              </a:rPr>
              <a:t>ยอดต่อบิลต่ำ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90600" y="5076825"/>
            <a:ext cx="47053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กำไรถูกหักล้างด้วยค่าจัดส่งทั้งหมด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591300" y="4619625"/>
            <a:ext cx="494061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6A4F"/>
                </a:solidFill>
                <a:latin typeface="Prompt"/>
                <a:ea typeface="Prompt"/>
                <a:cs typeface="Prompt"/>
                <a:sym typeface="Prompt"/>
              </a:rPr>
              <a:t>ขาดเป้าหมายลูกค้า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591300" y="5076825"/>
            <a:ext cx="47053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จัดสรรงบประมาณดูแลลูกค้าแต่ละกลุ่มไม่ถูกจุด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/>
          <p:nvPr/>
        </p:nvSpPr>
        <p:spPr>
          <a:xfrm>
            <a:off x="609600" y="2305050"/>
            <a:ext cx="457200" cy="457200"/>
          </a:xfrm>
          <a:prstGeom prst="rect">
            <a:avLst/>
          </a:prstGeom>
          <a:solidFill>
            <a:srgbClr val="1B3B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3409950" y="2305050"/>
            <a:ext cx="457200" cy="4572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6210300" y="2305050"/>
            <a:ext cx="457200" cy="457200"/>
          </a:xfrm>
          <a:prstGeom prst="rect">
            <a:avLst/>
          </a:prstGeom>
          <a:solidFill>
            <a:srgbClr val="74A57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9010650" y="2305050"/>
            <a:ext cx="457200" cy="457200"/>
          </a:xfrm>
          <a:prstGeom prst="rect">
            <a:avLst/>
          </a:prstGeom>
          <a:solidFill>
            <a:srgbClr val="A7C4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609600" y="6096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APPROACH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09600" y="962025"/>
            <a:ext cx="11582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กระบวนการวิเคราะห์ 4 ขั้นตอน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66725" y="2305050"/>
            <a:ext cx="742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1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09600" y="2990850"/>
            <a:ext cx="28003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Descriptive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09600" y="3381375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เกิดอะไรขึ้น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09600" y="3762375"/>
            <a:ext cx="2667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วิเคราะห์ยอดขาย ช่องทาง พื้นที่ และสินค้าผ่าน Dashboard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3267075" y="2305050"/>
            <a:ext cx="742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2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3409950" y="2990850"/>
            <a:ext cx="28003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Diagnostic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3409950" y="3381375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ทำไมถึงเป็นแบบนี้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3409950" y="3762375"/>
            <a:ext cx="2667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เทียบผลโฆษณา การซื้อซ้ำ สินค้าซื้อคู่ และกำไรรายพื้นที่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6067425" y="2305050"/>
            <a:ext cx="742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Prompt"/>
                <a:ea typeface="Prompt"/>
                <a:cs typeface="Prompt"/>
                <a:sym typeface="Prompt"/>
              </a:rPr>
              <a:t>3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6210300" y="2990850"/>
            <a:ext cx="28003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Predictive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6210300" y="3381375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จะเป็นอย่างไรต่อ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6210300" y="3762375"/>
            <a:ext cx="2667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แบ่งกลุ่มลูกค้า RFM ออกแบบเซ็ตสินค้า และย้ายงบโฆษณา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867775" y="2305050"/>
            <a:ext cx="7429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4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9010650" y="2990850"/>
            <a:ext cx="28003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Prescriptive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9010650" y="3381375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ควรทำอะไร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9010650" y="3762375"/>
            <a:ext cx="2667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แผนการตลาดไตรมาส 3 ระบบสมาชิก และปรับค่าส่ง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5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/>
          <p:nvPr/>
        </p:nvSpPr>
        <p:spPr>
          <a:xfrm>
            <a:off x="609600" y="6096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PHASE 1 • DESCRIPTIVE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09600" y="962025"/>
            <a:ext cx="11582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ภาพรวม 6 เดือน: ยอดขายเติบโต 9 เท่า</a:t>
            </a:r>
            <a:endParaRPr/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53857AE6-9A08-6336-30EA-133E1D84A552}"/>
              </a:ext>
            </a:extLst>
          </p:cNvPr>
          <p:cNvSpPr/>
          <p:nvPr/>
        </p:nvSpPr>
        <p:spPr>
          <a:xfrm>
            <a:off x="548640" y="155448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03270F11-7C4A-3BC5-82F0-CC327DE88459}"/>
              </a:ext>
            </a:extLst>
          </p:cNvPr>
          <p:cNvSpPr txBox="1"/>
          <p:nvPr/>
        </p:nvSpPr>
        <p:spPr>
          <a:xfrm>
            <a:off x="822960" y="1691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07A1F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1,064,034 ฿</a:t>
            </a:r>
            <a:endParaRPr lang="en-US" sz="32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2AA56C70-64D6-185C-7C16-C4562D2E9F7F}"/>
              </a:ext>
            </a:extLst>
          </p:cNvPr>
          <p:cNvSpPr txBox="1"/>
          <p:nvPr/>
        </p:nvSpPr>
        <p:spPr>
          <a:xfrm>
            <a:off x="82296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62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ยอดขายรวม</a:t>
            </a:r>
            <a:endParaRPr lang="en-US" sz="13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4E15445-FEDB-E779-2890-AE953E3CD1E6}"/>
              </a:ext>
            </a:extLst>
          </p:cNvPr>
          <p:cNvSpPr/>
          <p:nvPr/>
        </p:nvSpPr>
        <p:spPr>
          <a:xfrm>
            <a:off x="4297680" y="155448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A3B63C14-7A9F-AC55-92C5-814BF3BA33D1}"/>
              </a:ext>
            </a:extLst>
          </p:cNvPr>
          <p:cNvSpPr txBox="1"/>
          <p:nvPr/>
        </p:nvSpPr>
        <p:spPr>
          <a:xfrm>
            <a:off x="4572000" y="1691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07A1F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7,553</a:t>
            </a:r>
            <a:endParaRPr lang="en-US" sz="32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EF20EB2F-02B0-5F71-DD4F-67D154E51C82}"/>
              </a:ext>
            </a:extLst>
          </p:cNvPr>
          <p:cNvSpPr txBox="1"/>
          <p:nvPr/>
        </p:nvSpPr>
        <p:spPr>
          <a:xfrm>
            <a:off x="457200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62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ออเดอร์</a:t>
            </a:r>
            <a:endParaRPr lang="en-US" sz="13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D0078D29-6FBA-081E-45D0-2387DCF38DF1}"/>
              </a:ext>
            </a:extLst>
          </p:cNvPr>
          <p:cNvSpPr/>
          <p:nvPr/>
        </p:nvSpPr>
        <p:spPr>
          <a:xfrm>
            <a:off x="8046720" y="1554480"/>
            <a:ext cx="356616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31277620-4D29-66D0-14D2-0DA4554BEB94}"/>
              </a:ext>
            </a:extLst>
          </p:cNvPr>
          <p:cNvSpPr txBox="1"/>
          <p:nvPr/>
        </p:nvSpPr>
        <p:spPr>
          <a:xfrm>
            <a:off x="8321040" y="1691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07A1F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140.9 ฿</a:t>
            </a:r>
            <a:endParaRPr lang="en-US" sz="32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B9A08C78-213F-8B85-F5BA-0723FBC017B8}"/>
              </a:ext>
            </a:extLst>
          </p:cNvPr>
          <p:cNvSpPr txBox="1"/>
          <p:nvPr/>
        </p:nvSpPr>
        <p:spPr>
          <a:xfrm>
            <a:off x="832104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B62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AOV เฉลี่ยต่อบิล</a:t>
            </a:r>
            <a:endParaRPr lang="en-US" sz="1300" dirty="0">
              <a:latin typeface="Kanit" pitchFamily="2" charset="-34"/>
              <a:cs typeface="Kanit" pitchFamily="2" charset="-34"/>
            </a:endParaRPr>
          </a:p>
        </p:txBody>
      </p:sp>
      <p:graphicFrame>
        <p:nvGraphicFramePr>
          <p:cNvPr id="11" name="Chart 0">
            <a:extLst>
              <a:ext uri="{FF2B5EF4-FFF2-40B4-BE49-F238E27FC236}">
                <a16:creationId xmlns:a16="http://schemas.microsoft.com/office/drawing/2014/main" id="{FFE7DC3D-43D3-72E0-42B6-5C664203BE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6492316"/>
              </p:ext>
            </p:extLst>
          </p:nvPr>
        </p:nvGraphicFramePr>
        <p:xfrm>
          <a:off x="548640" y="3063240"/>
          <a:ext cx="54406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2" name="Chart 1">
            <a:extLst>
              <a:ext uri="{FF2B5EF4-FFF2-40B4-BE49-F238E27FC236}">
                <a16:creationId xmlns:a16="http://schemas.microsoft.com/office/drawing/2014/main" id="{AAEE5BD5-4EC6-B8FF-5D1F-90770CE35EE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3239628"/>
              </p:ext>
            </p:extLst>
          </p:nvPr>
        </p:nvGraphicFramePr>
        <p:xfrm>
          <a:off x="6172200" y="3063240"/>
          <a:ext cx="54406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7A1F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INTERACTIVE DASHBOARD</a:t>
            </a:r>
            <a:endParaRPr lang="en-US" sz="12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Dashboard สำหรับ CMO</a:t>
            </a:r>
            <a:endParaRPr lang="en-US" sz="2800" dirty="0">
              <a:latin typeface="Kanit" pitchFamily="2" charset="-34"/>
              <a:cs typeface="Kanit" pitchFamily="2" charset="-34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F94EEE-5A40-D517-288A-556BF0EAB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2722" y="1178071"/>
            <a:ext cx="7346556" cy="552125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/>
          <p:nvPr/>
        </p:nvSpPr>
        <p:spPr>
          <a:xfrm>
            <a:off x="609600" y="2152650"/>
            <a:ext cx="3810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6286500" y="2152650"/>
            <a:ext cx="381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/>
          <p:nvPr/>
        </p:nvSpPr>
        <p:spPr>
          <a:xfrm>
            <a:off x="609600" y="4524375"/>
            <a:ext cx="381000" cy="381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7"/>
          <p:cNvSpPr/>
          <p:nvPr/>
        </p:nvSpPr>
        <p:spPr>
          <a:xfrm>
            <a:off x="6286500" y="4524375"/>
            <a:ext cx="381000" cy="38100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609600" y="6096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PHASE 1 • INSIGHTS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609600" y="962025"/>
            <a:ext cx="11582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ข้อมูลเชิงลึกจากภาพรวมตั้งต้น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609600" y="2343150"/>
            <a:ext cx="566070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ยอดต่อบิลคงที่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609600" y="2867025"/>
            <a:ext cx="53911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เท่ากันทุกช่องทางที่ 141 บาท สะท้อนข้อจำกัดของตะกร้าสินค้าปัจจุบัน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286500" y="2343150"/>
            <a:ext cx="566070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พื้นที่ไม่ต่างกัน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286500" y="2867025"/>
            <a:ext cx="539115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ยอดขายโซน Top 5 กับ Bottom 5 ห่างกันเพียง 21.9% ลูกค้ากระจายทั่วกรุงเทพชั้นใน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09600" y="4714875"/>
            <a:ext cx="566070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สินค้าหลักขับเคลื่อนยอด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09600" y="5238750"/>
            <a:ext cx="53911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บลูเบอร์รี่ ชีสมอสซาเรลลา และแอปเปิ้ล Fuji ครองสัดส่วนขายดีสูงสุด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286500" y="4714875"/>
            <a:ext cx="5660707" cy="409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เติบโตก้าวกระโดด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286500" y="5238750"/>
            <a:ext cx="53911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ยอดขายโตต่อเนื่อง 801% จากเดือนแรกถึงเดือนที่หก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8640" y="155448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68680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07A1F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+801%</a:t>
            </a:r>
            <a:endParaRPr lang="en-US" sz="34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68680" y="2514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ยอดขายรายเดือนโตต่อเนื่อง</a:t>
            </a:r>
            <a:endParaRPr lang="en-US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68680" y="2926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34,391 ฿ (ม.ค.) → 309,813 ฿ (มิ.ย.) เร่งตัวชัดช่วง เม.ย.–มิ.ย.</a:t>
            </a:r>
            <a:endParaRPr lang="en-US" sz="12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172200" y="155448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92240" y="1783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07A1F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≈ 141 ฿</a:t>
            </a:r>
            <a:endParaRPr lang="en-US" sz="34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492240" y="2514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AOV ทุกช่องทางแทบเท่ากัน</a:t>
            </a:r>
            <a:endParaRPr lang="en-US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492240" y="29260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140.7–141.3 ฿ ต่างกันไม่ถึง 1 บาท → ต้องดูที่ต้นทุนและปริมาณ ไม่ใช่ AOV</a:t>
            </a:r>
            <a:endParaRPr lang="en-US" sz="12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68680" y="4114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07A1F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21.9%</a:t>
            </a:r>
            <a:endParaRPr lang="en-US" sz="34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868680" y="4846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Top 5 vs Bottom 5 พื้นที่</a:t>
            </a:r>
            <a:endParaRPr lang="en-US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868680" y="5257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ส่วนต่าง 87,752 ฿ ไม่ห่างมาก ความต้องการกระจายทั่วกรุงเทพฯ ชั้นใน</a:t>
            </a:r>
            <a:endParaRPr lang="en-US" sz="12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72200" y="3886200"/>
            <a:ext cx="54406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492240" y="41148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07A1F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29.6%</a:t>
            </a:r>
            <a:endParaRPr lang="en-US" sz="34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492240" y="48463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Top 3 สินค้าทำเงิน</a:t>
            </a:r>
            <a:endParaRPr lang="en-US" sz="16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492240" y="52578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บลูเบอร์รี่ • ชีสมอสซาเรลลา • แอปเปิ้ล Fuji ควรเป็นแกนของ bundle</a:t>
            </a:r>
            <a:endParaRPr lang="en-US" sz="12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0" name="Google Shape;160;p17">
            <a:extLst>
              <a:ext uri="{FF2B5EF4-FFF2-40B4-BE49-F238E27FC236}">
                <a16:creationId xmlns:a16="http://schemas.microsoft.com/office/drawing/2014/main" id="{3A303C0E-694D-D1F5-6D60-E7865A0532B6}"/>
              </a:ext>
            </a:extLst>
          </p:cNvPr>
          <p:cNvSpPr txBox="1"/>
          <p:nvPr/>
        </p:nvSpPr>
        <p:spPr>
          <a:xfrm>
            <a:off x="609600" y="6096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PHASE 1 • INSIGHTS</a:t>
            </a:r>
            <a:endParaRPr/>
          </a:p>
        </p:txBody>
      </p:sp>
      <p:sp>
        <p:nvSpPr>
          <p:cNvPr id="21" name="Google Shape;161;p17">
            <a:extLst>
              <a:ext uri="{FF2B5EF4-FFF2-40B4-BE49-F238E27FC236}">
                <a16:creationId xmlns:a16="http://schemas.microsoft.com/office/drawing/2014/main" id="{54C57D34-C0E3-BCD4-0D32-BB8FBD4C8E15}"/>
              </a:ext>
            </a:extLst>
          </p:cNvPr>
          <p:cNvSpPr txBox="1"/>
          <p:nvPr/>
        </p:nvSpPr>
        <p:spPr>
          <a:xfrm>
            <a:off x="609600" y="962025"/>
            <a:ext cx="11582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ข้อมูลเชิงลึกจากภาพรวมตั้งต้น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5"/>
        </a:solid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8"/>
          <p:cNvSpPr txBox="1"/>
          <p:nvPr/>
        </p:nvSpPr>
        <p:spPr>
          <a:xfrm>
            <a:off x="609600" y="1328737"/>
            <a:ext cx="48101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PHASE 2 • DIAGNOSTIC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609600" y="1681162"/>
            <a:ext cx="5050631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LINE</a:t>
            </a:r>
            <a:r>
              <a:rPr lang="th-TH" sz="3000" b="1" i="0" u="none" strike="noStrike" cap="none" dirty="0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 </a:t>
            </a:r>
            <a:r>
              <a:rPr lang="en-US" sz="3000" b="1" i="0" u="none" strike="noStrike" cap="none" dirty="0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OA </a:t>
            </a:r>
            <a:r>
              <a:rPr lang="en-US" sz="3000" b="1" i="0" u="none" strike="noStrike" cap="none" dirty="0" err="1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คุ้มค่าที่สุดในการหาลูกค้าใหม่</a:t>
            </a:r>
            <a:endParaRPr dirty="0"/>
          </a:p>
        </p:txBody>
      </p:sp>
      <p:sp>
        <p:nvSpPr>
          <p:cNvPr id="186" name="Google Shape;186;p18"/>
          <p:cNvSpPr txBox="1"/>
          <p:nvPr/>
        </p:nvSpPr>
        <p:spPr>
          <a:xfrm>
            <a:off x="609600" y="2866692"/>
            <a:ext cx="4810125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ต้นทุนต่อลูกค้าใหม่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 (CAC)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ของช่องทาง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 LINE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ถูกกว่าช่องทางอื่นถึง</a:t>
            </a:r>
            <a:r>
              <a:rPr lang="en-US" sz="1350" b="0" i="0" u="none" strike="noStrike" cap="none" dirty="0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 4 </a:t>
            </a:r>
            <a:r>
              <a:rPr lang="en-US" sz="1350" b="0" i="0" u="none" strike="noStrike" cap="none" dirty="0" err="1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เท่า</a:t>
            </a:r>
            <a:endParaRPr dirty="0"/>
          </a:p>
        </p:txBody>
      </p:sp>
      <p:graphicFrame>
        <p:nvGraphicFramePr>
          <p:cNvPr id="2" name="Chart 0">
            <a:extLst>
              <a:ext uri="{FF2B5EF4-FFF2-40B4-BE49-F238E27FC236}">
                <a16:creationId xmlns:a16="http://schemas.microsoft.com/office/drawing/2014/main" id="{D4CFDA58-B01A-B894-96D5-6EA1EC366A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604525"/>
              </p:ext>
            </p:extLst>
          </p:nvPr>
        </p:nvGraphicFramePr>
        <p:xfrm>
          <a:off x="579120" y="3357562"/>
          <a:ext cx="5588556" cy="29060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Shape 2">
            <a:extLst>
              <a:ext uri="{FF2B5EF4-FFF2-40B4-BE49-F238E27FC236}">
                <a16:creationId xmlns:a16="http://schemas.microsoft.com/office/drawing/2014/main" id="{A8CA362B-D20A-4046-B34C-D564506EA3B7}"/>
              </a:ext>
            </a:extLst>
          </p:cNvPr>
          <p:cNvSpPr/>
          <p:nvPr/>
        </p:nvSpPr>
        <p:spPr>
          <a:xfrm>
            <a:off x="6675120" y="1554480"/>
            <a:ext cx="4937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499AB82A-916F-8DB4-1ECC-E70589C7F5DA}"/>
              </a:ext>
            </a:extLst>
          </p:cNvPr>
          <p:cNvSpPr txBox="1"/>
          <p:nvPr/>
        </p:nvSpPr>
        <p:spPr>
          <a:xfrm>
            <a:off x="6949440" y="1737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LINE</a:t>
            </a:r>
            <a:endParaRPr lang="en-US" sz="16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2CDF5A38-D7AC-EEB9-4519-F6DB5524316E}"/>
              </a:ext>
            </a:extLst>
          </p:cNvPr>
          <p:cNvSpPr txBox="1"/>
          <p:nvPr/>
        </p:nvSpPr>
        <p:spPr>
          <a:xfrm>
            <a:off x="6949440" y="2331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งบ 276,278 ฿ → รายได้ 30 วันแรก 132,748 ฿</a:t>
            </a:r>
            <a:endParaRPr lang="en-US" sz="11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AECCFC80-5E30-7286-14C5-49E11D4EA492}"/>
              </a:ext>
            </a:extLst>
          </p:cNvPr>
          <p:cNvSpPr txBox="1"/>
          <p:nvPr/>
        </p:nvSpPr>
        <p:spPr>
          <a:xfrm>
            <a:off x="8778240" y="1691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E07A1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ROI 0.48</a:t>
            </a:r>
            <a:endParaRPr lang="en-US" sz="26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C65DA506-1701-4CA2-6A50-95BB00EE1935}"/>
              </a:ext>
            </a:extLst>
          </p:cNvPr>
          <p:cNvSpPr/>
          <p:nvPr/>
        </p:nvSpPr>
        <p:spPr>
          <a:xfrm>
            <a:off x="6675120" y="3063240"/>
            <a:ext cx="4937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02106525-620D-1EE3-B015-991C8DB5C388}"/>
              </a:ext>
            </a:extLst>
          </p:cNvPr>
          <p:cNvSpPr txBox="1"/>
          <p:nvPr/>
        </p:nvSpPr>
        <p:spPr>
          <a:xfrm>
            <a:off x="6949440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Google</a:t>
            </a:r>
            <a:endParaRPr lang="en-US" sz="16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3A6137D4-F113-413E-D183-D9BA1E69ED20}"/>
              </a:ext>
            </a:extLst>
          </p:cNvPr>
          <p:cNvSpPr txBox="1"/>
          <p:nvPr/>
        </p:nvSpPr>
        <p:spPr>
          <a:xfrm>
            <a:off x="6949440" y="3840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งบ 808,189 ฿ → รายได้ 114,915 ฿</a:t>
            </a:r>
            <a:endParaRPr lang="en-US" sz="11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5FB529D0-561E-6D68-E05C-6BDC2FEFE0BC}"/>
              </a:ext>
            </a:extLst>
          </p:cNvPr>
          <p:cNvSpPr txBox="1"/>
          <p:nvPr/>
        </p:nvSpPr>
        <p:spPr>
          <a:xfrm>
            <a:off x="8778240" y="3200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2D6A4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ROI 0.14</a:t>
            </a:r>
            <a:endParaRPr lang="en-US" sz="26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A47E0A7E-6B20-105D-9B50-6EC8A1BF39A2}"/>
              </a:ext>
            </a:extLst>
          </p:cNvPr>
          <p:cNvSpPr/>
          <p:nvPr/>
        </p:nvSpPr>
        <p:spPr>
          <a:xfrm>
            <a:off x="6675120" y="4572000"/>
            <a:ext cx="493776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CC10E6F8-4CA0-EC16-BB8E-2E653DAB8D92}"/>
              </a:ext>
            </a:extLst>
          </p:cNvPr>
          <p:cNvSpPr txBox="1"/>
          <p:nvPr/>
        </p:nvSpPr>
        <p:spPr>
          <a:xfrm>
            <a:off x="6949440" y="47548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Facebook</a:t>
            </a:r>
            <a:endParaRPr lang="en-US" sz="16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D9E57957-3FA0-45B8-93F9-FB492C3BE047}"/>
              </a:ext>
            </a:extLst>
          </p:cNvPr>
          <p:cNvSpPr txBox="1"/>
          <p:nvPr/>
        </p:nvSpPr>
        <p:spPr>
          <a:xfrm>
            <a:off x="6949440" y="5349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งบ 561,825 ฿ → รายได้ 77,787 ฿</a:t>
            </a:r>
            <a:endParaRPr lang="en-US" sz="11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55FAAA5A-168C-CA44-A366-9416EF36CA34}"/>
              </a:ext>
            </a:extLst>
          </p:cNvPr>
          <p:cNvSpPr txBox="1"/>
          <p:nvPr/>
        </p:nvSpPr>
        <p:spPr>
          <a:xfrm>
            <a:off x="8778240" y="4709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2D6A4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ROI 0.14</a:t>
            </a:r>
            <a:endParaRPr lang="en-US" sz="2600" dirty="0">
              <a:latin typeface="Prompt" pitchFamily="2" charset="-34"/>
              <a:cs typeface="Prompt" pitchFamily="2" charset="-3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"/>
          <p:cNvSpPr/>
          <p:nvPr/>
        </p:nvSpPr>
        <p:spPr>
          <a:xfrm>
            <a:off x="609600" y="2152650"/>
            <a:ext cx="5295900" cy="409575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6286500" y="2152650"/>
            <a:ext cx="5295900" cy="4095750"/>
          </a:xfrm>
          <a:prstGeom prst="rect">
            <a:avLst/>
          </a:prstGeom>
          <a:solidFill>
            <a:srgbClr val="1B3B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 txBox="1"/>
          <p:nvPr/>
        </p:nvSpPr>
        <p:spPr>
          <a:xfrm>
            <a:off x="609600" y="6096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PHASE 2 • DIAGNOSTIC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609600" y="962025"/>
            <a:ext cx="11582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อัตราซื้อซ้ำจริงสูงกว่าที่คาดการณ์</a:t>
            </a:r>
            <a:endParaRPr dirty="0"/>
          </a:p>
        </p:txBody>
      </p:sp>
      <p:sp>
        <p:nvSpPr>
          <p:cNvPr id="208" name="Google Shape;208;p19"/>
          <p:cNvSpPr txBox="1"/>
          <p:nvPr/>
        </p:nvSpPr>
        <p:spPr>
          <a:xfrm>
            <a:off x="2114550" y="3276600"/>
            <a:ext cx="22860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เป้าหมายตั้งต้นในโจทย์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1870471" y="3714750"/>
            <a:ext cx="2774156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32%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1513284" y="4895850"/>
            <a:ext cx="3488531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นับเฉพาะการซื้อซ้ำภายในเดือนแรกหลังสมัคร</a:t>
            </a:r>
            <a:endParaRPr/>
          </a:p>
        </p:txBody>
      </p:sp>
      <p:sp>
        <p:nvSpPr>
          <p:cNvPr id="211" name="Google Shape;211;p19"/>
          <p:cNvSpPr txBox="1"/>
          <p:nvPr/>
        </p:nvSpPr>
        <p:spPr>
          <a:xfrm>
            <a:off x="8106965" y="3276600"/>
            <a:ext cx="1654968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A7C4B5"/>
                </a:solidFill>
                <a:latin typeface="Prompt"/>
                <a:ea typeface="Prompt"/>
                <a:cs typeface="Prompt"/>
                <a:sym typeface="Prompt"/>
              </a:rPr>
              <a:t>ข้อมูลการซื้อจริง</a:t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7178278" y="3714750"/>
            <a:ext cx="3512343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78.1%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6946106" y="4895850"/>
            <a:ext cx="39766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A7C4B5"/>
                </a:solidFill>
                <a:latin typeface="Prompt"/>
                <a:ea typeface="Prompt"/>
                <a:cs typeface="Prompt"/>
                <a:sym typeface="Prompt"/>
              </a:rPr>
              <a:t>ลูกค้า 1,702 จาก 2,180 คน ซื้อตั้งแต่ 2 ครั้งขึ้นไป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8640" y="155448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5B6B62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32%</a:t>
            </a:r>
            <a:endParaRPr lang="en-US" sz="44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ตัวเลขในโจทย์ (น่าจะวัดเฉพาะเดือนแรกหลังสมัคร)</a:t>
            </a:r>
            <a:endParaRPr lang="en-US" sz="12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1B4332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4572000" y="17373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78.1%</a:t>
            </a:r>
            <a:endParaRPr lang="en-US" sz="44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457200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8E9DC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คำนวณจากข้อมูลจริง: 1,702 จาก 2,180 คนซื้อ ≥ 2 ครั้ง</a:t>
            </a:r>
            <a:endParaRPr lang="en-US" sz="12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73152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Kanit" pitchFamily="2" charset="-34"/>
              <a:cs typeface="Kanit" pitchFamily="2" charset="-34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22960" y="402336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Cohort ม.ค. M1 retention 34.4% vs พ.ค. 70.5% </a:t>
            </a:r>
            <a:endParaRPr lang="th-TH" sz="1400" dirty="0">
              <a:solidFill>
                <a:srgbClr val="1F2A24"/>
              </a:solidFill>
              <a:latin typeface="Kanit" pitchFamily="2" charset="-34"/>
              <a:ea typeface="Tahoma" pitchFamily="34" charset="-122"/>
              <a:cs typeface="Kanit" pitchFamily="2" charset="-34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Drop-off หนักช่วง 7–14 วันแรก เพราะยังไม่มี onboarding</a:t>
            </a:r>
            <a:endParaRPr lang="en-US" sz="1400" dirty="0">
              <a:latin typeface="Kanit" pitchFamily="2" charset="-34"/>
              <a:cs typeface="Kanit" pitchFamily="2" charset="-34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F2A24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กลุ่ม Lost สูง 28.7% ของฐานลูกค้า</a:t>
            </a:r>
            <a:endParaRPr lang="en-US" sz="1400" dirty="0">
              <a:latin typeface="Kanit" pitchFamily="2" charset="-34"/>
              <a:cs typeface="Kanit" pitchFamily="2" charset="-34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E07A1F"/>
                </a:solidFill>
                <a:latin typeface="Kanit" pitchFamily="2" charset="-34"/>
                <a:ea typeface="Tahoma" pitchFamily="34" charset="-122"/>
                <a:cs typeface="Kanit" pitchFamily="2" charset="-34"/>
              </a:rPr>
              <a:t>ต้อง align นิยาม repeat กับ CMO ก่อนตั้ง KPI</a:t>
            </a:r>
            <a:endParaRPr lang="en-US" sz="1400" dirty="0">
              <a:latin typeface="Kanit" pitchFamily="2" charset="-34"/>
              <a:cs typeface="Kanit" pitchFamily="2" charset="-34"/>
            </a:endParaRPr>
          </a:p>
        </p:txBody>
      </p:sp>
      <p:graphicFrame>
        <p:nvGraphicFramePr>
          <p:cNvPr id="12" name="Chart 0"/>
          <p:cNvGraphicFramePr/>
          <p:nvPr/>
        </p:nvGraphicFramePr>
        <p:xfrm>
          <a:off x="8138160" y="1554480"/>
          <a:ext cx="3474720" cy="4617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Google Shape;206;p19">
            <a:extLst>
              <a:ext uri="{FF2B5EF4-FFF2-40B4-BE49-F238E27FC236}">
                <a16:creationId xmlns:a16="http://schemas.microsoft.com/office/drawing/2014/main" id="{77D5999B-0D7E-2CE8-31D7-7ED7E85178F0}"/>
              </a:ext>
            </a:extLst>
          </p:cNvPr>
          <p:cNvSpPr txBox="1"/>
          <p:nvPr/>
        </p:nvSpPr>
        <p:spPr>
          <a:xfrm>
            <a:off x="609600" y="6096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PHASE 2 • DIAGNOSTIC</a:t>
            </a:r>
            <a:endParaRPr/>
          </a:p>
        </p:txBody>
      </p:sp>
      <p:sp>
        <p:nvSpPr>
          <p:cNvPr id="14" name="Google Shape;207;p19">
            <a:extLst>
              <a:ext uri="{FF2B5EF4-FFF2-40B4-BE49-F238E27FC236}">
                <a16:creationId xmlns:a16="http://schemas.microsoft.com/office/drawing/2014/main" id="{45CD88D9-D17D-350F-13D3-E80EED79CB78}"/>
              </a:ext>
            </a:extLst>
          </p:cNvPr>
          <p:cNvSpPr txBox="1"/>
          <p:nvPr/>
        </p:nvSpPr>
        <p:spPr>
          <a:xfrm>
            <a:off x="609600" y="962025"/>
            <a:ext cx="11582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อัตราซื้อซ้ำจริงสูงกว่าที่คาดการณ์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07A1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PHASE 2 • DIAGNOSTIC</a:t>
            </a:r>
            <a:endParaRPr lang="en-US" sz="1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โซนไกลแทบไม่เหลือกำไร + ลูกค้าซื้อข้ามหมวด</a:t>
            </a:r>
            <a:endParaRPr lang="en-US" sz="2800" dirty="0">
              <a:latin typeface="Prompt" pitchFamily="2" charset="-34"/>
              <a:cs typeface="Prompt" pitchFamily="2" charset="-34"/>
            </a:endParaRP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089750497"/>
              </p:ext>
            </p:extLst>
          </p:nvPr>
        </p:nvGraphicFramePr>
        <p:xfrm>
          <a:off x="548640" y="1554480"/>
          <a:ext cx="630936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132320" y="1554480"/>
            <a:ext cx="44805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Text 3"/>
          <p:cNvSpPr txBox="1"/>
          <p:nvPr/>
        </p:nvSpPr>
        <p:spPr>
          <a:xfrm>
            <a:off x="740664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B433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Basket Analysis</a:t>
            </a:r>
            <a:endParaRPr lang="en-US" sz="17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406640" y="22402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ซื้อวันเดียวกัน ≥ 2 ชิ้น: 2.3% (168 / 7,382 บิล) → สัญญาณเบาบาง</a:t>
            </a:r>
            <a:endParaRPr lang="en-US" sz="1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406640" y="306324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B433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Top คู่สินค้าระดับลูกค้า (ซื้อภายใน 6 เดือน)</a:t>
            </a:r>
            <a:endParaRPr lang="en-US" sz="1300" dirty="0">
              <a:latin typeface="Prompt" pitchFamily="2" charset="-34"/>
              <a:cs typeface="Prompt" pitchFamily="2" charset="-34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มอสซาเรลลา + ตะไคร้ (59)</a:t>
            </a:r>
            <a:endParaRPr lang="en-US" sz="1300" dirty="0">
              <a:latin typeface="Prompt" pitchFamily="2" charset="-34"/>
              <a:cs typeface="Prompt" pitchFamily="2" charset="-34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แอปเปิ้ล + มอสซาเรลลา (58)</a:t>
            </a:r>
            <a:endParaRPr lang="en-US" sz="1300" dirty="0">
              <a:latin typeface="Prompt" pitchFamily="2" charset="-34"/>
              <a:cs typeface="Prompt" pitchFamily="2" charset="-34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24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กล้วยหอม + ใบมะกรูด (58)</a:t>
            </a:r>
            <a:endParaRPr lang="en-US" sz="13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7406640" y="49377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E07A1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→ Bundle ควรผสมข้ามหมวด (ของสด + เครื่องปรุง)</a:t>
            </a:r>
            <a:endParaRPr lang="en-US" sz="14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สมมติ COGS 55% • ค่าส่ง 40 ฿ (ใกล้) / 60 ฿ (ไกล) คิดเป็น 42.6% ของ AOV</a:t>
            </a:r>
            <a:endParaRPr lang="en-US" sz="1100" dirty="0">
              <a:latin typeface="Prompt" pitchFamily="2" charset="-34"/>
              <a:cs typeface="Prompt" pitchFamily="2" charset="-3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5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0"/>
          <p:cNvSpPr/>
          <p:nvPr/>
        </p:nvSpPr>
        <p:spPr>
          <a:xfrm>
            <a:off x="609600" y="2457450"/>
            <a:ext cx="10972800" cy="1552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609600" y="4391025"/>
            <a:ext cx="10972800" cy="15525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609600" y="2457450"/>
            <a:ext cx="76200" cy="1552575"/>
          </a:xfrm>
          <a:prstGeom prst="rect">
            <a:avLst/>
          </a:prstGeom>
          <a:solidFill>
            <a:srgbClr val="E07A5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609600" y="4391025"/>
            <a:ext cx="76200" cy="1552575"/>
          </a:xfrm>
          <a:prstGeom prst="rect">
            <a:avLst/>
          </a:prstGeom>
          <a:solidFill>
            <a:srgbClr val="A7C4B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4152900" y="3224212"/>
            <a:ext cx="381000" cy="19050"/>
          </a:xfrm>
          <a:prstGeom prst="rect">
            <a:avLst/>
          </a:prstGeom>
          <a:solidFill>
            <a:srgbClr val="DCE6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4152900" y="5157787"/>
            <a:ext cx="381000" cy="19050"/>
          </a:xfrm>
          <a:prstGeom prst="rect">
            <a:avLst/>
          </a:prstGeom>
          <a:solidFill>
            <a:srgbClr val="DCE6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09600" y="6096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PHASE 3 • PREDICTIVE</a:t>
            </a:r>
            <a:endParaRPr/>
          </a:p>
        </p:txBody>
      </p:sp>
      <p:sp>
        <p:nvSpPr>
          <p:cNvPr id="225" name="Google Shape;225;p20"/>
          <p:cNvSpPr txBox="1"/>
          <p:nvPr/>
        </p:nvSpPr>
        <p:spPr>
          <a:xfrm>
            <a:off x="609600" y="962025"/>
            <a:ext cx="11582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กลุ่มลูกค้า Champions คือหัวใจของยอดขาย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1066800" y="2947987"/>
            <a:ext cx="2000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Champions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1066800" y="3290887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(ลูกค้าชั้นดี)</a:t>
            </a:r>
            <a:endParaRPr/>
          </a:p>
        </p:txBody>
      </p:sp>
      <p:sp>
        <p:nvSpPr>
          <p:cNvPr id="228" name="Google Shape;228;p20"/>
          <p:cNvSpPr txBox="1"/>
          <p:nvPr/>
        </p:nvSpPr>
        <p:spPr>
          <a:xfrm>
            <a:off x="2876550" y="2962275"/>
            <a:ext cx="10477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21.4%</a:t>
            </a:r>
            <a:endParaRPr/>
          </a:p>
        </p:txBody>
      </p:sp>
      <p:sp>
        <p:nvSpPr>
          <p:cNvPr id="229" name="Google Shape;229;p20"/>
          <p:cNvSpPr txBox="1"/>
          <p:nvPr/>
        </p:nvSpPr>
        <p:spPr>
          <a:xfrm>
            <a:off x="4762500" y="2838450"/>
            <a:ext cx="1600200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45.5%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7086600" y="3119437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หากเสียลูกค้า 536 คนกลุ่มนี้ ยอดขายของร้านจะหายไปเกือบครึ่ง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1066800" y="4881562"/>
            <a:ext cx="20002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Lost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1066800" y="5224462"/>
            <a:ext cx="20002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(ลูกค้าที่หายไป)</a:t>
            </a:r>
            <a:endParaRPr/>
          </a:p>
        </p:txBody>
      </p:sp>
      <p:sp>
        <p:nvSpPr>
          <p:cNvPr id="233" name="Google Shape;233;p20"/>
          <p:cNvSpPr txBox="1"/>
          <p:nvPr/>
        </p:nvSpPr>
        <p:spPr>
          <a:xfrm>
            <a:off x="2876550" y="4895850"/>
            <a:ext cx="104775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2D6A4F"/>
                </a:solidFill>
                <a:latin typeface="Prompt"/>
                <a:ea typeface="Prompt"/>
                <a:cs typeface="Prompt"/>
                <a:sym typeface="Prompt"/>
              </a:rPr>
              <a:t>28.7%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4762500" y="4772025"/>
            <a:ext cx="1381125" cy="79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7.1%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7086600" y="5053012"/>
            <a:ext cx="5105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สะท้อนปัญหาการขาดการดูแลลูกค้าใหม่ในช่วงแรกของการสมัคร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2876550" y="3333750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สัดส่วนลูกค้า</a:t>
            </a:r>
            <a:endParaRPr/>
          </a:p>
        </p:txBody>
      </p:sp>
      <p:sp>
        <p:nvSpPr>
          <p:cNvPr id="237" name="Google Shape;237;p20"/>
          <p:cNvSpPr txBox="1"/>
          <p:nvPr/>
        </p:nvSpPr>
        <p:spPr>
          <a:xfrm>
            <a:off x="4762500" y="3400425"/>
            <a:ext cx="1600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2D6A4F"/>
                </a:solidFill>
                <a:latin typeface="Prompt"/>
                <a:ea typeface="Prompt"/>
                <a:cs typeface="Prompt"/>
                <a:sym typeface="Prompt"/>
              </a:rPr>
              <a:t>สัดส่วนยอดขายรวม</a:t>
            </a:r>
            <a:endParaRPr/>
          </a:p>
        </p:txBody>
      </p:sp>
      <p:sp>
        <p:nvSpPr>
          <p:cNvPr id="238" name="Google Shape;238;p20"/>
          <p:cNvSpPr txBox="1"/>
          <p:nvPr/>
        </p:nvSpPr>
        <p:spPr>
          <a:xfrm>
            <a:off x="2876550" y="5267325"/>
            <a:ext cx="104775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สัดส่วนลูกค้า</a:t>
            </a:r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4762500" y="5334000"/>
            <a:ext cx="13811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สัดส่วนยอดขายรวม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98871529"/>
              </p:ext>
            </p:extLst>
          </p:nvPr>
        </p:nvGraphicFramePr>
        <p:xfrm>
          <a:off x="548640" y="1554480"/>
          <a:ext cx="69494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72400" y="1554480"/>
            <a:ext cx="38404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6" name="Text 3"/>
          <p:cNvSpPr txBox="1"/>
          <p:nvPr/>
        </p:nvSpPr>
        <p:spPr>
          <a:xfrm>
            <a:off x="8046720" y="17373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E07A1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45.5%</a:t>
            </a:r>
            <a:endParaRPr lang="en-US" sz="36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046720" y="256032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รายได้จาก Champions 536 คน (483,918 ฿) เสียไปนิดเดียวก็กระทบหนัก</a:t>
            </a:r>
            <a:endParaRPr lang="en-US" sz="1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772400" y="3886200"/>
            <a:ext cx="38404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/>
          </a:p>
        </p:txBody>
      </p:sp>
      <p:sp>
        <p:nvSpPr>
          <p:cNvPr id="9" name="Text 6"/>
          <p:cNvSpPr txBox="1"/>
          <p:nvPr/>
        </p:nvSpPr>
        <p:spPr>
          <a:xfrm>
            <a:off x="8046720" y="40690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b="1" dirty="0">
                <a:solidFill>
                  <a:srgbClr val="B23A48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28.7%</a:t>
            </a:r>
            <a:endParaRPr lang="en-US" sz="36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8046720" y="48920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กลุ่ม Lost 718 คน ทำรายได้แค่ 7.1% ช่องว่างอยู่ที่ onboarding</a:t>
            </a:r>
            <a:endParaRPr lang="en-US" sz="1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1" name="Google Shape;224;p20">
            <a:extLst>
              <a:ext uri="{FF2B5EF4-FFF2-40B4-BE49-F238E27FC236}">
                <a16:creationId xmlns:a16="http://schemas.microsoft.com/office/drawing/2014/main" id="{4B9B5F31-881D-440B-8BA1-64A6A0FF2138}"/>
              </a:ext>
            </a:extLst>
          </p:cNvPr>
          <p:cNvSpPr txBox="1"/>
          <p:nvPr/>
        </p:nvSpPr>
        <p:spPr>
          <a:xfrm>
            <a:off x="609600" y="6096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PHASE 3 • PREDICTIVE</a:t>
            </a:r>
            <a:endParaRPr/>
          </a:p>
        </p:txBody>
      </p:sp>
      <p:sp>
        <p:nvSpPr>
          <p:cNvPr id="12" name="Google Shape;225;p20">
            <a:extLst>
              <a:ext uri="{FF2B5EF4-FFF2-40B4-BE49-F238E27FC236}">
                <a16:creationId xmlns:a16="http://schemas.microsoft.com/office/drawing/2014/main" id="{576A2749-F824-8EF3-760F-50395DB5E281}"/>
              </a:ext>
            </a:extLst>
          </p:cNvPr>
          <p:cNvSpPr txBox="1"/>
          <p:nvPr/>
        </p:nvSpPr>
        <p:spPr>
          <a:xfrm>
            <a:off x="609600" y="962025"/>
            <a:ext cx="11582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กลุ่มลูกค้า Champions คือหัวใจของยอดขาย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"/>
          <p:cNvSpPr/>
          <p:nvPr/>
        </p:nvSpPr>
        <p:spPr>
          <a:xfrm>
            <a:off x="609600" y="2152650"/>
            <a:ext cx="5257800" cy="4095750"/>
          </a:xfrm>
          <a:prstGeom prst="rect">
            <a:avLst/>
          </a:prstGeom>
          <a:solidFill>
            <a:srgbClr val="F8FAF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6324600" y="2152650"/>
            <a:ext cx="5257800" cy="4095750"/>
          </a:xfrm>
          <a:prstGeom prst="rect">
            <a:avLst/>
          </a:prstGeom>
          <a:solidFill>
            <a:srgbClr val="1B3B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37528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41338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451485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66800" y="4895850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609600" y="6096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PHASE 3 • STRATEGY</a:t>
            </a:r>
            <a:endParaRPr/>
          </a:p>
        </p:txBody>
      </p:sp>
      <p:sp>
        <p:nvSpPr>
          <p:cNvPr id="251" name="Google Shape;251;p21"/>
          <p:cNvSpPr txBox="1"/>
          <p:nvPr/>
        </p:nvSpPr>
        <p:spPr>
          <a:xfrm>
            <a:off x="609600" y="962025"/>
            <a:ext cx="11582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กลยุทธ์เพิ่มยอด: เซ็ตสินค้า และ โยกงบโฆษณา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1066800" y="2609850"/>
            <a:ext cx="466058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D6A4F"/>
                </a:solidFill>
                <a:latin typeface="Prompt"/>
                <a:ea typeface="Prompt"/>
                <a:cs typeface="Prompt"/>
                <a:sym typeface="Prompt"/>
              </a:rPr>
              <a:t>รวมเซ็ตสินค้าข้ามหมวด</a:t>
            </a:r>
            <a:endParaRPr/>
          </a:p>
        </p:txBody>
      </p:sp>
      <p:sp>
        <p:nvSpPr>
          <p:cNvPr id="253" name="Google Shape;253;p21"/>
          <p:cNvSpPr txBox="1"/>
          <p:nvPr/>
        </p:nvSpPr>
        <p:spPr>
          <a:xfrm>
            <a:off x="1066800" y="3181350"/>
            <a:ext cx="44386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จูงใจด้วยส่วนลด 10% เพิ่มยอดต่อบิล 100-270 บาท</a:t>
            </a:r>
            <a:endParaRPr/>
          </a:p>
        </p:txBody>
      </p:sp>
      <p:sp>
        <p:nvSpPr>
          <p:cNvPr id="254" name="Google Shape;254;p21"/>
          <p:cNvSpPr txBox="1"/>
          <p:nvPr/>
        </p:nvSpPr>
        <p:spPr>
          <a:xfrm>
            <a:off x="6781800" y="2609850"/>
            <a:ext cx="4660582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A7C4B5"/>
                </a:solidFill>
                <a:latin typeface="Prompt"/>
                <a:ea typeface="Prompt"/>
                <a:cs typeface="Prompt"/>
                <a:sym typeface="Prompt"/>
              </a:rPr>
              <a:t>โยกงบประมาณโฆษณา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6781800" y="3181350"/>
            <a:ext cx="44386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DCE6DE"/>
                </a:solidFill>
                <a:latin typeface="Prompt"/>
                <a:ea typeface="Prompt"/>
                <a:cs typeface="Prompt"/>
                <a:sym typeface="Prompt"/>
              </a:rPr>
              <a:t>งบรวมเท่าเดิม แต่เน้นช่องทางที่มีประสิทธิภาพ (LINE)</a:t>
            </a:r>
            <a:endParaRPr/>
          </a:p>
        </p:txBody>
      </p:sp>
      <p:sp>
        <p:nvSpPr>
          <p:cNvPr id="256" name="Google Shape;256;p21"/>
          <p:cNvSpPr txBox="1"/>
          <p:nvPr/>
        </p:nvSpPr>
        <p:spPr>
          <a:xfrm>
            <a:off x="1314450" y="3714750"/>
            <a:ext cx="4191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เซ็ตผัดกะเพรา: กะเพรา + ไข่ไก่ + โหระพา</a:t>
            </a:r>
            <a:endParaRPr/>
          </a:p>
        </p:txBody>
      </p:sp>
      <p:sp>
        <p:nvSpPr>
          <p:cNvPr id="257" name="Google Shape;257;p21"/>
          <p:cNvSpPr txBox="1"/>
          <p:nvPr/>
        </p:nvSpPr>
        <p:spPr>
          <a:xfrm>
            <a:off x="1314450" y="4095750"/>
            <a:ext cx="4191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เซ็ตสลัดโปรตีน: ผักสลัด + อะโวคาโด + ไข่ไก่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1314450" y="4476750"/>
            <a:ext cx="4191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เซ็ตผลไม้ตอนเช้า: แอปเปิ้ล + กล้วยหอม + บลูเบอร์รี่</a:t>
            </a:r>
            <a:endParaRPr/>
          </a:p>
        </p:txBody>
      </p:sp>
      <p:sp>
        <p:nvSpPr>
          <p:cNvPr id="259" name="Google Shape;259;p21"/>
          <p:cNvSpPr txBox="1"/>
          <p:nvPr/>
        </p:nvSpPr>
        <p:spPr>
          <a:xfrm>
            <a:off x="1314450" y="4857750"/>
            <a:ext cx="4191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เซ็ตสมุนไพรต้มยำ: ตะไคร้ + ข่า + ใบมะกรูด + มะนาว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6781800" y="3714750"/>
            <a:ext cx="88582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Facebook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10477500" y="3714750"/>
            <a:ext cx="7429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07A5F"/>
                </a:solidFill>
                <a:latin typeface="Prompt"/>
                <a:ea typeface="Prompt"/>
                <a:cs typeface="Prompt"/>
                <a:sym typeface="Prompt"/>
              </a:rPr>
              <a:t>ลด 30%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6781800" y="4295775"/>
            <a:ext cx="6858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Google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10477500" y="4295775"/>
            <a:ext cx="7429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E07A5F"/>
                </a:solidFill>
                <a:latin typeface="Prompt"/>
                <a:ea typeface="Prompt"/>
                <a:cs typeface="Prompt"/>
                <a:sym typeface="Prompt"/>
              </a:rPr>
              <a:t>ลด 20%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6781800" y="4876800"/>
            <a:ext cx="43815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LINE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9429750" y="4876800"/>
            <a:ext cx="1790700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52B788"/>
                </a:solidFill>
                <a:latin typeface="Prompt"/>
                <a:ea typeface="Prompt"/>
                <a:cs typeface="Prompt"/>
                <a:sym typeface="Prompt"/>
              </a:rPr>
              <a:t>เพิ่มงบทั้งหมดที่ย้ายมา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766417"/>
              </p:ext>
            </p:extLst>
          </p:nvPr>
        </p:nvGraphicFramePr>
        <p:xfrm>
          <a:off x="548640" y="1600200"/>
          <a:ext cx="6126480" cy="35661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ชุด</a:t>
                      </a:r>
                      <a:endParaRPr lang="en-US" sz="12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สินค้า</a:t>
                      </a:r>
                      <a:endParaRPr lang="en-US" sz="12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ปกติ</a:t>
                      </a:r>
                      <a:endParaRPr lang="en-US" sz="12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Bundle</a:t>
                      </a:r>
                      <a:endParaRPr lang="en-US" sz="12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ผัดกะเพรา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กะเพรา+ไข่ไก่+โหระพา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170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07A1F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153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สลัดโปรตีน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ผักสลัด+อะโวคาโด+ไข่ไก่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365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07A1F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329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ผลไม้ตอนเช้า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แอปเปิ้ล+กล้วยหอม+บลูเบอร์รี่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460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07A1F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414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สมุนไพรต้มยำ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ตะไคร้+ข่า+ใบมะกรูด+มะนาว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155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07A1F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140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นมและชีสเช้า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นมสด+โยเกิร์ต+มอสซาเรลลา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330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07A1F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297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4924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ลด 10% จากราคาแยก • ยอดต่อบิลเพิ่มทันทีราว 100–270 ฿ ถ้าลูกค้าเลือกซื้อ bundle</a:t>
            </a:r>
            <a:endParaRPr lang="en-US" sz="1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949440" y="1600200"/>
            <a:ext cx="466344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7223760" y="1783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B433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งบโฆษณา (รวมเท่าเดิม ~63,319 ฿/สัปดาห์)</a:t>
            </a:r>
            <a:endParaRPr lang="en-US" sz="14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22376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24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Facebook</a:t>
            </a:r>
            <a:endParaRPr lang="en-US" sz="15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8778240" y="2377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B23A48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−30%</a:t>
            </a:r>
            <a:endParaRPr lang="en-US" sz="15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7223760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24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Google</a:t>
            </a:r>
            <a:endParaRPr lang="en-US" sz="15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8778240" y="2834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B23A48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−20%</a:t>
            </a:r>
            <a:endParaRPr lang="en-US" sz="15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4" name="Text 9"/>
          <p:cNvSpPr txBox="1"/>
          <p:nvPr/>
        </p:nvSpPr>
        <p:spPr>
          <a:xfrm>
            <a:off x="7223760" y="3291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F2A24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LINE</a:t>
            </a:r>
            <a:endParaRPr lang="en-US" sz="15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877824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D6A4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+ รับงบที่ย้ายมา</a:t>
            </a:r>
            <a:endParaRPr lang="en-US" sz="15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7223760" y="39319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E07A1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96.2 → 105.7</a:t>
            </a:r>
            <a:endParaRPr lang="en-US" sz="34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7223760" y="466344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ลูกค้าใหม่/สัปดาห์ (+9.9%) รวม diminishing returns แล้ว (CAC LINE +40%) • แนะนำ pilot 4–6 สัปดาห์</a:t>
            </a:r>
            <a:endParaRPr lang="en-US" sz="1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8" name="Google Shape;250;p21">
            <a:extLst>
              <a:ext uri="{FF2B5EF4-FFF2-40B4-BE49-F238E27FC236}">
                <a16:creationId xmlns:a16="http://schemas.microsoft.com/office/drawing/2014/main" id="{B0DAEAD2-B60E-8039-1628-2209C6F987A7}"/>
              </a:ext>
            </a:extLst>
          </p:cNvPr>
          <p:cNvSpPr txBox="1"/>
          <p:nvPr/>
        </p:nvSpPr>
        <p:spPr>
          <a:xfrm>
            <a:off x="609600" y="6096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PHASE 3 • STRATEGY</a:t>
            </a:r>
            <a:endParaRPr/>
          </a:p>
        </p:txBody>
      </p:sp>
      <p:sp>
        <p:nvSpPr>
          <p:cNvPr id="19" name="Google Shape;251;p21">
            <a:extLst>
              <a:ext uri="{FF2B5EF4-FFF2-40B4-BE49-F238E27FC236}">
                <a16:creationId xmlns:a16="http://schemas.microsoft.com/office/drawing/2014/main" id="{B00F384D-1EC5-4DFB-3451-6328111E7A44}"/>
              </a:ext>
            </a:extLst>
          </p:cNvPr>
          <p:cNvSpPr txBox="1"/>
          <p:nvPr/>
        </p:nvSpPr>
        <p:spPr>
          <a:xfrm>
            <a:off x="609600" y="962025"/>
            <a:ext cx="11582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กลยุทธ์เพิ่มยอด: เซ็ตสินค้า และ โยกงบโฆษณา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5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2"/>
          <p:cNvSpPr/>
          <p:nvPr/>
        </p:nvSpPr>
        <p:spPr>
          <a:xfrm>
            <a:off x="609600" y="2519362"/>
            <a:ext cx="3511599" cy="33623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E6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4262485" y="2445305"/>
            <a:ext cx="3667176" cy="3510438"/>
          </a:xfrm>
          <a:prstGeom prst="rect">
            <a:avLst/>
          </a:prstGeom>
          <a:solidFill>
            <a:srgbClr val="1B3B2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8070949" y="2519362"/>
            <a:ext cx="3511599" cy="3362325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DCE6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1076325" y="4872037"/>
            <a:ext cx="2578149" cy="9525"/>
          </a:xfrm>
          <a:prstGeom prst="rect">
            <a:avLst/>
          </a:prstGeom>
          <a:solidFill>
            <a:srgbClr val="DCE6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4742545" y="4905613"/>
            <a:ext cx="2707057" cy="1000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8537674" y="4872037"/>
            <a:ext cx="2578149" cy="9525"/>
          </a:xfrm>
          <a:prstGeom prst="rect">
            <a:avLst/>
          </a:prstGeom>
          <a:solidFill>
            <a:srgbClr val="DCE6D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2"/>
          <p:cNvSpPr txBox="1"/>
          <p:nvPr/>
        </p:nvSpPr>
        <p:spPr>
          <a:xfrm>
            <a:off x="609600" y="6096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PHASE 4 • PRESCRIPTIVE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609600" y="962025"/>
            <a:ext cx="11582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ระบบกล่องสมาชิก</a:t>
            </a:r>
            <a:r>
              <a:rPr lang="en-US" sz="3000" b="1" i="0" u="none" strike="noStrike" cap="none" dirty="0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 3 </a:t>
            </a:r>
            <a:r>
              <a:rPr lang="en-US" sz="3000" b="1" i="0" u="none" strike="noStrike" cap="none" dirty="0" err="1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ระดับ</a:t>
            </a:r>
            <a:endParaRPr dirty="0"/>
          </a:p>
        </p:txBody>
      </p:sp>
      <p:sp>
        <p:nvSpPr>
          <p:cNvPr id="278" name="Google Shape;278;p22"/>
          <p:cNvSpPr txBox="1"/>
          <p:nvPr/>
        </p:nvSpPr>
        <p:spPr>
          <a:xfrm>
            <a:off x="673489" y="2986087"/>
            <a:ext cx="338382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Starter</a:t>
            </a:r>
            <a:endParaRPr/>
          </a:p>
        </p:txBody>
      </p:sp>
      <p:sp>
        <p:nvSpPr>
          <p:cNvPr id="279" name="Google Shape;279;p22"/>
          <p:cNvSpPr txBox="1"/>
          <p:nvPr/>
        </p:nvSpPr>
        <p:spPr>
          <a:xfrm>
            <a:off x="754056" y="3405187"/>
            <a:ext cx="32226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ลูกค้าใหม่ / Potential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754056" y="3833812"/>
            <a:ext cx="32226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6A4F"/>
                </a:solidFill>
                <a:latin typeface="Inter"/>
                <a:ea typeface="Inter"/>
                <a:cs typeface="Inter"/>
                <a:sym typeface="Inter"/>
              </a:rPr>
              <a:t>99 ฿</a:t>
            </a:r>
            <a:endParaRPr/>
          </a:p>
        </p:txBody>
      </p:sp>
      <p:sp>
        <p:nvSpPr>
          <p:cNvPr id="281" name="Google Shape;281;p22"/>
          <p:cNvSpPr txBox="1"/>
          <p:nvPr/>
        </p:nvSpPr>
        <p:spPr>
          <a:xfrm>
            <a:off x="754056" y="4367212"/>
            <a:ext cx="32226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ต่อสัปดาห์</a:t>
            </a:r>
            <a:endParaRPr/>
          </a:p>
        </p:txBody>
      </p:sp>
      <p:sp>
        <p:nvSpPr>
          <p:cNvPr id="282" name="Google Shape;282;p22"/>
          <p:cNvSpPr txBox="1"/>
          <p:nvPr/>
        </p:nvSpPr>
        <p:spPr>
          <a:xfrm>
            <a:off x="754056" y="5186362"/>
            <a:ext cx="32226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สินค้า 5 ชิ้นพื้นฐาน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4319568" y="2925365"/>
            <a:ext cx="3553012" cy="360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Family</a:t>
            </a:r>
            <a:endParaRPr/>
          </a:p>
        </p:txBody>
      </p:sp>
      <p:sp>
        <p:nvSpPr>
          <p:cNvPr id="284" name="Google Shape;284;p22"/>
          <p:cNvSpPr txBox="1"/>
          <p:nvPr/>
        </p:nvSpPr>
        <p:spPr>
          <a:xfrm>
            <a:off x="4404163" y="3365420"/>
            <a:ext cx="3383821" cy="210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7C4B5"/>
                </a:solidFill>
                <a:latin typeface="Prompt"/>
                <a:ea typeface="Prompt"/>
                <a:cs typeface="Prompt"/>
                <a:sym typeface="Prompt"/>
              </a:rPr>
              <a:t>กลุ่มลูกค้า Loyal (เป้าหมายหลัก)</a:t>
            </a:r>
            <a:endParaRPr/>
          </a:p>
        </p:txBody>
      </p:sp>
      <p:sp>
        <p:nvSpPr>
          <p:cNvPr id="285" name="Google Shape;285;p22"/>
          <p:cNvSpPr txBox="1"/>
          <p:nvPr/>
        </p:nvSpPr>
        <p:spPr>
          <a:xfrm>
            <a:off x="4404163" y="3815476"/>
            <a:ext cx="3383821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07A5F"/>
                </a:solidFill>
                <a:latin typeface="Inter"/>
                <a:ea typeface="Inter"/>
                <a:cs typeface="Inter"/>
                <a:sym typeface="Inter"/>
              </a:rPr>
              <a:t>299 ฿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4404163" y="4375546"/>
            <a:ext cx="3383821" cy="2100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A7C4B5"/>
                </a:solidFill>
                <a:latin typeface="Prompt"/>
                <a:ea typeface="Prompt"/>
                <a:cs typeface="Prompt"/>
                <a:sym typeface="Prompt"/>
              </a:rPr>
              <a:t>ต่อสัปดาห์</a:t>
            </a:r>
            <a:endParaRPr/>
          </a:p>
        </p:txBody>
      </p:sp>
      <p:sp>
        <p:nvSpPr>
          <p:cNvPr id="287" name="Google Shape;287;p22"/>
          <p:cNvSpPr txBox="1"/>
          <p:nvPr/>
        </p:nvSpPr>
        <p:spPr>
          <a:xfrm>
            <a:off x="4404163" y="5235654"/>
            <a:ext cx="3383821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สินค้า 12 ชิ้น</a:t>
            </a:r>
            <a:endParaRPr/>
          </a:p>
        </p:txBody>
      </p:sp>
      <p:sp>
        <p:nvSpPr>
          <p:cNvPr id="288" name="Google Shape;288;p22"/>
          <p:cNvSpPr txBox="1"/>
          <p:nvPr/>
        </p:nvSpPr>
        <p:spPr>
          <a:xfrm>
            <a:off x="8134838" y="2986087"/>
            <a:ext cx="3383821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Premium</a:t>
            </a:r>
            <a:endParaRPr/>
          </a:p>
        </p:txBody>
      </p:sp>
      <p:sp>
        <p:nvSpPr>
          <p:cNvPr id="289" name="Google Shape;289;p22"/>
          <p:cNvSpPr txBox="1"/>
          <p:nvPr/>
        </p:nvSpPr>
        <p:spPr>
          <a:xfrm>
            <a:off x="8215405" y="3405187"/>
            <a:ext cx="32226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กลุ่มลูกค้า Champions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8215405" y="3833812"/>
            <a:ext cx="322268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2D6A4F"/>
                </a:solidFill>
                <a:latin typeface="Inter"/>
                <a:ea typeface="Inter"/>
                <a:cs typeface="Inter"/>
                <a:sym typeface="Inter"/>
              </a:rPr>
              <a:t>599 ฿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8215405" y="4367212"/>
            <a:ext cx="3222687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A5568"/>
                </a:solidFill>
                <a:latin typeface="Prompt"/>
                <a:ea typeface="Prompt"/>
                <a:cs typeface="Prompt"/>
                <a:sym typeface="Prompt"/>
              </a:rPr>
              <a:t>ต่อสัปดาห์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8215405" y="5186362"/>
            <a:ext cx="3222687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สินค้า 18 ชิ้น + ของพิเศษ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2771948"/>
              </p:ext>
            </p:extLst>
          </p:nvPr>
        </p:nvGraphicFramePr>
        <p:xfrm>
          <a:off x="548640" y="1600200"/>
          <a:ext cx="6583680" cy="38404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กลุ่ม</a:t>
                      </a:r>
                      <a:endParaRPr lang="en-US" sz="12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แคมเปญ</a:t>
                      </a:r>
                      <a:endParaRPr lang="en-US" sz="12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ข้อเสนอ / ช่องทาง</a:t>
                      </a:r>
                      <a:endParaRPr lang="en-US" sz="12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Champions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VIP Priority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จองก่อนใคร + ของขวัญวันเกิด • LINE 1-on-1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Loyal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Referral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ชวนเพื่อน รับคูปองทั้งสองฝ่าย • LINE OA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Potential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Bundle promo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ส่วนลด bundle แรก + ส่งฟรี • Web / LINE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At-Risk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Winback 7 วัน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ลด 15–20% จำกัดเวลา • SMS / LINE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Lost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Big offer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A24"/>
                          </a:solidFill>
                          <a:latin typeface="Prompt" pitchFamily="2" charset="-34"/>
                          <a:ea typeface="Tahoma" pitchFamily="34" charset="-122"/>
                          <a:cs typeface="Prompt" pitchFamily="2" charset="-34"/>
                        </a:rPr>
                        <a:t>ลด 30% + ของทดลองชิม • Facebook</a:t>
                      </a:r>
                      <a:endParaRPr lang="en-US" sz="1100" dirty="0">
                        <a:latin typeface="Prompt" pitchFamily="2" charset="-34"/>
                        <a:ea typeface="Tahoma" charset="0"/>
                        <a:cs typeface="Prompt" pitchFamily="2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60020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6" name="Text 3"/>
          <p:cNvSpPr txBox="1"/>
          <p:nvPr/>
        </p:nvSpPr>
        <p:spPr>
          <a:xfrm>
            <a:off x="768096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Starter</a:t>
            </a:r>
            <a:endParaRPr lang="en-US" sz="16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326880" y="1783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07A1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99 ฿/สัปดาห์</a:t>
            </a:r>
            <a:endParaRPr lang="en-US" sz="15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680960" y="2331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5 รายการ • ลูกค้าใหม่ / Potential</a:t>
            </a:r>
            <a:endParaRPr lang="en-US" sz="1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7406640" y="292608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1B4332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7680960" y="3108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Family</a:t>
            </a:r>
            <a:endParaRPr lang="en-US" sz="16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9326880" y="31089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07A1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299 ฿/สัปดาห์</a:t>
            </a:r>
            <a:endParaRPr lang="en-US" sz="15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768096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8E9DC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12 รายการ • Loyal</a:t>
            </a:r>
            <a:endParaRPr lang="en-US" sz="1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4" name="Shape 10"/>
          <p:cNvSpPr/>
          <p:nvPr/>
        </p:nvSpPr>
        <p:spPr>
          <a:xfrm>
            <a:off x="7406640" y="425196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4" name="Text 11"/>
          <p:cNvSpPr txBox="1"/>
          <p:nvPr/>
        </p:nvSpPr>
        <p:spPr>
          <a:xfrm>
            <a:off x="768096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Premium</a:t>
            </a:r>
            <a:endParaRPr lang="en-US" sz="16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9326880" y="44348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07A1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599 ฿/สัปดาห์</a:t>
            </a:r>
            <a:endParaRPr lang="en-US" sz="15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7680960" y="49834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18 รายการ + ของพิเศษ • Champions</a:t>
            </a:r>
            <a:endParaRPr lang="en-US" sz="1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7" name="Text 14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กติกา: ข้ามรอบได้ • สลับสินค้า • ส่งฟรี • Uptake Family ~12% (~120 คน) เป็นสมมติฐาน ต้องทดสอบจริง</a:t>
            </a:r>
            <a:endParaRPr lang="en-US" sz="1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8" name="Google Shape;276;p22">
            <a:extLst>
              <a:ext uri="{FF2B5EF4-FFF2-40B4-BE49-F238E27FC236}">
                <a16:creationId xmlns:a16="http://schemas.microsoft.com/office/drawing/2014/main" id="{8E832EB8-3B52-1FD9-4913-43A9631535D3}"/>
              </a:ext>
            </a:extLst>
          </p:cNvPr>
          <p:cNvSpPr txBox="1"/>
          <p:nvPr/>
        </p:nvSpPr>
        <p:spPr>
          <a:xfrm>
            <a:off x="609600" y="6096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PHASE 4 • PRESCRIPTIVE</a:t>
            </a:r>
            <a:endParaRPr/>
          </a:p>
        </p:txBody>
      </p:sp>
      <p:sp>
        <p:nvSpPr>
          <p:cNvPr id="19" name="Google Shape;277;p22">
            <a:extLst>
              <a:ext uri="{FF2B5EF4-FFF2-40B4-BE49-F238E27FC236}">
                <a16:creationId xmlns:a16="http://schemas.microsoft.com/office/drawing/2014/main" id="{C593A271-1801-045B-813F-C8383D5B5939}"/>
              </a:ext>
            </a:extLst>
          </p:cNvPr>
          <p:cNvSpPr txBox="1"/>
          <p:nvPr/>
        </p:nvSpPr>
        <p:spPr>
          <a:xfrm>
            <a:off x="609600" y="962025"/>
            <a:ext cx="11582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 dirty="0" err="1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ระบบกล่องสมาชิก</a:t>
            </a:r>
            <a:r>
              <a:rPr lang="en-US" sz="3000" b="1" i="0" u="none" strike="noStrike" cap="none" dirty="0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 3 </a:t>
            </a:r>
            <a:r>
              <a:rPr lang="en-US" sz="3000" b="1" i="0" u="none" strike="noStrike" cap="none" dirty="0" err="1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ระดับ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3"/>
          <p:cNvSpPr txBox="1"/>
          <p:nvPr/>
        </p:nvSpPr>
        <p:spPr>
          <a:xfrm>
            <a:off x="609600" y="609600"/>
            <a:ext cx="110680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0F172A"/>
                </a:solidFill>
                <a:latin typeface="Prompt"/>
                <a:ea typeface="Prompt"/>
                <a:cs typeface="Prompt"/>
                <a:sym typeface="Prompt"/>
              </a:rPr>
              <a:t>PHASE 4 • PRESCRIPTIVE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609600" y="962025"/>
            <a:ext cx="115824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1B3B2B"/>
                </a:solidFill>
                <a:latin typeface="Prompt"/>
                <a:ea typeface="Prompt"/>
                <a:cs typeface="Prompt"/>
                <a:sym typeface="Prompt"/>
              </a:rPr>
              <a:t>ปรับโมเดลค่าจัดส่งตามโซนพื้นที่</a:t>
            </a:r>
            <a:endParaRPr/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6F702E33-A573-F469-4C2A-903F1C8A92DC}"/>
              </a:ext>
            </a:extLst>
          </p:cNvPr>
          <p:cNvSpPr/>
          <p:nvPr/>
        </p:nvSpPr>
        <p:spPr>
          <a:xfrm>
            <a:off x="548640" y="155448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45A67E3D-3EE4-EED9-EC2F-E02F60488797}"/>
              </a:ext>
            </a:extLst>
          </p:cNvPr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92A4341A-0612-3AA2-9A6F-92B9AB87D494}"/>
              </a:ext>
            </a:extLst>
          </p:cNvPr>
          <p:cNvSpPr txBox="1"/>
          <p:nvPr/>
        </p:nvSpPr>
        <p:spPr>
          <a:xfrm>
            <a:off x="822960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A</a:t>
            </a:r>
            <a:endParaRPr lang="en-US" sz="2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69094CB7-F93A-7E99-ECFB-1606CFCED1E9}"/>
              </a:ext>
            </a:extLst>
          </p:cNvPr>
          <p:cNvSpPr txBox="1"/>
          <p:nvPr/>
        </p:nvSpPr>
        <p:spPr>
          <a:xfrm>
            <a:off x="822960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ใกล้ • กำไรดี</a:t>
            </a:r>
            <a:endParaRPr lang="en-US" sz="15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4983F83C-DFD0-C30C-2969-DE81C1E48F94}"/>
              </a:ext>
            </a:extLst>
          </p:cNvPr>
          <p:cNvSpPr txBox="1"/>
          <p:nvPr/>
        </p:nvSpPr>
        <p:spPr>
          <a:xfrm>
            <a:off x="822960" y="3063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สาทร อโศก ทองหล่อ เอกมัย สามย่าน อารีย์</a:t>
            </a:r>
            <a:endParaRPr lang="en-US" sz="1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362C4340-0919-D192-60A8-204B19E0E19D}"/>
              </a:ext>
            </a:extLst>
          </p:cNvPr>
          <p:cNvSpPr txBox="1"/>
          <p:nvPr/>
        </p:nvSpPr>
        <p:spPr>
          <a:xfrm>
            <a:off x="822960" y="3886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คงราคาเดิม</a:t>
            </a:r>
            <a:endParaRPr lang="en-US" sz="13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EFB6F86-6F4D-197F-B858-BDE96E584890}"/>
              </a:ext>
            </a:extLst>
          </p:cNvPr>
          <p:cNvSpPr/>
          <p:nvPr/>
        </p:nvSpPr>
        <p:spPr>
          <a:xfrm>
            <a:off x="3355848" y="155448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4139872-484C-EA1D-6DBF-65CAB1DA4662}"/>
              </a:ext>
            </a:extLst>
          </p:cNvPr>
          <p:cNvSpPr/>
          <p:nvPr/>
        </p:nvSpPr>
        <p:spPr>
          <a:xfrm>
            <a:off x="3630168" y="1783080"/>
            <a:ext cx="640080" cy="640080"/>
          </a:xfrm>
          <a:prstGeom prst="ellipse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04FF05C5-BC96-E695-CF21-62A6C2E4FF0F}"/>
              </a:ext>
            </a:extLst>
          </p:cNvPr>
          <p:cNvSpPr txBox="1"/>
          <p:nvPr/>
        </p:nvSpPr>
        <p:spPr>
          <a:xfrm>
            <a:off x="3630168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B</a:t>
            </a:r>
            <a:endParaRPr lang="en-US" sz="2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44B58FEB-DA64-ACE7-7B81-C3F0D66327C4}"/>
              </a:ext>
            </a:extLst>
          </p:cNvPr>
          <p:cNvSpPr txBox="1"/>
          <p:nvPr/>
        </p:nvSpPr>
        <p:spPr>
          <a:xfrm>
            <a:off x="3630168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ปานกลาง</a:t>
            </a:r>
            <a:endParaRPr lang="en-US" sz="15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94D8C275-25C2-4946-B497-DF68A1E1BD48}"/>
              </a:ext>
            </a:extLst>
          </p:cNvPr>
          <p:cNvSpPr txBox="1"/>
          <p:nvPr/>
        </p:nvSpPr>
        <p:spPr>
          <a:xfrm>
            <a:off x="3630168" y="3063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บางนา ตากสิน</a:t>
            </a:r>
            <a:endParaRPr lang="en-US" sz="1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D0510C06-6A92-DA7C-E830-CE78A62E27EB}"/>
              </a:ext>
            </a:extLst>
          </p:cNvPr>
          <p:cNvSpPr txBox="1"/>
          <p:nvPr/>
        </p:nvSpPr>
        <p:spPr>
          <a:xfrm>
            <a:off x="3630168" y="3886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D6A4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เพิ่มค่าส่ง 30 ฿</a:t>
            </a:r>
            <a:endParaRPr lang="en-US" sz="13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8826944B-1A34-9642-CC22-156E16F0A653}"/>
              </a:ext>
            </a:extLst>
          </p:cNvPr>
          <p:cNvSpPr/>
          <p:nvPr/>
        </p:nvSpPr>
        <p:spPr>
          <a:xfrm>
            <a:off x="6163056" y="155448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5E0CFE05-90EC-6F5F-5113-D88212F1C729}"/>
              </a:ext>
            </a:extLst>
          </p:cNvPr>
          <p:cNvSpPr/>
          <p:nvPr/>
        </p:nvSpPr>
        <p:spPr>
          <a:xfrm>
            <a:off x="6437376" y="1783080"/>
            <a:ext cx="640080" cy="640080"/>
          </a:xfrm>
          <a:prstGeom prst="ellipse">
            <a:avLst/>
          </a:prstGeom>
          <a:solidFill>
            <a:srgbClr val="E07A1F"/>
          </a:solidFill>
          <a:ln/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2D086D2B-EE34-CC86-4B06-87FB12D050CC}"/>
              </a:ext>
            </a:extLst>
          </p:cNvPr>
          <p:cNvSpPr txBox="1"/>
          <p:nvPr/>
        </p:nvSpPr>
        <p:spPr>
          <a:xfrm>
            <a:off x="6437376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C</a:t>
            </a:r>
            <a:endParaRPr lang="en-US" sz="2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E411EC52-77A9-24B1-24EF-5A80F1420921}"/>
              </a:ext>
            </a:extLst>
          </p:cNvPr>
          <p:cNvSpPr txBox="1"/>
          <p:nvPr/>
        </p:nvSpPr>
        <p:spPr>
          <a:xfrm>
            <a:off x="6437376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ไกล • margin บาง</a:t>
            </a:r>
            <a:endParaRPr lang="en-US" sz="15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71BEDBA1-A923-7D2B-C634-04B5ECE66837}"/>
              </a:ext>
            </a:extLst>
          </p:cNvPr>
          <p:cNvSpPr txBox="1"/>
          <p:nvPr/>
        </p:nvSpPr>
        <p:spPr>
          <a:xfrm>
            <a:off x="6437376" y="3063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พระราม 9 รัชดา พหลโยธิน</a:t>
            </a:r>
            <a:endParaRPr lang="en-US" sz="1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C0A51194-317F-08C9-B10D-BA92757A3E0A}"/>
              </a:ext>
            </a:extLst>
          </p:cNvPr>
          <p:cNvSpPr txBox="1"/>
          <p:nvPr/>
        </p:nvSpPr>
        <p:spPr>
          <a:xfrm>
            <a:off x="6437376" y="3886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07A1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ค่าส่ง 60 ฿ หรือขั้นต่ำ 500 ฿</a:t>
            </a:r>
            <a:endParaRPr lang="en-US" sz="13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C7489346-ACB0-2573-7BC2-0A8FE22ADDE2}"/>
              </a:ext>
            </a:extLst>
          </p:cNvPr>
          <p:cNvSpPr/>
          <p:nvPr/>
        </p:nvSpPr>
        <p:spPr>
          <a:xfrm>
            <a:off x="8970264" y="155448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08E4C94F-CA71-51DF-0FEC-C662B407D37F}"/>
              </a:ext>
            </a:extLst>
          </p:cNvPr>
          <p:cNvSpPr/>
          <p:nvPr/>
        </p:nvSpPr>
        <p:spPr>
          <a:xfrm>
            <a:off x="9244584" y="1783080"/>
            <a:ext cx="640080" cy="640080"/>
          </a:xfrm>
          <a:prstGeom prst="ellipse">
            <a:avLst/>
          </a:prstGeom>
          <a:solidFill>
            <a:srgbClr val="B23A48"/>
          </a:solidFill>
          <a:ln/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8DE06B64-4948-BCF8-9B23-F56AC8F63930}"/>
              </a:ext>
            </a:extLst>
          </p:cNvPr>
          <p:cNvSpPr txBox="1"/>
          <p:nvPr/>
        </p:nvSpPr>
        <p:spPr>
          <a:xfrm>
            <a:off x="9244584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D</a:t>
            </a:r>
            <a:endParaRPr lang="en-US" sz="2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2758AD3C-39F8-7EE6-4EB2-DB234F7524A7}"/>
              </a:ext>
            </a:extLst>
          </p:cNvPr>
          <p:cNvSpPr txBox="1"/>
          <p:nvPr/>
        </p:nvSpPr>
        <p:spPr>
          <a:xfrm>
            <a:off x="9244584" y="2606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433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ขาดทุน</a:t>
            </a:r>
            <a:endParaRPr lang="en-US" sz="15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0C243923-AA08-E293-71BC-4DBC0F0A0373}"/>
              </a:ext>
            </a:extLst>
          </p:cNvPr>
          <p:cNvSpPr txBox="1"/>
          <p:nvPr/>
        </p:nvSpPr>
        <p:spPr>
          <a:xfrm>
            <a:off x="9244584" y="30632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2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ลาดพร้าว</a:t>
            </a:r>
            <a:endParaRPr lang="en-US" sz="12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5" name="Text 25">
            <a:extLst>
              <a:ext uri="{FF2B5EF4-FFF2-40B4-BE49-F238E27FC236}">
                <a16:creationId xmlns:a16="http://schemas.microsoft.com/office/drawing/2014/main" id="{3EAFC0BB-C338-EA29-7065-2AA85B1E83F0}"/>
              </a:ext>
            </a:extLst>
          </p:cNvPr>
          <p:cNvSpPr txBox="1"/>
          <p:nvPr/>
        </p:nvSpPr>
        <p:spPr>
          <a:xfrm>
            <a:off x="9244584" y="38862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23A48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ขั้นต่ำสูงขึ้น + จัดรอบส่งรวม (ไม่ตัดทิ้งทันที)</a:t>
            </a:r>
            <a:endParaRPr lang="en-US" sz="13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6" name="Shape 26">
            <a:extLst>
              <a:ext uri="{FF2B5EF4-FFF2-40B4-BE49-F238E27FC236}">
                <a16:creationId xmlns:a16="http://schemas.microsoft.com/office/drawing/2014/main" id="{6E4C2213-72C7-7F7C-1309-F15C6E3C2102}"/>
              </a:ext>
            </a:extLst>
          </p:cNvPr>
          <p:cNvSpPr/>
          <p:nvPr/>
        </p:nvSpPr>
        <p:spPr>
          <a:xfrm>
            <a:off x="548640" y="4937760"/>
            <a:ext cx="11064240" cy="1280160"/>
          </a:xfrm>
          <a:prstGeom prst="roundRect">
            <a:avLst>
              <a:gd name="adj" fmla="val 8571"/>
            </a:avLst>
          </a:prstGeom>
          <a:solidFill>
            <a:srgbClr val="1B4332"/>
          </a:solidFill>
          <a:ln w="12700">
            <a:solidFill>
              <a:srgbClr val="DCE6DE"/>
            </a:solidFill>
            <a:prstDash val="solid"/>
          </a:ln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TH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7" name="Text 27">
            <a:extLst>
              <a:ext uri="{FF2B5EF4-FFF2-40B4-BE49-F238E27FC236}">
                <a16:creationId xmlns:a16="http://schemas.microsoft.com/office/drawing/2014/main" id="{DBE4099D-EDEC-CC7A-E1A5-DB0161C516A3}"/>
              </a:ext>
            </a:extLst>
          </p:cNvPr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แผน Q3: 8 แคมเปญ • งบ 113,000 ฿</a:t>
            </a:r>
            <a:endParaRPr lang="en-US" sz="2000" dirty="0">
              <a:latin typeface="Prompt" pitchFamily="2" charset="-34"/>
              <a:cs typeface="Prompt" pitchFamily="2" charset="-34"/>
            </a:endParaRPr>
          </a:p>
        </p:txBody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A5C6FB40-5E0E-C128-D1D2-11F5F24F3727}"/>
              </a:ext>
            </a:extLst>
          </p:cNvPr>
          <p:cNvSpPr txBox="1"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D8E9DC"/>
                </a:solidFill>
                <a:latin typeface="Prompt" pitchFamily="2" charset="-34"/>
                <a:ea typeface="Tahoma" pitchFamily="34" charset="-122"/>
                <a:cs typeface="Prompt" pitchFamily="2" charset="-34"/>
              </a:rPr>
              <a:t>ก.ค. เปิด bundle → ส.ค. เปิด subscription → ก.ย. กระตุ้นยอดปิดไตรมาส • ค่าส่งที่เพิ่มคาดหลักหมื่นบาท/6 เดือน (ยังไม่รวม volume ที่อาจลด)</a:t>
            </a:r>
            <a:endParaRPr lang="en-US" sz="1200" dirty="0">
              <a:latin typeface="Prompt" pitchFamily="2" charset="-34"/>
              <a:cs typeface="Prompt" pitchFamily="2" charset="-3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B2B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4"/>
          <p:cNvSpPr/>
          <p:nvPr/>
        </p:nvSpPr>
        <p:spPr>
          <a:xfrm>
            <a:off x="609600" y="2890837"/>
            <a:ext cx="3454449" cy="2371725"/>
          </a:xfrm>
          <a:prstGeom prst="roundRect">
            <a:avLst>
              <a:gd name="adj" fmla="val 3212"/>
            </a:avLst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4368849" y="2890837"/>
            <a:ext cx="3454449" cy="2371725"/>
          </a:xfrm>
          <a:prstGeom prst="roundRect">
            <a:avLst>
              <a:gd name="adj" fmla="val 3212"/>
            </a:avLst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8128099" y="2890837"/>
            <a:ext cx="3454449" cy="2371725"/>
          </a:xfrm>
          <a:prstGeom prst="roundRect">
            <a:avLst>
              <a:gd name="adj" fmla="val 3212"/>
            </a:avLst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6" name="Google Shape;326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3890962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90600" y="4500562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49849" y="3890962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49849" y="4500562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99" y="3890962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9099" y="4500562"/>
            <a:ext cx="76200" cy="76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24"/>
          <p:cNvSpPr txBox="1"/>
          <p:nvPr/>
        </p:nvSpPr>
        <p:spPr>
          <a:xfrm>
            <a:off x="-381000" y="1595437"/>
            <a:ext cx="12954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สรุปและการดำเนินงานขั้นต่อไป</a:t>
            </a:r>
            <a:endParaRPr/>
          </a:p>
        </p:txBody>
      </p:sp>
      <p:sp>
        <p:nvSpPr>
          <p:cNvPr id="333" name="Google Shape;333;p24"/>
          <p:cNvSpPr txBox="1"/>
          <p:nvPr/>
        </p:nvSpPr>
        <p:spPr>
          <a:xfrm>
            <a:off x="990600" y="3271837"/>
            <a:ext cx="292708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rompt"/>
                <a:ea typeface="Prompt"/>
                <a:cs typeface="Prompt"/>
                <a:sym typeface="Prompt"/>
              </a:rPr>
              <a:t>1. ประเมินเป้าหมาย</a:t>
            </a:r>
            <a:endParaRPr/>
          </a:p>
        </p:txBody>
      </p:sp>
      <p:sp>
        <p:nvSpPr>
          <p:cNvPr id="334" name="Google Shape;334;p24"/>
          <p:cNvSpPr txBox="1"/>
          <p:nvPr/>
        </p:nvSpPr>
        <p:spPr>
          <a:xfrm>
            <a:off x="4749849" y="3271837"/>
            <a:ext cx="292708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rompt"/>
                <a:ea typeface="Prompt"/>
                <a:cs typeface="Prompt"/>
                <a:sym typeface="Prompt"/>
              </a:rPr>
              <a:t>2. สิ่งที่ต้องทำทันที</a:t>
            </a:r>
            <a:endParaRPr/>
          </a:p>
        </p:txBody>
      </p:sp>
      <p:sp>
        <p:nvSpPr>
          <p:cNvPr id="335" name="Google Shape;335;p24"/>
          <p:cNvSpPr txBox="1"/>
          <p:nvPr/>
        </p:nvSpPr>
        <p:spPr>
          <a:xfrm>
            <a:off x="8509099" y="3271837"/>
            <a:ext cx="2927084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rompt"/>
                <a:ea typeface="Prompt"/>
                <a:cs typeface="Prompt"/>
                <a:sym typeface="Prompt"/>
              </a:rPr>
              <a:t>3. ข้อจำกัดของข้อมูล</a:t>
            </a:r>
            <a:endParaRPr/>
          </a:p>
        </p:txBody>
      </p:sp>
      <p:sp>
        <p:nvSpPr>
          <p:cNvPr id="336" name="Google Shape;336;p24"/>
          <p:cNvSpPr txBox="1"/>
          <p:nvPr/>
        </p:nvSpPr>
        <p:spPr>
          <a:xfrm>
            <a:off x="1181100" y="3814762"/>
            <a:ext cx="25971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เป้าหมายยอดต่อบิล +25% ทำได้จริงผ่านระบบเซ็ตสินค้า</a:t>
            </a:r>
            <a:endParaRPr sz="3200"/>
          </a:p>
        </p:txBody>
      </p:sp>
      <p:sp>
        <p:nvSpPr>
          <p:cNvPr id="337" name="Google Shape;337;p24"/>
          <p:cNvSpPr txBox="1"/>
          <p:nvPr/>
        </p:nvSpPr>
        <p:spPr>
          <a:xfrm>
            <a:off x="1181100" y="4424362"/>
            <a:ext cx="25971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การซื้อซ้ำจริงอยู่ที่ 78.1% ทะลุเป้าหมายไปแล้ว</a:t>
            </a:r>
            <a:endParaRPr sz="3200"/>
          </a:p>
        </p:txBody>
      </p:sp>
      <p:sp>
        <p:nvSpPr>
          <p:cNvPr id="338" name="Google Shape;338;p24"/>
          <p:cNvSpPr txBox="1"/>
          <p:nvPr/>
        </p:nvSpPr>
        <p:spPr>
          <a:xfrm>
            <a:off x="4940349" y="3814762"/>
            <a:ext cx="25971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 dirty="0" err="1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ทดลองย้ายงบโฆษณาไป</a:t>
            </a:r>
            <a:r>
              <a:rPr lang="en-US" sz="1100" b="1" i="0" u="none" strike="noStrike" cap="none" dirty="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 LINE </a:t>
            </a:r>
            <a:br>
              <a:rPr lang="en-US" sz="1100" b="1" i="0" u="none" strike="noStrike" cap="none" dirty="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</a:br>
            <a:r>
              <a:rPr lang="en-US" sz="1100" b="1" i="0" u="none" strike="noStrike" cap="none" dirty="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(</a:t>
            </a:r>
            <a:r>
              <a:rPr lang="en-US" sz="1100" b="1" i="0" u="none" strike="noStrike" cap="none" dirty="0" err="1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ระยะเวลา</a:t>
            </a:r>
            <a:r>
              <a:rPr lang="en-US" sz="1100" b="1" i="0" u="none" strike="noStrike" cap="none" dirty="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 4–6 </a:t>
            </a:r>
            <a:r>
              <a:rPr lang="en-US" sz="1100" b="1" i="0" u="none" strike="noStrike" cap="none" dirty="0" err="1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สัปดาห์</a:t>
            </a:r>
            <a:r>
              <a:rPr lang="en-US" sz="1100" b="1" i="0" u="none" strike="noStrike" cap="none" dirty="0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)</a:t>
            </a:r>
            <a:endParaRPr sz="3200" dirty="0"/>
          </a:p>
        </p:txBody>
      </p:sp>
      <p:sp>
        <p:nvSpPr>
          <p:cNvPr id="339" name="Google Shape;339;p24"/>
          <p:cNvSpPr txBox="1"/>
          <p:nvPr/>
        </p:nvSpPr>
        <p:spPr>
          <a:xfrm>
            <a:off x="4940349" y="4424362"/>
            <a:ext cx="25971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เปิดตัวเซ็ตสินค้าและทดสอบปรับค่าจัดส่งแยกโซน</a:t>
            </a:r>
            <a:endParaRPr sz="3200"/>
          </a:p>
        </p:txBody>
      </p:sp>
      <p:sp>
        <p:nvSpPr>
          <p:cNvPr id="340" name="Google Shape;340;p24"/>
          <p:cNvSpPr txBox="1"/>
          <p:nvPr/>
        </p:nvSpPr>
        <p:spPr>
          <a:xfrm>
            <a:off x="8699599" y="3814762"/>
            <a:ext cx="25971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ต้นทุนสินค้าอ้างอิงจากตัวเลขสมมติฐานที่ 55%</a:t>
            </a:r>
            <a:endParaRPr sz="3200"/>
          </a:p>
        </p:txBody>
      </p:sp>
      <p:sp>
        <p:nvSpPr>
          <p:cNvPr id="341" name="Google Shape;341;p24"/>
          <p:cNvSpPr txBox="1"/>
          <p:nvPr/>
        </p:nvSpPr>
        <p:spPr>
          <a:xfrm>
            <a:off x="8699599" y="4424362"/>
            <a:ext cx="25971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Prompt"/>
                <a:ea typeface="Prompt"/>
                <a:cs typeface="Prompt"/>
                <a:sym typeface="Prompt"/>
              </a:rPr>
              <a:t>ผลประเมินช่องทางโฆษณาใช้การจับคู่รายได้แบบประมาณการ</a:t>
            </a:r>
            <a:endParaRPr sz="3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C8C4A"/>
                </a:solidFill>
              </a:defRPr>
            </a:pPr>
            <a:r>
              <a:t>PHASE 3 • PREDICTIVE</a:t>
            </a:r>
          </a:p>
          <a:p>
            <a:pPr>
              <a:defRPr sz="2200" b="1">
                <a:solidFill>
                  <a:srgbClr val="212529"/>
                </a:solidFill>
              </a:defRPr>
            </a:pPr>
            <a:r>
              <a:t>BCG Matrix: จัดพอร์ตสินค้าเกษตร 25 SKUs</a:t>
            </a:r>
          </a:p>
          <a:p>
            <a:pPr>
              <a:defRPr sz="1200">
                <a:solidFill>
                  <a:srgbClr val="6C757D"/>
                </a:solidFill>
              </a:defRPr>
            </a:pPr>
            <a:r>
              <a:t>เกณฑ์จัดกลุ่ม: Growth &gt; 250% (สูง) | Market Share &gt; 7.0% (สูง) [อ้างอิง P3_BCG]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200" b="1">
                <a:solidFill>
                  <a:srgbClr val="E65100"/>
                </a:solidFill>
              </a:defRPr>
            </a:pPr>
            <a:r>
              <a:t>STAR (ดาวรุ่ง)  (Growth &gt; 250% | Share &gt; 7%)</a:t>
            </a:r>
          </a:p>
          <a:p>
            <a:pPr>
              <a:defRPr sz="1000" b="1">
                <a:solidFill>
                  <a:srgbClr val="212529"/>
                </a:solidFill>
              </a:defRPr>
            </a:pPr>
            <a:r>
              <a:t>สินค้าเด่น: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P020 ชีสมอสซาเรลลา 200g (+285.4%, 9.9%)</a:t>
            </a:r>
            <a:br/>
            <a:r>
              <a:t>P014 อะโวคาโด 2 ลูก (+271.9%, 7.6%)</a:t>
            </a:r>
          </a:p>
          <a:p>
            <a:pPr>
              <a:defRPr sz="950">
                <a:solidFill>
                  <a:srgbClr val="6C757D"/>
                </a:solidFill>
              </a:defRPr>
            </a:pPr>
            <a:r>
              <a:t>กลยุทธ์:</a:t>
            </a:r>
            <a:br/>
            <a:r>
              <a:t>• ลงทุนขยายสต็อก 35% ป้องกันของขาด</a:t>
            </a:r>
            <a:br/>
            <a:r>
              <a:t>• ขยายงบยิงแอดกลุ่มรักสุขภาพ &amp; Home Cook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200" b="1">
                <a:solidFill>
                  <a:srgbClr val="2E7D32"/>
                </a:solidFill>
              </a:defRPr>
            </a:pPr>
            <a:r>
              <a:t>CASH COW (วัวเงิน)  (Growth ≤ 250% | Share &gt; 7%)</a:t>
            </a:r>
          </a:p>
          <a:p>
            <a:pPr>
              <a:defRPr sz="1000" b="1">
                <a:solidFill>
                  <a:srgbClr val="212529"/>
                </a:solidFill>
              </a:defRPr>
            </a:pPr>
            <a:r>
              <a:t>สินค้าเด่น: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P015 บลูเบอร์รี 200g (+224.2%, 11.6%)</a:t>
            </a:r>
            <a:br/>
            <a:r>
              <a:t>P011 แอปเปิ้ล Fuji 1kg (+244.6%, 8.1%)</a:t>
            </a:r>
          </a:p>
          <a:p>
            <a:pPr>
              <a:defRPr sz="950">
                <a:solidFill>
                  <a:srgbClr val="6C757D"/>
                </a:solidFill>
              </a:defRPr>
            </a:pPr>
            <a:r>
              <a:t>กลยุทธ์:</a:t>
            </a:r>
            <a:br/>
            <a:r>
              <a:t>• เสาหลักเงินสด (ครอง 19.7% ยอดขาย)</a:t>
            </a:r>
            <a:br/>
            <a:r>
              <a:t>• เจรจาเหมาสวนคุมต้นทุน + ออก Family Pack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200" b="1">
                <a:solidFill>
                  <a:srgbClr val="0277BD"/>
                </a:solidFill>
              </a:defRPr>
            </a:pPr>
            <a:r>
              <a:t>QUESTION MARK (คำถาม)  (Growth &gt; 250% | Share ≤ 7%)</a:t>
            </a:r>
          </a:p>
          <a:p>
            <a:pPr>
              <a:defRPr sz="1000" b="1">
                <a:solidFill>
                  <a:srgbClr val="212529"/>
                </a:solidFill>
              </a:defRPr>
            </a:pPr>
            <a:r>
              <a:t>สินค้าเด่น: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12 รายการเด่น: โยเกิร์ตกรีก (+306.8%), กะเพรา (+345.6%), ผักกาดขาว, ผักสลัด (+270.9%)</a:t>
            </a:r>
          </a:p>
          <a:p>
            <a:pPr>
              <a:defRPr sz="950">
                <a:solidFill>
                  <a:srgbClr val="6C757D"/>
                </a:solidFill>
              </a:defRPr>
            </a:pPr>
            <a:r>
              <a:t>กลยุทธ์:</a:t>
            </a:r>
            <a:br/>
            <a:r>
              <a:t>• สินค้าโตแรงมากแต่คนยังเห็นน้อย</a:t>
            </a:r>
            <a:br/>
            <a:r>
              <a:t>• ดันขึ้นแบนเนอร์หน้าแรก + จับคู่ Bundle ผัดกะเพรา/สลัด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21208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/>
          <a:lstStyle/>
          <a:p>
            <a:pPr algn="ctr">
              <a:defRPr sz="1200" b="1">
                <a:solidFill>
                  <a:srgbClr val="C62828"/>
                </a:solidFill>
              </a:defRPr>
            </a:pPr>
            <a:r>
              <a:t>DOG (หมา)  (Growth ≤ 250% | Share ≤ 7%)</a:t>
            </a:r>
          </a:p>
          <a:p>
            <a:pPr>
              <a:defRPr sz="1000" b="1">
                <a:solidFill>
                  <a:srgbClr val="212529"/>
                </a:solidFill>
              </a:defRPr>
            </a:pPr>
            <a:r>
              <a:t>สินค้าเด่น: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9 รายการ: ไข่ไก่ (+246.1%), แครอท (+190.0%), มะเขือเทศ, บรอกโคลี, นมสด, กล้วยหอม, ขิง, ใบมะกรูด</a:t>
            </a:r>
          </a:p>
          <a:p>
            <a:pPr>
              <a:defRPr sz="950">
                <a:solidFill>
                  <a:srgbClr val="6C757D"/>
                </a:solidFill>
              </a:defRPr>
            </a:pPr>
            <a:r>
              <a:t>กลยุทธ์:</a:t>
            </a:r>
            <a:br/>
            <a:r>
              <a:t>• โตช้าแชร์ต่ำ เสี่ยงของสดเน่าเสีย</a:t>
            </a:r>
            <a:br/>
            <a:r>
              <a:t>• ยุบขายเดี่ยว รวมเข้าเซ็ตต้มยำ/ผักสวนครัว หรือ Pre-order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C8C4A"/>
                </a:solidFill>
              </a:defRPr>
            </a:pPr>
            <a:r>
              <a:t>PHASE 4 • PRESCRIPTIVE</a:t>
            </a:r>
          </a:p>
          <a:p>
            <a:pPr>
              <a:defRPr sz="2200" b="1">
                <a:solidFill>
                  <a:srgbClr val="212529"/>
                </a:solidFill>
              </a:defRPr>
            </a:pPr>
            <a:r>
              <a:t>RFM Action Plan: แผนปฏิบัติการ 4 กลุ่มลูกค้า</a:t>
            </a:r>
          </a:p>
          <a:p>
            <a:pPr>
              <a:defRPr sz="1200">
                <a:solidFill>
                  <a:srgbClr val="6C757D"/>
                </a:solidFill>
              </a:defRPr>
            </a:pPr>
            <a:r>
              <a:t>Framework 4 ขั้น: Insight → Meaning → Action → Expected Result [อ้างอิง P3_Action_Plans]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146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C8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1100" b="1">
                <a:solidFill>
                  <a:srgbClr val="4C8C4A"/>
                </a:solidFill>
              </a:defRPr>
            </a:pPr>
            <a:r>
              <a:t>Champion (ลูกค้าชั้นยอด)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t>Plan 1: VIP Early Access</a:t>
            </a:r>
            <a:br/>
            <a:r>
              <a:t>• Insight: ซื้อ 5.9 ครั้ง ยอด 847 ฿ ล่าสุด 16 วัน</a:t>
            </a:r>
            <a:br/>
            <a:r>
              <a:t>• Action: สิทธิ์จองผลผลิตเกรดพิเศษล่วงหน้า</a:t>
            </a:r>
            <a:br/>
            <a:r>
              <a:t>• Result: Retention +15-20%, บอกต่อ</a:t>
            </a:r>
          </a:p>
          <a:p>
            <a:pPr>
              <a:defRPr sz="700">
                <a:solidFill>
                  <a:srgbClr val="DCE0E6"/>
                </a:solidFill>
              </a:defRPr>
            </a:pPr>
            <a:r>
              <a:t>------------------------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t>Plan 2: Subscription Box</a:t>
            </a:r>
            <a:br/>
            <a:r>
              <a:t>• Insight: ซื้อสม่ำเสมอทุก 2-3 สัปดาห์</a:t>
            </a:r>
            <a:br/>
            <a:r>
              <a:t>• Action: สมัครส่งผักผลไม้สดรายเดือน ส่งฟรี</a:t>
            </a:r>
            <a:br/>
            <a:r>
              <a:t>• Result: CLV +25% สร้าง Predictable Cash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146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1100" b="1">
                <a:solidFill>
                  <a:srgbClr val="388E3C"/>
                </a:solidFill>
              </a:defRPr>
            </a:pPr>
            <a:r>
              <a:t>Loyal (ลูกค้าประจำ)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t>Plan 1: Re-order Reminder</a:t>
            </a:r>
            <a:br/>
            <a:r>
              <a:t>• Insight: ซื้อ 4.8 ครั้ง ยอด 590 ฿ ห่างไป 61 วัน</a:t>
            </a:r>
            <a:br/>
            <a:r>
              <a:t>• Action: LINE OA เตือนเติมของสดพร้อมส่งฟรี</a:t>
            </a:r>
            <a:br/>
            <a:r>
              <a:t>• Result: ดึงกลับมาซื้อซ้ำใน 14 วัน +30%</a:t>
            </a:r>
          </a:p>
          <a:p>
            <a:pPr>
              <a:defRPr sz="700">
                <a:solidFill>
                  <a:srgbClr val="DCE0E6"/>
                </a:solidFill>
              </a:defRPr>
            </a:pPr>
            <a:r>
              <a:t>------------------------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t>Plan 2: Upsell สู่ Champion</a:t>
            </a:r>
            <a:br/>
            <a:r>
              <a:t>• Insight: ยอดต่อบิลยังต่ำกว่า Champion</a:t>
            </a:r>
            <a:br/>
            <a:r>
              <a:t>• Action: สั่งครบ 400 ฿ รับฟรีผลไม้ตามฤดูกาล</a:t>
            </a:r>
            <a:br/>
            <a:r>
              <a:t>• Result: AOV เพิ่มขึ้น 20%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146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1100" b="1">
                <a:solidFill>
                  <a:srgbClr val="1976D2"/>
                </a:solidFill>
              </a:defRPr>
            </a:pPr>
            <a:r>
              <a:t>Growing (ลูกค้ากำลังเติบโต)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t>Plan 1: Second-Order Voucher</a:t>
            </a:r>
            <a:br/>
            <a:r>
              <a:t>• Insight: ซื้อล่าสุด 20 วัน ความถี่ 2.2 ยอด 291 ฿</a:t>
            </a:r>
            <a:br/>
            <a:r>
              <a:t>• Action: ส่งคูปองลด 50 ฿ สั่งรอบ 2 ใน 15 วัน</a:t>
            </a:r>
            <a:br/>
            <a:r>
              <a:t>• Result: Conversion ซื้อรอบ 2 โต 20% → 40%</a:t>
            </a:r>
          </a:p>
          <a:p>
            <a:pPr>
              <a:defRPr sz="700">
                <a:solidFill>
                  <a:srgbClr val="DCE0E6"/>
                </a:solidFill>
              </a:defRPr>
            </a:pPr>
            <a:r>
              <a:t>------------------------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t>Plan 2: ถนอมอาหาร &amp; เมนู</a:t>
            </a:r>
            <a:br/>
            <a:r>
              <a:t>• Insight: เพิ่งเริ่มซื้อผักผลไม้ออร์แกนิก</a:t>
            </a:r>
            <a:br/>
            <a:r>
              <a:t>• Action: บรอดแคสต์วิธีเก็บผักสด &amp; เมนูคลีน</a:t>
            </a:r>
            <a:br/>
            <a:r>
              <a:t>• Result: เพิ่ม Engagement รอบบริโภคถี่ขึ้น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146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1100" b="1">
                <a:solidFill>
                  <a:srgbClr val="D32F2F"/>
                </a:solidFill>
              </a:defRPr>
            </a:pPr>
            <a:r>
              <a:t>At-Risk (ลูกค้าเสี่ยงหาย)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t>Plan 1: Win-Back Campaign</a:t>
            </a:r>
            <a:br/>
            <a:r>
              <a:t>• Insight: ไม่ซื้อเฉลี่ย 82 วัน ยอดต่ำ 237 ฿</a:t>
            </a:r>
            <a:br/>
            <a:r>
              <a:t>• Action: SMS/LINE แจกโค้ดลด 15% ส่งฟรีใน 7 วัน</a:t>
            </a:r>
            <a:br/>
            <a:r>
              <a:t>• Result: ดึงลูกค้าเก่ากลับมาซื้อ 10-15%</a:t>
            </a:r>
          </a:p>
          <a:p>
            <a:pPr>
              <a:defRPr sz="700">
                <a:solidFill>
                  <a:srgbClr val="DCE0E6"/>
                </a:solidFill>
              </a:defRPr>
            </a:pPr>
            <a:r>
              <a:t>------------------------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t>Plan 2: Feedback Survey</a:t>
            </a:r>
            <a:br/>
            <a:r>
              <a:t>• Insight: ซื้อ 1-2 ครั้งแล้วหยุดสั่งซื้อ</a:t>
            </a:r>
            <a:br/>
            <a:r>
              <a:t>• Action: แบบสอบถาม 3 ข้อสั้นๆ แลกคูปองส่วนลด</a:t>
            </a:r>
            <a:br/>
            <a:r>
              <a:t>• Result: ได้ข้อเท็จจริงปรับปรุงบริการ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C8C4A"/>
                </a:solidFill>
              </a:defRPr>
            </a:pPr>
            <a:r>
              <a:t>PHASE 4 • PRESCRIPTIVE</a:t>
            </a:r>
          </a:p>
          <a:p>
            <a:pPr>
              <a:defRPr sz="2200" b="1">
                <a:solidFill>
                  <a:srgbClr val="212529"/>
                </a:solidFill>
              </a:defRPr>
            </a:pPr>
            <a:r>
              <a:t>BCG Action Plan: แผนบริหาร 4 พอร์ตสินค้า</a:t>
            </a:r>
          </a:p>
          <a:p>
            <a:pPr>
              <a:defRPr sz="1200">
                <a:solidFill>
                  <a:srgbClr val="6C757D"/>
                </a:solidFill>
              </a:defRPr>
            </a:pPr>
            <a:r>
              <a:t>Framework 4 ขั้น: Insight → Meaning → Action → Expected Result [อ้างอิง P3_Action_Plans]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146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1100" b="1">
                <a:solidFill>
                  <a:srgbClr val="E65100"/>
                </a:solidFill>
              </a:defRPr>
            </a:pPr>
            <a:r>
              <a:t>Star (ดาวรุ่ง)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t>Plan 1: Scale &amp; Promote</a:t>
            </a:r>
            <a:br/>
            <a:r>
              <a:t>• Insight: โต +278% แชร์ 8.7% (ชีส, อะโวคาโด)</a:t>
            </a:r>
            <a:br/>
            <a:r>
              <a:t>• Action: เพิ่มสต็อก 35% + ยิงแอด TikTok/Meta</a:t>
            </a:r>
            <a:br/>
            <a:r>
              <a:t>• Result: ยอดขายไตรมาสถัดไป +25%</a:t>
            </a:r>
          </a:p>
          <a:p>
            <a:pPr>
              <a:defRPr sz="700">
                <a:solidFill>
                  <a:srgbClr val="DCE0E6"/>
                </a:solidFill>
              </a:defRPr>
            </a:pPr>
            <a:r>
              <a:t>------------------------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t>Plan 2: Cross-selling พ่วงสินค้าอื่น</a:t>
            </a:r>
            <a:br/>
            <a:r>
              <a:t>• Insight: เป็นสินค้าดึง Traffic แรกของร้าน</a:t>
            </a:r>
            <a:br/>
            <a:r>
              <a:t>• Action: ซื้อชีส/อะโวคาโด แลกซื้อผักสลัดลด 50%</a:t>
            </a:r>
            <a:br/>
            <a:r>
              <a:t>• Result: เพิ่มยอดต่อบิล (Basket Size) +18%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146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1100" b="1">
                <a:solidFill>
                  <a:srgbClr val="2E7D32"/>
                </a:solidFill>
              </a:defRPr>
            </a:pPr>
            <a:r>
              <a:t>Cash Cow (วัวเงิน)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t>Plan 1: Maximize Margin</a:t>
            </a:r>
            <a:br/>
            <a:r>
              <a:t>• Insight: ครอง 19.7% ยอดขาย โตคงที่ 234%</a:t>
            </a:r>
            <a:br/>
            <a:r>
              <a:t>• Action: ซื้อเหมาล็อตใหญ่ขอลดต้นทุน 5-8%</a:t>
            </a:r>
            <a:br/>
            <a:r>
              <a:t>• Result: กำไรขั้นต้น (Gross Margin) เพิ่ม +5%</a:t>
            </a:r>
          </a:p>
          <a:p>
            <a:pPr>
              <a:defRPr sz="700">
                <a:solidFill>
                  <a:srgbClr val="DCE0E6"/>
                </a:solidFill>
              </a:defRPr>
            </a:pPr>
            <a:r>
              <a:t>------------------------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t>Plan 2: Family Value Pack</a:t>
            </a:r>
            <a:br/>
            <a:r>
              <a:t>• Insight: ซื้อผลไม้ (บลูเบอร์รี, แอปเปิ้ล) ประจำ</a:t>
            </a:r>
            <a:br/>
            <a:r>
              <a:t>• Action: ออกแพ็กเกจครอบครัว 2-3 kg ลด 10%</a:t>
            </a:r>
            <a:br/>
            <a:r>
              <a:t>• Result: ปริมาณยอดขายต่อรอบบิล +20%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146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1100" b="1">
                <a:solidFill>
                  <a:srgbClr val="0277BD"/>
                </a:solidFill>
              </a:defRPr>
            </a:pPr>
            <a:r>
              <a:t>Question Mark (คำถาม)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t>Plan 1: Niche to Star</a:t>
            </a:r>
            <a:br/>
            <a:r>
              <a:t>• Insight: โตทะลุ &gt;300% แต่แชร์เฉลี่ย 2.8%</a:t>
            </a:r>
            <a:br/>
            <a:r>
              <a:t>• Action: วางบนแบนเนอร์หน้าแรก + Flash Sale 3 วัน</a:t>
            </a:r>
            <a:br/>
            <a:r>
              <a:t>• Result: ส่วนแบ่งตลาดขยับขึ้นแตะ 5-7%</a:t>
            </a:r>
          </a:p>
          <a:p>
            <a:pPr>
              <a:defRPr sz="700">
                <a:solidFill>
                  <a:srgbClr val="DCE0E6"/>
                </a:solidFill>
              </a:defRPr>
            </a:pPr>
            <a:r>
              <a:t>------------------------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t>Plan 2: Cooking Recipe Bundle</a:t>
            </a:r>
            <a:br/>
            <a:r>
              <a:t>• Insight: ผักใบราคาต่อชิ้นต่ำ ซื้อทำอาหารคู่กัน</a:t>
            </a:r>
            <a:br/>
            <a:r>
              <a:t>• Action: จัดเซ็ตชุดผัดกะเพรา / สุกี้ผักสด</a:t>
            </a:r>
            <a:br/>
            <a:r>
              <a:t>• Result: ยอดขายผักกลุ่มนี้ขยายตัว +30%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14600" cy="4663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37160"/>
          <a:lstStyle/>
          <a:p>
            <a:pPr algn="ctr">
              <a:defRPr sz="1100" b="1">
                <a:solidFill>
                  <a:srgbClr val="C62828"/>
                </a:solidFill>
              </a:defRPr>
            </a:pPr>
            <a:r>
              <a:t>Dog (หมา)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t>Plan 1: Pre-order / Make-to-Order</a:t>
            </a:r>
            <a:br/>
            <a:r>
              <a:t>• Insight: แชร์ต่ำ 3.2% โตต่ำสุด เสี่ยงเน่าเสีย</a:t>
            </a:r>
            <a:br/>
            <a:r>
              <a:t>• Action: ลดสต็อก 50% เปลี่ยนรับออเดอร์ล่วงหน้า 1 วัน</a:t>
            </a:r>
            <a:br/>
            <a:r>
              <a:t>• Result: ลดต้นทุนของสดเน่าเสีย (Waste) 20-30%</a:t>
            </a:r>
          </a:p>
          <a:p>
            <a:pPr>
              <a:defRPr sz="700">
                <a:solidFill>
                  <a:srgbClr val="DCE0E6"/>
                </a:solidFill>
              </a:defRPr>
            </a:pPr>
            <a:r>
              <a:t>------------------------</a:t>
            </a:r>
          </a:p>
          <a:p>
            <a:pPr>
              <a:defRPr sz="850">
                <a:solidFill>
                  <a:srgbClr val="212529"/>
                </a:solidFill>
              </a:defRPr>
            </a:pPr>
            <a:r>
              <a:t>Plan 2: พ่วงชุดต้มยำ / แถมฟรี</a:t>
            </a:r>
            <a:br/>
            <a:r>
              <a:t>• Insight: ยอดเดี่ยวน้อยแต่จำเป็นต้องใช้คู่กัน</a:t>
            </a:r>
            <a:br/>
            <a:r>
              <a:t>• Action: แถมฟรีเมื่อซื้อครบ 300 ฿ หรือรวมชุดต้มยำ</a:t>
            </a:r>
            <a:br/>
            <a:r>
              <a:t>• Result: เคลียร์สต็อกตกค้าง ยกระดับความพึงพอใจ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4C8C4A"/>
                </a:solidFill>
              </a:defRPr>
            </a:pPr>
            <a:r>
              <a:t>PHASE 4 • PRESCRIPTIVE</a:t>
            </a:r>
          </a:p>
          <a:p>
            <a:pPr>
              <a:defRPr sz="2200" b="1">
                <a:solidFill>
                  <a:srgbClr val="212529"/>
                </a:solidFill>
              </a:defRPr>
            </a:pPr>
            <a:r>
              <a:t>3 Priority Actions: แผนสำคัญที่สุดและเหตุผลรองรับ</a:t>
            </a:r>
          </a:p>
          <a:p>
            <a:pPr>
              <a:defRPr sz="1200">
                <a:solidFill>
                  <a:srgbClr val="6C757D"/>
                </a:solidFill>
              </a:defRPr>
            </a:pPr>
            <a:r>
              <a:t>จัดลำดับตามผลกระทบต่อรายได้ (Impact) และความเร่งด่วนทางธุรกิจ [อ้างอิง P3_Priority_Actions]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150" b="1">
                <a:solidFill>
                  <a:srgbClr val="E65100"/>
                </a:solidFill>
              </a:defRPr>
            </a:pPr>
            <a:r>
              <a:t>PRIORITY 1 : ขยายสต็อก &amp; เพิ่มงบแอดสินค้ากลุ่ม Star (ชีสมอสซาเรลลา &amp; อะโวคาโด)  [เป้าหมาย: BCG (Star Products)]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ข้อมูล &amp; การปฏิบัติ: • เติบโต +278% ครองสัดส่วน 17.5% ของยอดขายทั้งร้าน เป็นหัวหอกสร้างรายได้เร็วที่สุด | แผนงาน: • เพิ่มงบสต็อกวัตถุดิบ 35% ป้องกันสินค้าขาดสต็อก</a:t>
            </a:r>
            <a:br/>
            <a:r>
              <a:t>• จัดสรรงบแอดเน้นสื่อสารประโยชน์และเมนูสุขภาพกลุ่ม Home Cook &amp; Keto</a:t>
            </a:r>
          </a:p>
          <a:p>
            <a:pPr>
              <a:defRPr sz="900" b="1">
                <a:solidFill>
                  <a:srgbClr val="6C757D"/>
                </a:solidFill>
              </a:defRPr>
            </a:pPr>
            <a:r>
              <a:t>เหตุผลสนับสนุน (Revenue Driver):</a:t>
            </a:r>
            <a:br/>
            <a:r>
              <a:t>มี Impact ต่อรายได้สูงที่สุดและเห็นผลเร็วที่สุด สินค้ากำลังติดลมบน หากสต็อกขาดจะเสียโอกาสทันที และพร้อมขยับเป็น Cash Cow ในอนาคต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27832"/>
            <a:ext cx="106984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150" b="1">
                <a:solidFill>
                  <a:srgbClr val="C62828"/>
                </a:solidFill>
              </a:defRPr>
            </a:pPr>
            <a:r>
              <a:t>PRIORITY 2 : แคมเปญ Win-Back กู้ชีพกลุ่มลูกค้าเสี่ยงหาย (At-Risk Segment)  [เป้าหมาย: RFM (At-Risk Customers)]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ข้อมูล &amp; การปฏิบัติ: • ไม่กลับมาซื้อนานเฉลี่ย &gt;82 วัน เสี่ยงกลายเป็น Churn ถาวรและหลุดออกจากระบบ | แผนงาน: • ส่งบรอดแคสต์ LINE OA / SMS แจกโค้ด 'คิดถึงนะ ลด 15% + ส่งฟรี' ภายใน 7 วัน</a:t>
            </a:r>
            <a:br/>
            <a:r>
              <a:t>• ระบบแจ้งเตือนอัตโนมัติเมื่อครบ 45 วันที่ไม่มีคำสั่งซื้อ</a:t>
            </a:r>
          </a:p>
          <a:p>
            <a:pPr>
              <a:defRPr sz="900" b="1">
                <a:solidFill>
                  <a:srgbClr val="6C757D"/>
                </a:solidFill>
              </a:defRPr>
            </a:pPr>
            <a:r>
              <a:t>เหตุผลสนับสนุน (Churn Prevention):</a:t>
            </a:r>
            <a:br/>
            <a:r>
              <a:t>การรักษาลูกค้าเดิมมีต้นทุนต่ำกว่าการหาลูกค้าใหม่ (CAC) หลายเท่าตัว การดึงกลับมาซื้อซ้ำทันเวลาจะกอบกู้รายได้กลับคืนมาทันที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09744"/>
            <a:ext cx="1069848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277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/>
          <a:lstStyle/>
          <a:p>
            <a:pPr algn="ctr">
              <a:defRPr sz="1150" b="1">
                <a:solidFill>
                  <a:srgbClr val="0277BD"/>
                </a:solidFill>
              </a:defRPr>
            </a:pPr>
            <a:r>
              <a:t>PRIORITY 3 : ปรับพอร์ตสินค้า Dog &amp; Question ด้วย Product Bundling  [เป้าหมาย: BCG (Dog &amp; Question Mark)]</a:t>
            </a:r>
          </a:p>
          <a:p>
            <a:pPr>
              <a:defRPr sz="950">
                <a:solidFill>
                  <a:srgbClr val="212529"/>
                </a:solidFill>
              </a:defRPr>
            </a:pPr>
            <a:r>
              <a:t>ข้อมูล &amp; การปฏิบัติ: • ผักเครื่องครัว (ขิง, ข่า, ตะไคร้, ใบมะกรูด) ขายเดี่ยวได้น้อยและมีต้นทุนของสดเน่าเสียสูง | แผนงาน: • รวมเป็น 'ชุดเครื่องต้มยำออร์แกนิก' หรือ 'ชุดผักสวนครัว' พ่วงกับสินค้าหลัก</a:t>
            </a:r>
            <a:br/>
            <a:r>
              <a:t>• ทำโปรโมชันแลกซื้อราคาพิเศษเมื่อสั่งผักสลัดหรือผลไม้ครบ 300 ฿</a:t>
            </a:r>
          </a:p>
          <a:p>
            <a:pPr>
              <a:defRPr sz="900" b="1">
                <a:solidFill>
                  <a:srgbClr val="6C757D"/>
                </a:solidFill>
              </a:defRPr>
            </a:pPr>
            <a:r>
              <a:t>เหตุผลสนับสนุน (Cost &amp; AOV Optimization):</a:t>
            </a:r>
            <a:br/>
            <a:r>
              <a:t>ลดความสูญเสียจากของสดเน่าเสีย (Food Waste) ได้ 20-30% และดันยอดซื้อเฉลี่ยต่อบิล (AOV) สูงขึ้นทันทีโดยไม่ต้องแบกต้นทุนเพิ่ม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1503</Words>
  <Application>Microsoft Macintosh PowerPoint</Application>
  <PresentationFormat>Widescreen</PresentationFormat>
  <Paragraphs>273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Kanit</vt:lpstr>
      <vt:lpstr>Prompt</vt:lpstr>
      <vt:lpstr>Arial</vt:lpstr>
      <vt:lpstr>Inter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Aito C. Proxinity</cp:lastModifiedBy>
  <cp:revision>2</cp:revision>
  <dcterms:modified xsi:type="dcterms:W3CDTF">2026-09-24T15:36:19Z</dcterms:modified>
</cp:coreProperties>
</file>